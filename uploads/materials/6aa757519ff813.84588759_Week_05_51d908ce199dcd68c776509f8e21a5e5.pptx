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Raleway"/>
      <p:regular r:id="rId21"/>
      <p:bold r:id="rId22"/>
      <p:italic r:id="rId23"/>
      <p:boldItalic r:id="rId24"/>
    </p:embeddedFont>
    <p:embeddedFont>
      <p:font typeface="Roboto"/>
      <p:regular r:id="rId25"/>
      <p:bold r:id="rId26"/>
      <p:italic r:id="rId27"/>
      <p:boldItalic r:id="rId28"/>
    </p:embeddedFont>
    <p:embeddedFont>
      <p:font typeface="Lat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aleway-bold.fntdata"/><Relationship Id="rId21" Type="http://schemas.openxmlformats.org/officeDocument/2006/relationships/font" Target="fonts/Raleway-regular.fntdata"/><Relationship Id="rId24" Type="http://schemas.openxmlformats.org/officeDocument/2006/relationships/font" Target="fonts/Raleway-boldItalic.fntdata"/><Relationship Id="rId23" Type="http://schemas.openxmlformats.org/officeDocument/2006/relationships/font" Target="fonts/Raleway-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bold.fntdata"/><Relationship Id="rId25" Type="http://schemas.openxmlformats.org/officeDocument/2006/relationships/font" Target="fonts/Roboto-regular.fntdata"/><Relationship Id="rId28" Type="http://schemas.openxmlformats.org/officeDocument/2006/relationships/font" Target="fonts/Roboto-boldItalic.fntdata"/><Relationship Id="rId27"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italic.fntdata"/><Relationship Id="rId30" Type="http://schemas.openxmlformats.org/officeDocument/2006/relationships/font" Target="fonts/Lato-bold.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Lato-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6a117d3ff3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6a117d3ff3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6a117d3ff3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6a117d3ff3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c39602566c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c39602566c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1200"/>
              </a:spcBef>
              <a:spcAft>
                <a:spcPts val="0"/>
              </a:spcAft>
              <a:buClr>
                <a:schemeClr val="dk1"/>
              </a:buClr>
              <a:buSzPts val="1100"/>
              <a:buFont typeface="Arial"/>
              <a:buNone/>
            </a:pPr>
            <a:r>
              <a:rPr b="1" lang="en" sz="1200">
                <a:solidFill>
                  <a:srgbClr val="333333"/>
                </a:solidFill>
                <a:highlight>
                  <a:srgbClr val="FFFFFF"/>
                </a:highlight>
                <a:latin typeface="Roboto"/>
                <a:ea typeface="Roboto"/>
                <a:cs typeface="Roboto"/>
                <a:sym typeface="Roboto"/>
              </a:rPr>
              <a:t>To require consistency in the test case execution:</a:t>
            </a:r>
            <a:r>
              <a:rPr lang="en" sz="1200">
                <a:solidFill>
                  <a:srgbClr val="333333"/>
                </a:solidFill>
                <a:highlight>
                  <a:srgbClr val="FFFFFF"/>
                </a:highlight>
                <a:latin typeface="Roboto"/>
                <a:ea typeface="Roboto"/>
                <a:cs typeface="Roboto"/>
                <a:sym typeface="Roboto"/>
              </a:rPr>
              <a:t> we will see the test case and start testing the application.</a:t>
            </a:r>
            <a:endParaRPr sz="1200">
              <a:solidFill>
                <a:srgbClr val="333333"/>
              </a:solidFill>
              <a:highlight>
                <a:srgbClr val="FFFFFF"/>
              </a:highlight>
              <a:latin typeface="Roboto"/>
              <a:ea typeface="Roboto"/>
              <a:cs typeface="Roboto"/>
              <a:sym typeface="Roboto"/>
            </a:endParaRPr>
          </a:p>
          <a:p>
            <a:pPr indent="0" lvl="0" marL="0" rtl="0" algn="just">
              <a:lnSpc>
                <a:spcPct val="115000"/>
              </a:lnSpc>
              <a:spcBef>
                <a:spcPts val="1200"/>
              </a:spcBef>
              <a:spcAft>
                <a:spcPts val="0"/>
              </a:spcAft>
              <a:buClr>
                <a:schemeClr val="dk1"/>
              </a:buClr>
              <a:buSzPts val="1100"/>
              <a:buFont typeface="Arial"/>
              <a:buNone/>
            </a:pPr>
            <a:r>
              <a:rPr b="1" lang="en" sz="1200">
                <a:solidFill>
                  <a:srgbClr val="333333"/>
                </a:solidFill>
                <a:highlight>
                  <a:srgbClr val="FFFFFF"/>
                </a:highlight>
                <a:latin typeface="Roboto"/>
                <a:ea typeface="Roboto"/>
                <a:cs typeface="Roboto"/>
                <a:sym typeface="Roboto"/>
              </a:rPr>
              <a:t>To make sure a better test coverage:</a:t>
            </a:r>
            <a:r>
              <a:rPr lang="en" sz="1200">
                <a:solidFill>
                  <a:srgbClr val="333333"/>
                </a:solidFill>
                <a:highlight>
                  <a:srgbClr val="FFFFFF"/>
                </a:highlight>
                <a:latin typeface="Roboto"/>
                <a:ea typeface="Roboto"/>
                <a:cs typeface="Roboto"/>
                <a:sym typeface="Roboto"/>
              </a:rPr>
              <a:t> for this, we should cover all possible scenarios and document it, so that we need not remember all the scenarios again and again.</a:t>
            </a:r>
            <a:endParaRPr sz="1200">
              <a:solidFill>
                <a:srgbClr val="333333"/>
              </a:solidFill>
              <a:highlight>
                <a:srgbClr val="FFFFFF"/>
              </a:highlight>
              <a:latin typeface="Roboto"/>
              <a:ea typeface="Roboto"/>
              <a:cs typeface="Roboto"/>
              <a:sym typeface="Roboto"/>
            </a:endParaRPr>
          </a:p>
          <a:p>
            <a:pPr indent="0" lvl="0" marL="0" rtl="0" algn="just">
              <a:lnSpc>
                <a:spcPct val="115000"/>
              </a:lnSpc>
              <a:spcBef>
                <a:spcPts val="1200"/>
              </a:spcBef>
              <a:spcAft>
                <a:spcPts val="0"/>
              </a:spcAft>
              <a:buClr>
                <a:schemeClr val="dk1"/>
              </a:buClr>
              <a:buSzPts val="1100"/>
              <a:buFont typeface="Arial"/>
              <a:buNone/>
            </a:pPr>
            <a:r>
              <a:rPr b="1" lang="en" sz="1200">
                <a:solidFill>
                  <a:srgbClr val="333333"/>
                </a:solidFill>
                <a:highlight>
                  <a:srgbClr val="FFFFFF"/>
                </a:highlight>
                <a:latin typeface="Roboto"/>
                <a:ea typeface="Roboto"/>
                <a:cs typeface="Roboto"/>
                <a:sym typeface="Roboto"/>
              </a:rPr>
              <a:t>It depends on the process rather than on a person:</a:t>
            </a:r>
            <a:r>
              <a:rPr lang="en" sz="1200">
                <a:solidFill>
                  <a:srgbClr val="333333"/>
                </a:solidFill>
                <a:highlight>
                  <a:srgbClr val="FFFFFF"/>
                </a:highlight>
                <a:latin typeface="Roboto"/>
                <a:ea typeface="Roboto"/>
                <a:cs typeface="Roboto"/>
                <a:sym typeface="Roboto"/>
              </a:rPr>
              <a:t> A test engineer has tested an application during the first release, second release, and left the company at the time of third release. As the test engineer understood a module and tested the application thoroughly by deriving many values. If the person is not there for the third release, it becomes difficult for the new person. Hence all the derived values are documented so that it can be used in the future.</a:t>
            </a:r>
            <a:endParaRPr sz="1200">
              <a:solidFill>
                <a:srgbClr val="333333"/>
              </a:solidFill>
              <a:highlight>
                <a:srgbClr val="FFFFFF"/>
              </a:highlight>
              <a:latin typeface="Roboto"/>
              <a:ea typeface="Roboto"/>
              <a:cs typeface="Roboto"/>
              <a:sym typeface="Roboto"/>
            </a:endParaRPr>
          </a:p>
          <a:p>
            <a:pPr indent="0" lvl="0" marL="0" rtl="0" algn="just">
              <a:lnSpc>
                <a:spcPct val="115000"/>
              </a:lnSpc>
              <a:spcBef>
                <a:spcPts val="1200"/>
              </a:spcBef>
              <a:spcAft>
                <a:spcPts val="0"/>
              </a:spcAft>
              <a:buClr>
                <a:schemeClr val="dk1"/>
              </a:buClr>
              <a:buSzPts val="1100"/>
              <a:buFont typeface="Arial"/>
              <a:buNone/>
            </a:pPr>
            <a:r>
              <a:rPr b="1" lang="en" sz="1200">
                <a:solidFill>
                  <a:srgbClr val="333333"/>
                </a:solidFill>
                <a:highlight>
                  <a:srgbClr val="FFFFFF"/>
                </a:highlight>
                <a:latin typeface="Roboto"/>
                <a:ea typeface="Roboto"/>
                <a:cs typeface="Roboto"/>
                <a:sym typeface="Roboto"/>
              </a:rPr>
              <a:t>To avoid giving training for every new test engineer on the product:</a:t>
            </a:r>
            <a:r>
              <a:rPr lang="en" sz="1200">
                <a:solidFill>
                  <a:srgbClr val="333333"/>
                </a:solidFill>
                <a:highlight>
                  <a:srgbClr val="FFFFFF"/>
                </a:highlight>
                <a:latin typeface="Roboto"/>
                <a:ea typeface="Roboto"/>
                <a:cs typeface="Roboto"/>
                <a:sym typeface="Roboto"/>
              </a:rPr>
              <a:t> When the test engineer leaves, he/she leaves with a lot of knowledge and scenarios. Those scenarios should be documented so that the new test engineer can test with the given scenarios and also can write the new scenarios.</a:t>
            </a:r>
            <a:endParaRPr sz="1200">
              <a:solidFill>
                <a:srgbClr val="333333"/>
              </a:solidFill>
              <a:highlight>
                <a:srgbClr val="FFFFFF"/>
              </a:highlight>
              <a:latin typeface="Roboto"/>
              <a:ea typeface="Roboto"/>
              <a:cs typeface="Roboto"/>
              <a:sym typeface="Roboto"/>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c39602566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c39602566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4B4F58"/>
              </a:buClr>
              <a:buSzPts val="1800"/>
              <a:buFont typeface="Lato"/>
              <a:buChar char="-"/>
            </a:pPr>
            <a:r>
              <a:rPr lang="en" sz="1800">
                <a:solidFill>
                  <a:srgbClr val="4B4F58"/>
                </a:solidFill>
                <a:latin typeface="Lato"/>
                <a:ea typeface="Lato"/>
                <a:cs typeface="Lato"/>
                <a:sym typeface="Lato"/>
              </a:rPr>
              <a:t>	Positive Test Cases: Entering valid data into an application to determine if its processing results are correctly produced as defined in the requirement specification.</a:t>
            </a:r>
            <a:endParaRPr sz="1800">
              <a:solidFill>
                <a:srgbClr val="4B4F58"/>
              </a:solidFill>
              <a:latin typeface="Lato"/>
              <a:ea typeface="Lato"/>
              <a:cs typeface="Lato"/>
              <a:sym typeface="Lato"/>
            </a:endParaRPr>
          </a:p>
          <a:p>
            <a:pPr indent="0" lvl="0" marL="457200" rtl="0" algn="l">
              <a:spcBef>
                <a:spcPts val="0"/>
              </a:spcBef>
              <a:spcAft>
                <a:spcPts val="0"/>
              </a:spcAft>
              <a:buClr>
                <a:schemeClr val="dk1"/>
              </a:buClr>
              <a:buSzPts val="1100"/>
              <a:buFont typeface="Arial"/>
              <a:buNone/>
            </a:pPr>
            <a:r>
              <a:t/>
            </a:r>
            <a:endParaRPr sz="1800">
              <a:solidFill>
                <a:srgbClr val="4B4F58"/>
              </a:solidFill>
              <a:latin typeface="Lato"/>
              <a:ea typeface="Lato"/>
              <a:cs typeface="Lato"/>
              <a:sym typeface="Lato"/>
            </a:endParaRPr>
          </a:p>
          <a:p>
            <a:pPr indent="-342900" lvl="0" marL="457200" rtl="0" algn="l">
              <a:spcBef>
                <a:spcPts val="0"/>
              </a:spcBef>
              <a:spcAft>
                <a:spcPts val="0"/>
              </a:spcAft>
              <a:buClr>
                <a:srgbClr val="4B4F58"/>
              </a:buClr>
              <a:buSzPts val="1800"/>
              <a:buFont typeface="Lato"/>
              <a:buChar char="-"/>
            </a:pPr>
            <a:r>
              <a:rPr lang="en" sz="1800">
                <a:solidFill>
                  <a:srgbClr val="4B4F58"/>
                </a:solidFill>
                <a:latin typeface="Lato"/>
                <a:ea typeface="Lato"/>
                <a:cs typeface="Lato"/>
                <a:sym typeface="Lato"/>
              </a:rPr>
              <a:t>	Negative Test Cases: Entering incorrect data  intentionally to determine if an application will recognize the data entered  is invalid and take appropriate action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c39602566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2c39602566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c39602566c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2c39602566c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c39602566c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c39602566c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6c6585b9e9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6c6585b9e9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c39602566c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c39602566c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6c6585b9e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6c6585b9e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6c6585b9e9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6c6585b9e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6c6585b9e9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6c6585b9e9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6c6585b9e9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6c6585b9e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Positive Test Cases:  </a:t>
            </a:r>
            <a:endParaRPr b="1"/>
          </a:p>
          <a:p>
            <a:pPr indent="0" lvl="0" marL="0" rtl="0" algn="l">
              <a:spcBef>
                <a:spcPts val="0"/>
              </a:spcBef>
              <a:spcAft>
                <a:spcPts val="0"/>
              </a:spcAft>
              <a:buNone/>
            </a:pPr>
            <a:r>
              <a:rPr lang="en"/>
              <a:t>– Successful login with valid credentials.</a:t>
            </a:r>
            <a:endParaRPr/>
          </a:p>
          <a:p>
            <a:pPr indent="0" lvl="0" marL="0" rtl="0" algn="l">
              <a:spcBef>
                <a:spcPts val="0"/>
              </a:spcBef>
              <a:spcAft>
                <a:spcPts val="0"/>
              </a:spcAft>
              <a:buNone/>
            </a:pPr>
            <a:r>
              <a:rPr lang="en"/>
              <a:t>– Login with a valid username and case-insensitive password.</a:t>
            </a:r>
            <a:endParaRPr/>
          </a:p>
          <a:p>
            <a:pPr indent="0" lvl="0" marL="0" rtl="0" algn="l">
              <a:spcBef>
                <a:spcPts val="0"/>
              </a:spcBef>
              <a:spcAft>
                <a:spcPts val="0"/>
              </a:spcAft>
              <a:buNone/>
            </a:pPr>
            <a:r>
              <a:rPr lang="en"/>
              <a:t>– Successful login with a remembered username and password fields.</a:t>
            </a:r>
            <a:endParaRPr/>
          </a:p>
          <a:p>
            <a:pPr indent="0" lvl="0" marL="0" rtl="0" algn="l">
              <a:spcBef>
                <a:spcPts val="0"/>
              </a:spcBef>
              <a:spcAft>
                <a:spcPts val="0"/>
              </a:spcAft>
              <a:buNone/>
            </a:pPr>
            <a:r>
              <a:rPr lang="en"/>
              <a:t>– Successful login after password reset.</a:t>
            </a:r>
            <a:endParaRPr/>
          </a:p>
          <a:p>
            <a:pPr indent="0" lvl="0" marL="0" rtl="0" algn="l">
              <a:spcBef>
                <a:spcPts val="0"/>
              </a:spcBef>
              <a:spcAft>
                <a:spcPts val="0"/>
              </a:spcAft>
              <a:buNone/>
            </a:pPr>
            <a:r>
              <a:rPr lang="en"/>
              <a:t>– Login from multiple devices simultaneously.</a:t>
            </a:r>
            <a:endParaRPr/>
          </a:p>
          <a:p>
            <a:pPr indent="0" lvl="0" marL="0" rtl="0" algn="l">
              <a:spcBef>
                <a:spcPts val="0"/>
              </a:spcBef>
              <a:spcAft>
                <a:spcPts val="0"/>
              </a:spcAft>
              <a:buNone/>
            </a:pPr>
            <a:r>
              <a:rPr lang="en"/>
              <a:t>– Successful login using a social media account integration.</a:t>
            </a:r>
            <a:endParaRPr/>
          </a:p>
          <a:p>
            <a:pPr indent="0" lvl="0" marL="0" rtl="0" algn="l">
              <a:spcBef>
                <a:spcPts val="0"/>
              </a:spcBef>
              <a:spcAft>
                <a:spcPts val="0"/>
              </a:spcAft>
              <a:buNone/>
            </a:pPr>
            <a:r>
              <a:rPr lang="en"/>
              <a:t>– Login with a valid username and password within specified character limits.</a:t>
            </a:r>
            <a:endParaRPr/>
          </a:p>
          <a:p>
            <a:pPr indent="0" lvl="0" marL="0" rtl="0" algn="l">
              <a:spcBef>
                <a:spcPts val="0"/>
              </a:spcBef>
              <a:spcAft>
                <a:spcPts val="0"/>
              </a:spcAft>
              <a:buNone/>
            </a:pPr>
            <a:r>
              <a:rPr lang="en"/>
              <a:t>– Successful login with special characters in the password.</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Negative</a:t>
            </a:r>
            <a:r>
              <a:rPr b="1" lang="en"/>
              <a:t> Test Cases:</a:t>
            </a:r>
            <a:endParaRPr b="1"/>
          </a:p>
          <a:p>
            <a:pPr indent="0" lvl="0" marL="0" rtl="0" algn="l">
              <a:spcBef>
                <a:spcPts val="0"/>
              </a:spcBef>
              <a:spcAft>
                <a:spcPts val="0"/>
              </a:spcAft>
              <a:buNone/>
            </a:pPr>
            <a:r>
              <a:rPr lang="en"/>
              <a:t>– Unsuccessful login with an invalid username and password.</a:t>
            </a:r>
            <a:endParaRPr/>
          </a:p>
          <a:p>
            <a:pPr indent="0" lvl="0" marL="0" rtl="0" algn="l">
              <a:spcBef>
                <a:spcPts val="0"/>
              </a:spcBef>
              <a:spcAft>
                <a:spcPts val="0"/>
              </a:spcAft>
              <a:buNone/>
            </a:pPr>
            <a:r>
              <a:rPr lang="en"/>
              <a:t>– Login with a blank username and password.Unsuccessful login with an expired account.</a:t>
            </a:r>
            <a:endParaRPr/>
          </a:p>
          <a:p>
            <a:pPr indent="0" lvl="0" marL="0" rtl="0" algn="l">
              <a:spcBef>
                <a:spcPts val="0"/>
              </a:spcBef>
              <a:spcAft>
                <a:spcPts val="0"/>
              </a:spcAft>
              <a:buNone/>
            </a:pPr>
            <a:r>
              <a:rPr lang="en"/>
              <a:t>– Login attempt with an account locked due to multiple unsuccessful tries.</a:t>
            </a:r>
            <a:endParaRPr/>
          </a:p>
          <a:p>
            <a:pPr indent="0" lvl="0" marL="0" rtl="0" algn="l">
              <a:spcBef>
                <a:spcPts val="0"/>
              </a:spcBef>
              <a:spcAft>
                <a:spcPts val="0"/>
              </a:spcAft>
              <a:buNone/>
            </a:pPr>
            <a:r>
              <a:rPr lang="en"/>
              <a:t>– Login with a valid username and an incorrect case-sensitive password.</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6a117d3ff3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6a117d3ff3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2" name="Shape 82"/>
        <p:cNvGrpSpPr/>
        <p:nvPr/>
      </p:nvGrpSpPr>
      <p:grpSpPr>
        <a:xfrm>
          <a:off x="0" y="0"/>
          <a:ext cx="0" cy="0"/>
          <a:chOff x="0" y="0"/>
          <a:chExt cx="0" cy="0"/>
        </a:xfrm>
      </p:grpSpPr>
      <p:sp>
        <p:nvSpPr>
          <p:cNvPr id="83" name="Google Shape;83;p1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rtl="0" algn="ctr">
              <a:spcBef>
                <a:spcPts val="0"/>
              </a:spcBef>
              <a:spcAft>
                <a:spcPts val="0"/>
              </a:spcAft>
              <a:buClr>
                <a:schemeClr val="dk1"/>
              </a:buClr>
              <a:buSzPts val="1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4" name="Google Shape;84;p13"/>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a:bodyPr>
          <a:lstStyle>
            <a:lvl1pPr indent="-342900" lvl="0" marL="457200" rtl="0" algn="l">
              <a:spcBef>
                <a:spcPts val="360"/>
              </a:spcBef>
              <a:spcAft>
                <a:spcPts val="0"/>
              </a:spcAft>
              <a:buClr>
                <a:schemeClr val="dk1"/>
              </a:buClr>
              <a:buSzPts val="1800"/>
              <a:buChar char="●"/>
              <a:defRPr/>
            </a:lvl1pPr>
            <a:lvl2pPr indent="-342900" lvl="1" marL="914400" rtl="0" algn="l">
              <a:spcBef>
                <a:spcPts val="1200"/>
              </a:spcBef>
              <a:spcAft>
                <a:spcPts val="0"/>
              </a:spcAft>
              <a:buClr>
                <a:schemeClr val="dk1"/>
              </a:buClr>
              <a:buSzPts val="1800"/>
              <a:buChar char="○"/>
              <a:defRPr/>
            </a:lvl2pPr>
            <a:lvl3pPr indent="-342900" lvl="2" marL="1371600" rtl="0" algn="l">
              <a:spcBef>
                <a:spcPts val="1200"/>
              </a:spcBef>
              <a:spcAft>
                <a:spcPts val="0"/>
              </a:spcAft>
              <a:buClr>
                <a:schemeClr val="dk1"/>
              </a:buClr>
              <a:buSzPts val="1800"/>
              <a:buChar char="■"/>
              <a:defRPr/>
            </a:lvl3pPr>
            <a:lvl4pPr indent="-342900" lvl="3" marL="1828800" rtl="0" algn="l">
              <a:spcBef>
                <a:spcPts val="1200"/>
              </a:spcBef>
              <a:spcAft>
                <a:spcPts val="0"/>
              </a:spcAft>
              <a:buClr>
                <a:schemeClr val="dk1"/>
              </a:buClr>
              <a:buSzPts val="1800"/>
              <a:buChar char="●"/>
              <a:defRPr/>
            </a:lvl4pPr>
            <a:lvl5pPr indent="-342900" lvl="4" marL="2286000" rtl="0" algn="l">
              <a:spcBef>
                <a:spcPts val="1200"/>
              </a:spcBef>
              <a:spcAft>
                <a:spcPts val="0"/>
              </a:spcAft>
              <a:buClr>
                <a:schemeClr val="dk1"/>
              </a:buClr>
              <a:buSzPts val="1800"/>
              <a:buChar char="○"/>
              <a:defRPr/>
            </a:lvl5pPr>
            <a:lvl6pPr indent="-342900" lvl="5" marL="2743200" rtl="0" algn="l">
              <a:spcBef>
                <a:spcPts val="1200"/>
              </a:spcBef>
              <a:spcAft>
                <a:spcPts val="0"/>
              </a:spcAft>
              <a:buClr>
                <a:schemeClr val="dk1"/>
              </a:buClr>
              <a:buSzPts val="1800"/>
              <a:buChar char="■"/>
              <a:defRPr/>
            </a:lvl6pPr>
            <a:lvl7pPr indent="-342900" lvl="6" marL="3200400" rtl="0" algn="l">
              <a:spcBef>
                <a:spcPts val="1200"/>
              </a:spcBef>
              <a:spcAft>
                <a:spcPts val="0"/>
              </a:spcAft>
              <a:buClr>
                <a:schemeClr val="dk1"/>
              </a:buClr>
              <a:buSzPts val="1800"/>
              <a:buChar char="●"/>
              <a:defRPr/>
            </a:lvl7pPr>
            <a:lvl8pPr indent="-342900" lvl="7" marL="3657600" rtl="0" algn="l">
              <a:spcBef>
                <a:spcPts val="1200"/>
              </a:spcBef>
              <a:spcAft>
                <a:spcPts val="0"/>
              </a:spcAft>
              <a:buClr>
                <a:schemeClr val="dk1"/>
              </a:buClr>
              <a:buSzPts val="1800"/>
              <a:buChar char="○"/>
              <a:defRPr/>
            </a:lvl8pPr>
            <a:lvl9pPr indent="-342900" lvl="8" marL="4114800" rtl="0" algn="l">
              <a:spcBef>
                <a:spcPts val="1200"/>
              </a:spcBef>
              <a:spcAft>
                <a:spcPts val="1200"/>
              </a:spcAft>
              <a:buClr>
                <a:schemeClr val="dk1"/>
              </a:buClr>
              <a:buSzPts val="1800"/>
              <a:buChar char="■"/>
              <a:defRPr/>
            </a:lvl9pPr>
          </a:lstStyle>
          <a:p/>
        </p:txBody>
      </p:sp>
      <p:sp>
        <p:nvSpPr>
          <p:cNvPr id="85" name="Google Shape;85;p1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86" name="Google Shape;86;p1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87" name="Google Shape;87;p1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Software Quality Assurance</a:t>
            </a:r>
            <a:endParaRPr/>
          </a:p>
          <a:p>
            <a:pPr indent="0" lvl="0" marL="0" rtl="0" algn="ctr">
              <a:spcBef>
                <a:spcPts val="0"/>
              </a:spcBef>
              <a:spcAft>
                <a:spcPts val="0"/>
              </a:spcAft>
              <a:buNone/>
            </a:pPr>
            <a:r>
              <a:rPr lang="en"/>
              <a:t>HNDIT-4022</a:t>
            </a:r>
            <a:endParaRPr/>
          </a:p>
        </p:txBody>
      </p:sp>
      <p:sp>
        <p:nvSpPr>
          <p:cNvPr id="93" name="Google Shape;93;p14"/>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2100">
                <a:solidFill>
                  <a:srgbClr val="38761D"/>
                </a:solidFill>
              </a:rPr>
              <a:t>Test Case Design &amp; Test Cases</a:t>
            </a:r>
            <a:endParaRPr b="1" sz="2100">
              <a:solidFill>
                <a:srgbClr val="38761D"/>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40"/>
              <a:t>What's a 'Test Case'?</a:t>
            </a:r>
            <a:endParaRPr sz="2540"/>
          </a:p>
        </p:txBody>
      </p:sp>
      <p:sp>
        <p:nvSpPr>
          <p:cNvPr id="99" name="Google Shape;99;p15"/>
          <p:cNvSpPr txBox="1"/>
          <p:nvPr>
            <p:ph idx="1" type="body"/>
          </p:nvPr>
        </p:nvSpPr>
        <p:spPr>
          <a:xfrm>
            <a:off x="729450" y="1240675"/>
            <a:ext cx="7688700" cy="39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t>Test Case is;</a:t>
            </a:r>
            <a:endParaRPr b="1" sz="1800"/>
          </a:p>
          <a:p>
            <a:pPr indent="0" lvl="0" marL="0" rtl="0" algn="l">
              <a:spcBef>
                <a:spcPts val="1200"/>
              </a:spcBef>
              <a:spcAft>
                <a:spcPts val="0"/>
              </a:spcAft>
              <a:buNone/>
            </a:pPr>
            <a:r>
              <a:rPr lang="en" sz="1800"/>
              <a:t>A test case is a set of actions performed on a system to determine if it satisfies software requirements and functions correctly.</a:t>
            </a:r>
            <a:endParaRPr sz="1800"/>
          </a:p>
          <a:p>
            <a:pPr indent="0" lvl="0" marL="0" rtl="0" algn="l">
              <a:spcBef>
                <a:spcPts val="1200"/>
              </a:spcBef>
              <a:spcAft>
                <a:spcPts val="1200"/>
              </a:spcAft>
              <a:buNone/>
            </a:pPr>
            <a:r>
              <a:rPr lang="en" sz="1800"/>
              <a:t>A test case describes an input, action, or event and an expected response, to determine if a feature of a software application is working correctly.</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Test Case-Definitions:</a:t>
            </a:r>
            <a:endParaRPr/>
          </a:p>
        </p:txBody>
      </p:sp>
      <p:sp>
        <p:nvSpPr>
          <p:cNvPr id="105" name="Google Shape;105;p16"/>
          <p:cNvSpPr txBox="1"/>
          <p:nvPr>
            <p:ph idx="1" type="body"/>
          </p:nvPr>
        </p:nvSpPr>
        <p:spPr>
          <a:xfrm>
            <a:off x="729450" y="1240675"/>
            <a:ext cx="7688700" cy="3902700"/>
          </a:xfrm>
          <a:prstGeom prst="rect">
            <a:avLst/>
          </a:prstGeom>
        </p:spPr>
        <p:txBody>
          <a:bodyPr anchorCtr="0" anchor="t" bIns="91425" lIns="91425" spcFirstLastPara="1" rIns="91425" wrap="square" tIns="91425">
            <a:normAutofit fontScale="85000" lnSpcReduction="20000"/>
          </a:bodyPr>
          <a:lstStyle/>
          <a:p>
            <a:pPr indent="0" lvl="0" marL="457200" rtl="0" algn="l">
              <a:lnSpc>
                <a:spcPct val="100000"/>
              </a:lnSpc>
              <a:spcBef>
                <a:spcPts val="0"/>
              </a:spcBef>
              <a:spcAft>
                <a:spcPts val="0"/>
              </a:spcAft>
              <a:buNone/>
            </a:pPr>
            <a:r>
              <a:t/>
            </a:r>
            <a:endParaRPr sz="1800">
              <a:solidFill>
                <a:srgbClr val="4B4F58"/>
              </a:solidFill>
            </a:endParaRPr>
          </a:p>
          <a:p>
            <a:pPr indent="-325755" lvl="0" marL="457200" rtl="0" algn="l">
              <a:lnSpc>
                <a:spcPct val="100000"/>
              </a:lnSpc>
              <a:spcBef>
                <a:spcPts val="0"/>
              </a:spcBef>
              <a:spcAft>
                <a:spcPts val="0"/>
              </a:spcAft>
              <a:buClr>
                <a:srgbClr val="4B4F58"/>
              </a:buClr>
              <a:buSzPct val="100000"/>
              <a:buChar char="-"/>
            </a:pPr>
            <a:r>
              <a:rPr b="1" lang="en" sz="1800">
                <a:solidFill>
                  <a:srgbClr val="4B4F58"/>
                </a:solidFill>
              </a:rPr>
              <a:t>IEEE Standard 610 (1990) defines test case as follows:</a:t>
            </a:r>
            <a:endParaRPr b="1" sz="1800">
              <a:solidFill>
                <a:srgbClr val="4B4F58"/>
              </a:solidFill>
            </a:endParaRPr>
          </a:p>
          <a:p>
            <a:pPr indent="0" lvl="0" marL="0" rtl="0" algn="l">
              <a:lnSpc>
                <a:spcPct val="100000"/>
              </a:lnSpc>
              <a:spcBef>
                <a:spcPts val="0"/>
              </a:spcBef>
              <a:spcAft>
                <a:spcPts val="0"/>
              </a:spcAft>
              <a:buNone/>
            </a:pPr>
            <a:r>
              <a:rPr lang="en" sz="1800">
                <a:solidFill>
                  <a:srgbClr val="4B4F58"/>
                </a:solidFill>
              </a:rPr>
              <a:t>“A set of test inputs, execution conditions, and expected results developed for a particular objective, such as to exercise a particular program path or to verify compliance with a specific requirement.”</a:t>
            </a:r>
            <a:endParaRPr sz="1800">
              <a:solidFill>
                <a:srgbClr val="4B4F58"/>
              </a:solidFill>
            </a:endParaRPr>
          </a:p>
          <a:p>
            <a:pPr indent="0" lvl="0" marL="0" rtl="0" algn="l">
              <a:lnSpc>
                <a:spcPct val="100000"/>
              </a:lnSpc>
              <a:spcBef>
                <a:spcPts val="0"/>
              </a:spcBef>
              <a:spcAft>
                <a:spcPts val="0"/>
              </a:spcAft>
              <a:buNone/>
            </a:pPr>
            <a:r>
              <a:t/>
            </a:r>
            <a:endParaRPr sz="1800">
              <a:solidFill>
                <a:srgbClr val="4B4F58"/>
              </a:solidFill>
            </a:endParaRPr>
          </a:p>
          <a:p>
            <a:pPr indent="-325755" lvl="0" marL="457200" rtl="0" algn="l">
              <a:lnSpc>
                <a:spcPct val="100000"/>
              </a:lnSpc>
              <a:spcBef>
                <a:spcPts val="0"/>
              </a:spcBef>
              <a:spcAft>
                <a:spcPts val="0"/>
              </a:spcAft>
              <a:buClr>
                <a:srgbClr val="4B4F58"/>
              </a:buClr>
              <a:buSzPct val="100000"/>
              <a:buChar char="-"/>
            </a:pPr>
            <a:r>
              <a:rPr b="1" lang="en" sz="1800">
                <a:solidFill>
                  <a:srgbClr val="4B4F58"/>
                </a:solidFill>
              </a:rPr>
              <a:t>IEEE Standard 829 (1983) defines test case as follows:</a:t>
            </a:r>
            <a:endParaRPr b="1" sz="1800">
              <a:solidFill>
                <a:srgbClr val="4B4F58"/>
              </a:solidFill>
            </a:endParaRPr>
          </a:p>
          <a:p>
            <a:pPr indent="0" lvl="0" marL="0" rtl="0" algn="l">
              <a:lnSpc>
                <a:spcPct val="100000"/>
              </a:lnSpc>
              <a:spcBef>
                <a:spcPts val="0"/>
              </a:spcBef>
              <a:spcAft>
                <a:spcPts val="0"/>
              </a:spcAft>
              <a:buNone/>
            </a:pPr>
            <a:r>
              <a:rPr lang="en" sz="1800">
                <a:solidFill>
                  <a:srgbClr val="4B4F58"/>
                </a:solidFill>
              </a:rPr>
              <a:t>“Documentation specifying inputs, predicted results, and a set of execution conditions for a test item.”</a:t>
            </a:r>
            <a:endParaRPr sz="1800">
              <a:solidFill>
                <a:srgbClr val="4B4F58"/>
              </a:solidFill>
            </a:endParaRPr>
          </a:p>
          <a:p>
            <a:pPr indent="0" lvl="0" marL="0" rtl="0" algn="l">
              <a:lnSpc>
                <a:spcPct val="100000"/>
              </a:lnSpc>
              <a:spcBef>
                <a:spcPts val="0"/>
              </a:spcBef>
              <a:spcAft>
                <a:spcPts val="0"/>
              </a:spcAft>
              <a:buNone/>
            </a:pPr>
            <a:r>
              <a:t/>
            </a:r>
            <a:endParaRPr sz="1800">
              <a:solidFill>
                <a:srgbClr val="4B4F58"/>
              </a:solidFill>
            </a:endParaRPr>
          </a:p>
          <a:p>
            <a:pPr indent="-325755" lvl="0" marL="457200" rtl="0" algn="l">
              <a:lnSpc>
                <a:spcPct val="100000"/>
              </a:lnSpc>
              <a:spcBef>
                <a:spcPts val="0"/>
              </a:spcBef>
              <a:spcAft>
                <a:spcPts val="0"/>
              </a:spcAft>
              <a:buClr>
                <a:srgbClr val="4B4F58"/>
              </a:buClr>
              <a:buSzPct val="100000"/>
              <a:buChar char="-"/>
            </a:pPr>
            <a:r>
              <a:rPr b="1" lang="en" sz="1800">
                <a:solidFill>
                  <a:srgbClr val="4B4F58"/>
                </a:solidFill>
              </a:rPr>
              <a:t>According to Ron Patton (2001):</a:t>
            </a:r>
            <a:endParaRPr b="1" sz="1800">
              <a:solidFill>
                <a:srgbClr val="4B4F58"/>
              </a:solidFill>
            </a:endParaRPr>
          </a:p>
          <a:p>
            <a:pPr indent="0" lvl="0" marL="0" rtl="0" algn="l">
              <a:lnSpc>
                <a:spcPct val="100000"/>
              </a:lnSpc>
              <a:spcBef>
                <a:spcPts val="0"/>
              </a:spcBef>
              <a:spcAft>
                <a:spcPts val="0"/>
              </a:spcAft>
              <a:buNone/>
            </a:pPr>
            <a:r>
              <a:rPr lang="en" sz="1800">
                <a:solidFill>
                  <a:srgbClr val="4B4F58"/>
                </a:solidFill>
              </a:rPr>
              <a:t>“Test cases are the specific inputs that you’ll try and the procedures that you’ll follow when you test the software.”</a:t>
            </a:r>
            <a:endParaRPr sz="1800">
              <a:solidFill>
                <a:srgbClr val="4B4F58"/>
              </a:solidFill>
            </a:endParaRPr>
          </a:p>
          <a:p>
            <a:pPr indent="0" lvl="0" marL="0" rtl="0" algn="l">
              <a:lnSpc>
                <a:spcPct val="100000"/>
              </a:lnSpc>
              <a:spcBef>
                <a:spcPts val="0"/>
              </a:spcBef>
              <a:spcAft>
                <a:spcPts val="0"/>
              </a:spcAft>
              <a:buNone/>
            </a:pPr>
            <a:r>
              <a:t/>
            </a:r>
            <a:endParaRPr sz="1800">
              <a:solidFill>
                <a:srgbClr val="4B4F58"/>
              </a:solidFill>
            </a:endParaRPr>
          </a:p>
          <a:p>
            <a:pPr indent="-325755" lvl="0" marL="457200" rtl="0" algn="l">
              <a:lnSpc>
                <a:spcPct val="100000"/>
              </a:lnSpc>
              <a:spcBef>
                <a:spcPts val="0"/>
              </a:spcBef>
              <a:spcAft>
                <a:spcPts val="0"/>
              </a:spcAft>
              <a:buClr>
                <a:srgbClr val="4B4F58"/>
              </a:buClr>
              <a:buSzPct val="100000"/>
              <a:buChar char="-"/>
            </a:pPr>
            <a:r>
              <a:rPr b="1" lang="en" sz="1800">
                <a:solidFill>
                  <a:srgbClr val="4B4F58"/>
                </a:solidFill>
              </a:rPr>
              <a:t>Boris Beizer (1995):</a:t>
            </a:r>
            <a:endParaRPr b="1" sz="1800">
              <a:solidFill>
                <a:srgbClr val="4B4F58"/>
              </a:solidFill>
            </a:endParaRPr>
          </a:p>
          <a:p>
            <a:pPr indent="0" lvl="0" marL="0" rtl="0" algn="l">
              <a:lnSpc>
                <a:spcPct val="100000"/>
              </a:lnSpc>
              <a:spcBef>
                <a:spcPts val="0"/>
              </a:spcBef>
              <a:spcAft>
                <a:spcPts val="0"/>
              </a:spcAft>
              <a:buNone/>
            </a:pPr>
            <a:r>
              <a:rPr lang="en" sz="1800">
                <a:solidFill>
                  <a:srgbClr val="4B4F58"/>
                </a:solidFill>
              </a:rPr>
              <a:t>“A sequence of one or more subtests executed as a sequence because the outcome and/or final state of one subtest is the input and/or initial state of the next. The word ‘test’ is used to include subtests, tests proper, and test suites.” </a:t>
            </a:r>
            <a:endParaRPr sz="1800">
              <a:solidFill>
                <a:srgbClr val="4B4F58"/>
              </a:solidFill>
            </a:endParaRPr>
          </a:p>
          <a:p>
            <a:pPr indent="0" lvl="0" marL="0" rtl="0" algn="l">
              <a:lnSpc>
                <a:spcPct val="100000"/>
              </a:lnSpc>
              <a:spcBef>
                <a:spcPts val="0"/>
              </a:spcBef>
              <a:spcAft>
                <a:spcPts val="0"/>
              </a:spcAft>
              <a:buNone/>
            </a:pPr>
            <a:r>
              <a:t/>
            </a:r>
            <a:endParaRPr sz="1800">
              <a:solidFill>
                <a:srgbClr val="4B4F58"/>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we need test cases?</a:t>
            </a:r>
            <a:endParaRPr/>
          </a:p>
        </p:txBody>
      </p:sp>
      <p:sp>
        <p:nvSpPr>
          <p:cNvPr id="111" name="Google Shape;111;p17"/>
          <p:cNvSpPr txBox="1"/>
          <p:nvPr>
            <p:ph idx="1" type="body"/>
          </p:nvPr>
        </p:nvSpPr>
        <p:spPr>
          <a:xfrm>
            <a:off x="729450" y="1168050"/>
            <a:ext cx="7688700" cy="39027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t/>
            </a:r>
            <a:endParaRPr sz="1800">
              <a:solidFill>
                <a:srgbClr val="4B4F58"/>
              </a:solidFill>
            </a:endParaRPr>
          </a:p>
          <a:p>
            <a:pPr indent="0" lvl="0" marL="0" rtl="0" algn="l">
              <a:lnSpc>
                <a:spcPct val="100000"/>
              </a:lnSpc>
              <a:spcBef>
                <a:spcPts val="0"/>
              </a:spcBef>
              <a:spcAft>
                <a:spcPts val="0"/>
              </a:spcAft>
              <a:buNone/>
            </a:pPr>
            <a:r>
              <a:rPr lang="en" sz="1800">
                <a:solidFill>
                  <a:srgbClr val="4B4F58"/>
                </a:solidFill>
              </a:rPr>
              <a:t>We will write the test for the following reasons:</a:t>
            </a:r>
            <a:endParaRPr sz="1800">
              <a:solidFill>
                <a:srgbClr val="4B4F58"/>
              </a:solidFill>
            </a:endParaRPr>
          </a:p>
          <a:p>
            <a:pPr indent="0" lvl="0" marL="0" rtl="0" algn="l">
              <a:lnSpc>
                <a:spcPct val="100000"/>
              </a:lnSpc>
              <a:spcBef>
                <a:spcPts val="0"/>
              </a:spcBef>
              <a:spcAft>
                <a:spcPts val="0"/>
              </a:spcAft>
              <a:buNone/>
            </a:pPr>
            <a:r>
              <a:t/>
            </a:r>
            <a:endParaRPr sz="1800">
              <a:solidFill>
                <a:srgbClr val="4B4F58"/>
              </a:solidFill>
            </a:endParaRPr>
          </a:p>
          <a:p>
            <a:pPr indent="-342900" lvl="0" marL="457200" rtl="0" algn="l">
              <a:lnSpc>
                <a:spcPct val="100000"/>
              </a:lnSpc>
              <a:spcBef>
                <a:spcPts val="0"/>
              </a:spcBef>
              <a:spcAft>
                <a:spcPts val="0"/>
              </a:spcAft>
              <a:buClr>
                <a:srgbClr val="4B4F58"/>
              </a:buClr>
              <a:buSzPts val="1800"/>
              <a:buChar char="-"/>
            </a:pPr>
            <a:r>
              <a:rPr lang="en" sz="1800">
                <a:solidFill>
                  <a:srgbClr val="4B4F58"/>
                </a:solidFill>
              </a:rPr>
              <a:t>To require consistency in the test case execution</a:t>
            </a:r>
            <a:endParaRPr sz="1800">
              <a:solidFill>
                <a:srgbClr val="4B4F58"/>
              </a:solidFill>
            </a:endParaRPr>
          </a:p>
          <a:p>
            <a:pPr indent="-342900" lvl="0" marL="457200" rtl="0" algn="l">
              <a:lnSpc>
                <a:spcPct val="100000"/>
              </a:lnSpc>
              <a:spcBef>
                <a:spcPts val="0"/>
              </a:spcBef>
              <a:spcAft>
                <a:spcPts val="0"/>
              </a:spcAft>
              <a:buClr>
                <a:srgbClr val="4B4F58"/>
              </a:buClr>
              <a:buSzPts val="1800"/>
              <a:buChar char="-"/>
            </a:pPr>
            <a:r>
              <a:rPr lang="en" sz="1800">
                <a:solidFill>
                  <a:srgbClr val="4B4F58"/>
                </a:solidFill>
              </a:rPr>
              <a:t>To make sure a better test coverage</a:t>
            </a:r>
            <a:endParaRPr sz="1800">
              <a:solidFill>
                <a:srgbClr val="4B4F58"/>
              </a:solidFill>
            </a:endParaRPr>
          </a:p>
          <a:p>
            <a:pPr indent="-342900" lvl="0" marL="457200" rtl="0" algn="l">
              <a:lnSpc>
                <a:spcPct val="100000"/>
              </a:lnSpc>
              <a:spcBef>
                <a:spcPts val="0"/>
              </a:spcBef>
              <a:spcAft>
                <a:spcPts val="0"/>
              </a:spcAft>
              <a:buClr>
                <a:srgbClr val="4B4F58"/>
              </a:buClr>
              <a:buSzPts val="1800"/>
              <a:buChar char="-"/>
            </a:pPr>
            <a:r>
              <a:rPr lang="en" sz="1800">
                <a:solidFill>
                  <a:srgbClr val="4B4F58"/>
                </a:solidFill>
              </a:rPr>
              <a:t>It depends on the process rather than on a person</a:t>
            </a:r>
            <a:endParaRPr sz="1800">
              <a:solidFill>
                <a:srgbClr val="4B4F58"/>
              </a:solidFill>
            </a:endParaRPr>
          </a:p>
          <a:p>
            <a:pPr indent="-342900" lvl="0" marL="457200" rtl="0" algn="l">
              <a:lnSpc>
                <a:spcPct val="100000"/>
              </a:lnSpc>
              <a:spcBef>
                <a:spcPts val="0"/>
              </a:spcBef>
              <a:spcAft>
                <a:spcPts val="0"/>
              </a:spcAft>
              <a:buClr>
                <a:srgbClr val="4B4F58"/>
              </a:buClr>
              <a:buSzPts val="1800"/>
              <a:buChar char="-"/>
            </a:pPr>
            <a:r>
              <a:rPr lang="en" sz="1800">
                <a:solidFill>
                  <a:srgbClr val="4B4F58"/>
                </a:solidFill>
              </a:rPr>
              <a:t>To avoid training for every new test engineer on the product</a:t>
            </a:r>
            <a:endParaRPr sz="1800">
              <a:solidFill>
                <a:srgbClr val="4B4F58"/>
              </a:solidFill>
            </a:endParaRPr>
          </a:p>
          <a:p>
            <a:pPr indent="0" lvl="0" marL="0" rtl="0" algn="l">
              <a:lnSpc>
                <a:spcPct val="100000"/>
              </a:lnSpc>
              <a:spcBef>
                <a:spcPts val="0"/>
              </a:spcBef>
              <a:spcAft>
                <a:spcPts val="0"/>
              </a:spcAft>
              <a:buNone/>
            </a:pPr>
            <a:r>
              <a:t/>
            </a:r>
            <a:endParaRPr sz="1800">
              <a:solidFill>
                <a:srgbClr val="4B4F58"/>
              </a:solidFill>
            </a:endParaRPr>
          </a:p>
          <a:p>
            <a:pPr indent="0" lvl="0" marL="0" rtl="0" algn="l">
              <a:lnSpc>
                <a:spcPct val="100000"/>
              </a:lnSpc>
              <a:spcBef>
                <a:spcPts val="0"/>
              </a:spcBef>
              <a:spcAft>
                <a:spcPts val="0"/>
              </a:spcAft>
              <a:buNone/>
            </a:pPr>
            <a:r>
              <a:t/>
            </a:r>
            <a:endParaRPr sz="1800">
              <a:solidFill>
                <a:srgbClr val="4B4F58"/>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Test Cases</a:t>
            </a:r>
            <a:endParaRPr/>
          </a:p>
        </p:txBody>
      </p:sp>
      <p:sp>
        <p:nvSpPr>
          <p:cNvPr id="117" name="Google Shape;117;p18"/>
          <p:cNvSpPr txBox="1"/>
          <p:nvPr>
            <p:ph idx="1" type="body"/>
          </p:nvPr>
        </p:nvSpPr>
        <p:spPr>
          <a:xfrm>
            <a:off x="729450" y="1240675"/>
            <a:ext cx="7688700" cy="3902700"/>
          </a:xfrm>
          <a:prstGeom prst="rect">
            <a:avLst/>
          </a:prstGeom>
        </p:spPr>
        <p:txBody>
          <a:bodyPr anchorCtr="0" anchor="t" bIns="91425" lIns="91425" spcFirstLastPara="1" rIns="91425" wrap="square" tIns="91425">
            <a:normAutofit/>
          </a:bodyPr>
          <a:lstStyle/>
          <a:p>
            <a:pPr indent="-342900" lvl="0" marL="457200" rtl="0" algn="l">
              <a:lnSpc>
                <a:spcPct val="100000"/>
              </a:lnSpc>
              <a:spcBef>
                <a:spcPts val="0"/>
              </a:spcBef>
              <a:spcAft>
                <a:spcPts val="0"/>
              </a:spcAft>
              <a:buClr>
                <a:srgbClr val="4B4F58"/>
              </a:buClr>
              <a:buSzPts val="1800"/>
              <a:buChar char="-"/>
            </a:pPr>
            <a:r>
              <a:rPr lang="en" sz="1800">
                <a:solidFill>
                  <a:srgbClr val="4B4F58"/>
                </a:solidFill>
              </a:rPr>
              <a:t>	Positive Test Cases</a:t>
            </a:r>
            <a:endParaRPr sz="1800">
              <a:solidFill>
                <a:srgbClr val="4B4F58"/>
              </a:solidFill>
            </a:endParaRPr>
          </a:p>
          <a:p>
            <a:pPr indent="-342900" lvl="0" marL="457200" rtl="0" algn="l">
              <a:lnSpc>
                <a:spcPct val="100000"/>
              </a:lnSpc>
              <a:spcBef>
                <a:spcPts val="0"/>
              </a:spcBef>
              <a:spcAft>
                <a:spcPts val="0"/>
              </a:spcAft>
              <a:buClr>
                <a:srgbClr val="4B4F58"/>
              </a:buClr>
              <a:buSzPts val="1800"/>
              <a:buChar char="-"/>
            </a:pPr>
            <a:r>
              <a:rPr lang="en" sz="1800">
                <a:solidFill>
                  <a:srgbClr val="4B4F58"/>
                </a:solidFill>
              </a:rPr>
              <a:t>	Negative Test Cases</a:t>
            </a:r>
            <a:endParaRPr sz="1800">
              <a:solidFill>
                <a:srgbClr val="4B4F58"/>
              </a:solidFill>
            </a:endParaRPr>
          </a:p>
          <a:p>
            <a:pPr indent="0" lvl="0" marL="0" rtl="0" algn="l">
              <a:lnSpc>
                <a:spcPct val="100000"/>
              </a:lnSpc>
              <a:spcBef>
                <a:spcPts val="0"/>
              </a:spcBef>
              <a:spcAft>
                <a:spcPts val="0"/>
              </a:spcAft>
              <a:buNone/>
            </a:pPr>
            <a:r>
              <a:t/>
            </a:r>
            <a:endParaRPr sz="1800">
              <a:solidFill>
                <a:srgbClr val="4B4F58"/>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Elements of a Test Case</a:t>
            </a:r>
            <a:endParaRPr/>
          </a:p>
        </p:txBody>
      </p:sp>
      <p:sp>
        <p:nvSpPr>
          <p:cNvPr id="123" name="Google Shape;123;p19"/>
          <p:cNvSpPr txBox="1"/>
          <p:nvPr>
            <p:ph idx="1" type="body"/>
          </p:nvPr>
        </p:nvSpPr>
        <p:spPr>
          <a:xfrm>
            <a:off x="729450" y="1240675"/>
            <a:ext cx="7688700" cy="3902700"/>
          </a:xfrm>
          <a:prstGeom prst="rect">
            <a:avLst/>
          </a:prstGeom>
        </p:spPr>
        <p:txBody>
          <a:bodyPr anchorCtr="0" anchor="t" bIns="91425" lIns="91425" spcFirstLastPara="1" rIns="91425" wrap="square" tIns="91425">
            <a:normAutofit fontScale="77500" lnSpcReduction="20000"/>
          </a:bodyPr>
          <a:lstStyle/>
          <a:p>
            <a:pPr indent="0" lvl="0" marL="0" rtl="0" algn="l">
              <a:lnSpc>
                <a:spcPct val="100000"/>
              </a:lnSpc>
              <a:spcBef>
                <a:spcPts val="0"/>
              </a:spcBef>
              <a:spcAft>
                <a:spcPts val="0"/>
              </a:spcAft>
              <a:buNone/>
            </a:pPr>
            <a:r>
              <a:rPr lang="en" sz="1800">
                <a:solidFill>
                  <a:srgbClr val="4B4F58"/>
                </a:solidFill>
              </a:rPr>
              <a:t>Followings are the elements of test cases:</a:t>
            </a:r>
            <a:endParaRPr sz="1800">
              <a:solidFill>
                <a:srgbClr val="4B4F58"/>
              </a:solidFill>
            </a:endParaRPr>
          </a:p>
          <a:p>
            <a:pPr indent="-317182" lvl="0" marL="457200" rtl="0" algn="l">
              <a:lnSpc>
                <a:spcPct val="100000"/>
              </a:lnSpc>
              <a:spcBef>
                <a:spcPts val="0"/>
              </a:spcBef>
              <a:spcAft>
                <a:spcPts val="0"/>
              </a:spcAft>
              <a:buClr>
                <a:srgbClr val="4B4F58"/>
              </a:buClr>
              <a:buSzPct val="100000"/>
              <a:buChar char="-"/>
            </a:pPr>
            <a:r>
              <a:rPr lang="en" sz="1800">
                <a:solidFill>
                  <a:srgbClr val="4B4F58"/>
                </a:solidFill>
              </a:rPr>
              <a:t>Test Case ID</a:t>
            </a:r>
            <a:endParaRPr sz="1800">
              <a:solidFill>
                <a:srgbClr val="4B4F58"/>
              </a:solidFill>
            </a:endParaRPr>
          </a:p>
          <a:p>
            <a:pPr indent="-317182" lvl="0" marL="457200" rtl="0" algn="l">
              <a:lnSpc>
                <a:spcPct val="100000"/>
              </a:lnSpc>
              <a:spcBef>
                <a:spcPts val="0"/>
              </a:spcBef>
              <a:spcAft>
                <a:spcPts val="0"/>
              </a:spcAft>
              <a:buClr>
                <a:srgbClr val="4B4F58"/>
              </a:buClr>
              <a:buSzPct val="100000"/>
              <a:buChar char="-"/>
            </a:pPr>
            <a:r>
              <a:t/>
            </a:r>
            <a:endParaRPr sz="1800">
              <a:solidFill>
                <a:srgbClr val="4B4F58"/>
              </a:solidFill>
            </a:endParaRPr>
          </a:p>
          <a:p>
            <a:pPr indent="-317182" lvl="0" marL="457200" rtl="0" algn="l">
              <a:lnSpc>
                <a:spcPct val="100000"/>
              </a:lnSpc>
              <a:spcBef>
                <a:spcPts val="0"/>
              </a:spcBef>
              <a:spcAft>
                <a:spcPts val="0"/>
              </a:spcAft>
              <a:buClr>
                <a:srgbClr val="4B4F58"/>
              </a:buClr>
              <a:buSzPct val="100000"/>
              <a:buChar char="-"/>
            </a:pPr>
            <a:r>
              <a:rPr lang="en" sz="1800">
                <a:solidFill>
                  <a:srgbClr val="4B4F58"/>
                </a:solidFill>
              </a:rPr>
              <a:t>Test Scenario</a:t>
            </a:r>
            <a:endParaRPr sz="1800">
              <a:solidFill>
                <a:srgbClr val="4B4F58"/>
              </a:solidFill>
            </a:endParaRPr>
          </a:p>
          <a:p>
            <a:pPr indent="-317182" lvl="0" marL="457200" rtl="0" algn="l">
              <a:lnSpc>
                <a:spcPct val="100000"/>
              </a:lnSpc>
              <a:spcBef>
                <a:spcPts val="0"/>
              </a:spcBef>
              <a:spcAft>
                <a:spcPts val="0"/>
              </a:spcAft>
              <a:buClr>
                <a:srgbClr val="4B4F58"/>
              </a:buClr>
              <a:buSzPct val="100000"/>
              <a:buChar char="-"/>
            </a:pPr>
            <a:r>
              <a:t/>
            </a:r>
            <a:endParaRPr sz="1800">
              <a:solidFill>
                <a:srgbClr val="4B4F58"/>
              </a:solidFill>
            </a:endParaRPr>
          </a:p>
          <a:p>
            <a:pPr indent="-317182" lvl="0" marL="457200" rtl="0" algn="l">
              <a:lnSpc>
                <a:spcPct val="100000"/>
              </a:lnSpc>
              <a:spcBef>
                <a:spcPts val="0"/>
              </a:spcBef>
              <a:spcAft>
                <a:spcPts val="0"/>
              </a:spcAft>
              <a:buClr>
                <a:srgbClr val="4B4F58"/>
              </a:buClr>
              <a:buSzPct val="100000"/>
              <a:buChar char="-"/>
            </a:pPr>
            <a:r>
              <a:rPr lang="en" sz="1800">
                <a:solidFill>
                  <a:srgbClr val="4B4F58"/>
                </a:solidFill>
              </a:rPr>
              <a:t>Test Case Description</a:t>
            </a:r>
            <a:endParaRPr sz="1800">
              <a:solidFill>
                <a:srgbClr val="4B4F58"/>
              </a:solidFill>
            </a:endParaRPr>
          </a:p>
          <a:p>
            <a:pPr indent="-317182" lvl="0" marL="457200" rtl="0" algn="l">
              <a:lnSpc>
                <a:spcPct val="100000"/>
              </a:lnSpc>
              <a:spcBef>
                <a:spcPts val="0"/>
              </a:spcBef>
              <a:spcAft>
                <a:spcPts val="0"/>
              </a:spcAft>
              <a:buClr>
                <a:srgbClr val="4B4F58"/>
              </a:buClr>
              <a:buSzPct val="100000"/>
              <a:buChar char="-"/>
            </a:pPr>
            <a:r>
              <a:t/>
            </a:r>
            <a:endParaRPr sz="1800">
              <a:solidFill>
                <a:srgbClr val="4B4F58"/>
              </a:solidFill>
            </a:endParaRPr>
          </a:p>
          <a:p>
            <a:pPr indent="-317182" lvl="0" marL="457200" rtl="0" algn="l">
              <a:lnSpc>
                <a:spcPct val="100000"/>
              </a:lnSpc>
              <a:spcBef>
                <a:spcPts val="0"/>
              </a:spcBef>
              <a:spcAft>
                <a:spcPts val="0"/>
              </a:spcAft>
              <a:buClr>
                <a:srgbClr val="4B4F58"/>
              </a:buClr>
              <a:buSzPct val="100000"/>
              <a:buChar char="-"/>
            </a:pPr>
            <a:r>
              <a:rPr lang="en" sz="1800">
                <a:solidFill>
                  <a:srgbClr val="4B4F58"/>
                </a:solidFill>
              </a:rPr>
              <a:t>Test Steps</a:t>
            </a:r>
            <a:endParaRPr sz="1800">
              <a:solidFill>
                <a:srgbClr val="4B4F58"/>
              </a:solidFill>
            </a:endParaRPr>
          </a:p>
          <a:p>
            <a:pPr indent="-317182" lvl="0" marL="457200" rtl="0" algn="l">
              <a:lnSpc>
                <a:spcPct val="100000"/>
              </a:lnSpc>
              <a:spcBef>
                <a:spcPts val="0"/>
              </a:spcBef>
              <a:spcAft>
                <a:spcPts val="0"/>
              </a:spcAft>
              <a:buClr>
                <a:srgbClr val="4B4F58"/>
              </a:buClr>
              <a:buSzPct val="100000"/>
              <a:buChar char="-"/>
            </a:pPr>
            <a:r>
              <a:t/>
            </a:r>
            <a:endParaRPr sz="1800">
              <a:solidFill>
                <a:srgbClr val="4B4F58"/>
              </a:solidFill>
            </a:endParaRPr>
          </a:p>
          <a:p>
            <a:pPr indent="-317182" lvl="0" marL="457200" rtl="0" algn="l">
              <a:lnSpc>
                <a:spcPct val="100000"/>
              </a:lnSpc>
              <a:spcBef>
                <a:spcPts val="0"/>
              </a:spcBef>
              <a:spcAft>
                <a:spcPts val="0"/>
              </a:spcAft>
              <a:buClr>
                <a:srgbClr val="4B4F58"/>
              </a:buClr>
              <a:buSzPct val="100000"/>
              <a:buChar char="-"/>
            </a:pPr>
            <a:r>
              <a:rPr lang="en" sz="1800">
                <a:solidFill>
                  <a:srgbClr val="4B4F58"/>
                </a:solidFill>
              </a:rPr>
              <a:t>Prerequisite</a:t>
            </a:r>
            <a:endParaRPr sz="1800">
              <a:solidFill>
                <a:srgbClr val="4B4F58"/>
              </a:solidFill>
            </a:endParaRPr>
          </a:p>
          <a:p>
            <a:pPr indent="-317182" lvl="0" marL="457200" rtl="0" algn="l">
              <a:lnSpc>
                <a:spcPct val="100000"/>
              </a:lnSpc>
              <a:spcBef>
                <a:spcPts val="0"/>
              </a:spcBef>
              <a:spcAft>
                <a:spcPts val="0"/>
              </a:spcAft>
              <a:buClr>
                <a:srgbClr val="4B4F58"/>
              </a:buClr>
              <a:buSzPct val="100000"/>
              <a:buChar char="-"/>
            </a:pPr>
            <a:r>
              <a:t/>
            </a:r>
            <a:endParaRPr sz="1800">
              <a:solidFill>
                <a:srgbClr val="4B4F58"/>
              </a:solidFill>
            </a:endParaRPr>
          </a:p>
          <a:p>
            <a:pPr indent="-317182" lvl="0" marL="457200" rtl="0" algn="l">
              <a:lnSpc>
                <a:spcPct val="100000"/>
              </a:lnSpc>
              <a:spcBef>
                <a:spcPts val="0"/>
              </a:spcBef>
              <a:spcAft>
                <a:spcPts val="0"/>
              </a:spcAft>
              <a:buClr>
                <a:srgbClr val="4B4F58"/>
              </a:buClr>
              <a:buSzPct val="100000"/>
              <a:buChar char="-"/>
            </a:pPr>
            <a:r>
              <a:rPr lang="en" sz="1800">
                <a:solidFill>
                  <a:srgbClr val="4B4F58"/>
                </a:solidFill>
              </a:rPr>
              <a:t>Test Data</a:t>
            </a:r>
            <a:endParaRPr sz="1800">
              <a:solidFill>
                <a:srgbClr val="4B4F58"/>
              </a:solidFill>
            </a:endParaRPr>
          </a:p>
          <a:p>
            <a:pPr indent="-317182" lvl="0" marL="457200" rtl="0" algn="l">
              <a:lnSpc>
                <a:spcPct val="100000"/>
              </a:lnSpc>
              <a:spcBef>
                <a:spcPts val="0"/>
              </a:spcBef>
              <a:spcAft>
                <a:spcPts val="0"/>
              </a:spcAft>
              <a:buClr>
                <a:srgbClr val="4B4F58"/>
              </a:buClr>
              <a:buSzPct val="100000"/>
              <a:buChar char="-"/>
            </a:pPr>
            <a:r>
              <a:t/>
            </a:r>
            <a:endParaRPr sz="1800">
              <a:solidFill>
                <a:srgbClr val="4B4F58"/>
              </a:solidFill>
            </a:endParaRPr>
          </a:p>
          <a:p>
            <a:pPr indent="-317182" lvl="0" marL="457200" rtl="0" algn="l">
              <a:lnSpc>
                <a:spcPct val="100000"/>
              </a:lnSpc>
              <a:spcBef>
                <a:spcPts val="0"/>
              </a:spcBef>
              <a:spcAft>
                <a:spcPts val="0"/>
              </a:spcAft>
              <a:buClr>
                <a:srgbClr val="4B4F58"/>
              </a:buClr>
              <a:buSzPct val="100000"/>
              <a:buChar char="-"/>
            </a:pPr>
            <a:r>
              <a:rPr lang="en" sz="1800">
                <a:solidFill>
                  <a:srgbClr val="4B4F58"/>
                </a:solidFill>
              </a:rPr>
              <a:t>Expected Result</a:t>
            </a:r>
            <a:endParaRPr sz="1800">
              <a:solidFill>
                <a:srgbClr val="4B4F58"/>
              </a:solidFill>
            </a:endParaRPr>
          </a:p>
          <a:p>
            <a:pPr indent="-317182" lvl="0" marL="457200" rtl="0" algn="l">
              <a:lnSpc>
                <a:spcPct val="100000"/>
              </a:lnSpc>
              <a:spcBef>
                <a:spcPts val="0"/>
              </a:spcBef>
              <a:spcAft>
                <a:spcPts val="0"/>
              </a:spcAft>
              <a:buClr>
                <a:srgbClr val="4B4F58"/>
              </a:buClr>
              <a:buSzPct val="100000"/>
              <a:buChar char="-"/>
            </a:pPr>
            <a:r>
              <a:t/>
            </a:r>
            <a:endParaRPr sz="1800">
              <a:solidFill>
                <a:srgbClr val="4B4F58"/>
              </a:solidFill>
            </a:endParaRPr>
          </a:p>
          <a:p>
            <a:pPr indent="-317182" lvl="0" marL="457200" rtl="0" algn="l">
              <a:lnSpc>
                <a:spcPct val="100000"/>
              </a:lnSpc>
              <a:spcBef>
                <a:spcPts val="0"/>
              </a:spcBef>
              <a:spcAft>
                <a:spcPts val="0"/>
              </a:spcAft>
              <a:buClr>
                <a:srgbClr val="4B4F58"/>
              </a:buClr>
              <a:buSzPct val="100000"/>
              <a:buChar char="-"/>
            </a:pPr>
            <a:r>
              <a:rPr lang="en" sz="1800">
                <a:solidFill>
                  <a:srgbClr val="4B4F58"/>
                </a:solidFill>
              </a:rPr>
              <a:t>Actual Result</a:t>
            </a:r>
            <a:endParaRPr sz="1800">
              <a:solidFill>
                <a:srgbClr val="4B4F58"/>
              </a:solidFill>
            </a:endParaRPr>
          </a:p>
          <a:p>
            <a:pPr indent="-317182" lvl="0" marL="457200" rtl="0" algn="l">
              <a:lnSpc>
                <a:spcPct val="100000"/>
              </a:lnSpc>
              <a:spcBef>
                <a:spcPts val="0"/>
              </a:spcBef>
              <a:spcAft>
                <a:spcPts val="0"/>
              </a:spcAft>
              <a:buClr>
                <a:srgbClr val="4B4F58"/>
              </a:buClr>
              <a:buSzPct val="100000"/>
              <a:buChar char="-"/>
            </a:pPr>
            <a:r>
              <a:t/>
            </a:r>
            <a:endParaRPr sz="1800">
              <a:solidFill>
                <a:srgbClr val="4B4F58"/>
              </a:solidFill>
            </a:endParaRPr>
          </a:p>
          <a:p>
            <a:pPr indent="-317182" lvl="0" marL="457200" rtl="0" algn="l">
              <a:lnSpc>
                <a:spcPct val="100000"/>
              </a:lnSpc>
              <a:spcBef>
                <a:spcPts val="0"/>
              </a:spcBef>
              <a:spcAft>
                <a:spcPts val="0"/>
              </a:spcAft>
              <a:buClr>
                <a:srgbClr val="4B4F58"/>
              </a:buClr>
              <a:buSzPct val="100000"/>
              <a:buChar char="-"/>
            </a:pPr>
            <a:r>
              <a:rPr lang="en" sz="1800">
                <a:solidFill>
                  <a:srgbClr val="4B4F58"/>
                </a:solidFill>
              </a:rPr>
              <a:t>Environment Information</a:t>
            </a:r>
            <a:endParaRPr sz="1800">
              <a:solidFill>
                <a:srgbClr val="4B4F58"/>
              </a:solidFill>
            </a:endParaRPr>
          </a:p>
          <a:p>
            <a:pPr indent="-317182" lvl="0" marL="457200" rtl="0" algn="l">
              <a:lnSpc>
                <a:spcPct val="100000"/>
              </a:lnSpc>
              <a:spcBef>
                <a:spcPts val="0"/>
              </a:spcBef>
              <a:spcAft>
                <a:spcPts val="0"/>
              </a:spcAft>
              <a:buClr>
                <a:srgbClr val="4B4F58"/>
              </a:buClr>
              <a:buSzPct val="100000"/>
              <a:buChar char="-"/>
            </a:pPr>
            <a:r>
              <a:t/>
            </a:r>
            <a:endParaRPr sz="1800">
              <a:solidFill>
                <a:srgbClr val="4B4F58"/>
              </a:solidFill>
            </a:endParaRPr>
          </a:p>
          <a:p>
            <a:pPr indent="-317182" lvl="0" marL="457200" rtl="0" algn="l">
              <a:lnSpc>
                <a:spcPct val="100000"/>
              </a:lnSpc>
              <a:spcBef>
                <a:spcPts val="0"/>
              </a:spcBef>
              <a:spcAft>
                <a:spcPts val="0"/>
              </a:spcAft>
              <a:buClr>
                <a:srgbClr val="4B4F58"/>
              </a:buClr>
              <a:buSzPct val="100000"/>
              <a:buChar char="-"/>
            </a:pPr>
            <a:r>
              <a:rPr lang="en" sz="1800">
                <a:solidFill>
                  <a:srgbClr val="4B4F58"/>
                </a:solidFill>
              </a:rPr>
              <a:t>Comments</a:t>
            </a:r>
            <a:endParaRPr sz="1800">
              <a:solidFill>
                <a:srgbClr val="4B4F58"/>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Attributes of a Good Test Case</a:t>
            </a:r>
            <a:endParaRPr/>
          </a:p>
        </p:txBody>
      </p:sp>
      <p:sp>
        <p:nvSpPr>
          <p:cNvPr id="129" name="Google Shape;129;p20"/>
          <p:cNvSpPr txBox="1"/>
          <p:nvPr>
            <p:ph idx="1" type="body"/>
          </p:nvPr>
        </p:nvSpPr>
        <p:spPr>
          <a:xfrm>
            <a:off x="729450" y="1240675"/>
            <a:ext cx="7688700" cy="39027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t/>
            </a:r>
            <a:endParaRPr sz="1800">
              <a:solidFill>
                <a:srgbClr val="4B4F58"/>
              </a:solidFill>
            </a:endParaRPr>
          </a:p>
          <a:p>
            <a:pPr indent="0" lvl="0" marL="0" rtl="0" algn="l">
              <a:lnSpc>
                <a:spcPct val="100000"/>
              </a:lnSpc>
              <a:spcBef>
                <a:spcPts val="0"/>
              </a:spcBef>
              <a:spcAft>
                <a:spcPts val="0"/>
              </a:spcAft>
              <a:buNone/>
            </a:pPr>
            <a:r>
              <a:rPr b="1" lang="en" sz="1800">
                <a:solidFill>
                  <a:srgbClr val="4B4F58"/>
                </a:solidFill>
              </a:rPr>
              <a:t>Attributes of a good test case are as follows:</a:t>
            </a:r>
            <a:endParaRPr b="1" sz="1800">
              <a:solidFill>
                <a:srgbClr val="4B4F58"/>
              </a:solidFill>
            </a:endParaRPr>
          </a:p>
          <a:p>
            <a:pPr indent="-342900" lvl="0" marL="457200" rtl="0" algn="l">
              <a:lnSpc>
                <a:spcPct val="100000"/>
              </a:lnSpc>
              <a:spcBef>
                <a:spcPts val="0"/>
              </a:spcBef>
              <a:spcAft>
                <a:spcPts val="0"/>
              </a:spcAft>
              <a:buClr>
                <a:srgbClr val="4B4F58"/>
              </a:buClr>
              <a:buSzPts val="1800"/>
              <a:buChar char="-"/>
            </a:pPr>
            <a:r>
              <a:rPr lang="en" sz="1800">
                <a:solidFill>
                  <a:srgbClr val="4B4F58"/>
                </a:solidFill>
              </a:rPr>
              <a:t>Accurate</a:t>
            </a:r>
            <a:endParaRPr sz="1800">
              <a:solidFill>
                <a:srgbClr val="4B4F58"/>
              </a:solidFill>
            </a:endParaRPr>
          </a:p>
          <a:p>
            <a:pPr indent="-342900" lvl="0" marL="457200" rtl="0" algn="l">
              <a:lnSpc>
                <a:spcPct val="100000"/>
              </a:lnSpc>
              <a:spcBef>
                <a:spcPts val="0"/>
              </a:spcBef>
              <a:spcAft>
                <a:spcPts val="0"/>
              </a:spcAft>
              <a:buClr>
                <a:srgbClr val="4B4F58"/>
              </a:buClr>
              <a:buSzPts val="1800"/>
              <a:buChar char="-"/>
            </a:pPr>
            <a:r>
              <a:rPr lang="en" sz="1800">
                <a:solidFill>
                  <a:srgbClr val="4B4F58"/>
                </a:solidFill>
              </a:rPr>
              <a:t>Economical</a:t>
            </a:r>
            <a:endParaRPr sz="1800">
              <a:solidFill>
                <a:srgbClr val="4B4F58"/>
              </a:solidFill>
            </a:endParaRPr>
          </a:p>
          <a:p>
            <a:pPr indent="-342900" lvl="0" marL="457200" rtl="0" algn="l">
              <a:lnSpc>
                <a:spcPct val="100000"/>
              </a:lnSpc>
              <a:spcBef>
                <a:spcPts val="0"/>
              </a:spcBef>
              <a:spcAft>
                <a:spcPts val="0"/>
              </a:spcAft>
              <a:buClr>
                <a:srgbClr val="4B4F58"/>
              </a:buClr>
              <a:buSzPts val="1800"/>
              <a:buChar char="-"/>
            </a:pPr>
            <a:r>
              <a:rPr lang="en" sz="1800">
                <a:solidFill>
                  <a:srgbClr val="4B4F58"/>
                </a:solidFill>
              </a:rPr>
              <a:t>Repeatable, self-standing</a:t>
            </a:r>
            <a:endParaRPr sz="1800">
              <a:solidFill>
                <a:srgbClr val="4B4F58"/>
              </a:solidFill>
            </a:endParaRPr>
          </a:p>
          <a:p>
            <a:pPr indent="-342900" lvl="0" marL="457200" rtl="0" algn="l">
              <a:lnSpc>
                <a:spcPct val="100000"/>
              </a:lnSpc>
              <a:spcBef>
                <a:spcPts val="0"/>
              </a:spcBef>
              <a:spcAft>
                <a:spcPts val="0"/>
              </a:spcAft>
              <a:buClr>
                <a:srgbClr val="4B4F58"/>
              </a:buClr>
              <a:buSzPts val="1800"/>
              <a:buChar char="-"/>
            </a:pPr>
            <a:r>
              <a:rPr lang="en" sz="1800">
                <a:solidFill>
                  <a:srgbClr val="4B4F58"/>
                </a:solidFill>
              </a:rPr>
              <a:t>Appropriate</a:t>
            </a:r>
            <a:endParaRPr sz="1800">
              <a:solidFill>
                <a:srgbClr val="4B4F58"/>
              </a:solidFill>
            </a:endParaRPr>
          </a:p>
          <a:p>
            <a:pPr indent="-342900" lvl="0" marL="457200" rtl="0" algn="l">
              <a:lnSpc>
                <a:spcPct val="100000"/>
              </a:lnSpc>
              <a:spcBef>
                <a:spcPts val="0"/>
              </a:spcBef>
              <a:spcAft>
                <a:spcPts val="0"/>
              </a:spcAft>
              <a:buClr>
                <a:srgbClr val="4B4F58"/>
              </a:buClr>
              <a:buSzPts val="1800"/>
              <a:buChar char="-"/>
            </a:pPr>
            <a:r>
              <a:rPr lang="en" sz="1800">
                <a:solidFill>
                  <a:srgbClr val="4B4F58"/>
                </a:solidFill>
              </a:rPr>
              <a:t>Traceable</a:t>
            </a:r>
            <a:endParaRPr sz="1800">
              <a:solidFill>
                <a:srgbClr val="4B4F58"/>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Test Case Design Techniques</a:t>
            </a:r>
            <a:endParaRPr/>
          </a:p>
        </p:txBody>
      </p:sp>
      <p:sp>
        <p:nvSpPr>
          <p:cNvPr id="135" name="Google Shape;135;p21"/>
          <p:cNvSpPr txBox="1"/>
          <p:nvPr>
            <p:ph idx="1" type="body"/>
          </p:nvPr>
        </p:nvSpPr>
        <p:spPr>
          <a:xfrm>
            <a:off x="729450" y="1240675"/>
            <a:ext cx="7688700" cy="39027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t/>
            </a:r>
            <a:endParaRPr sz="1800">
              <a:solidFill>
                <a:srgbClr val="4B4F58"/>
              </a:solidFill>
            </a:endParaRPr>
          </a:p>
          <a:p>
            <a:pPr indent="0" lvl="0" marL="0" rtl="0" algn="l">
              <a:lnSpc>
                <a:spcPct val="100000"/>
              </a:lnSpc>
              <a:spcBef>
                <a:spcPts val="0"/>
              </a:spcBef>
              <a:spcAft>
                <a:spcPts val="0"/>
              </a:spcAft>
              <a:buNone/>
            </a:pPr>
            <a:r>
              <a:rPr b="1" lang="en" sz="1800">
                <a:solidFill>
                  <a:srgbClr val="4B4F58"/>
                </a:solidFill>
              </a:rPr>
              <a:t>What is a Test Design Technique? </a:t>
            </a:r>
            <a:endParaRPr b="1" sz="1800">
              <a:solidFill>
                <a:srgbClr val="4B4F58"/>
              </a:solidFill>
            </a:endParaRPr>
          </a:p>
          <a:p>
            <a:pPr indent="0" lvl="0" marL="0" rtl="0" algn="l">
              <a:lnSpc>
                <a:spcPct val="100000"/>
              </a:lnSpc>
              <a:spcBef>
                <a:spcPts val="0"/>
              </a:spcBef>
              <a:spcAft>
                <a:spcPts val="0"/>
              </a:spcAft>
              <a:buNone/>
            </a:pPr>
            <a:r>
              <a:t/>
            </a:r>
            <a:endParaRPr sz="1800">
              <a:solidFill>
                <a:srgbClr val="4B4F58"/>
              </a:solidFill>
            </a:endParaRPr>
          </a:p>
          <a:p>
            <a:pPr indent="0" lvl="0" marL="0" rtl="0" algn="l">
              <a:lnSpc>
                <a:spcPct val="100000"/>
              </a:lnSpc>
              <a:spcBef>
                <a:spcPts val="0"/>
              </a:spcBef>
              <a:spcAft>
                <a:spcPts val="0"/>
              </a:spcAft>
              <a:buNone/>
            </a:pPr>
            <a:r>
              <a:rPr lang="en" sz="1800">
                <a:solidFill>
                  <a:srgbClr val="4B4F58"/>
                </a:solidFill>
              </a:rPr>
              <a:t>Test case design technique is a procedure for selecting or designing tests based on a structural or functional model of the software. It is successful at finding faults and deriving good test cases.</a:t>
            </a:r>
            <a:endParaRPr sz="1800">
              <a:solidFill>
                <a:srgbClr val="4B4F58"/>
              </a:solidFill>
            </a:endParaRPr>
          </a:p>
          <a:p>
            <a:pPr indent="0" lvl="0" marL="0" rtl="0" algn="l">
              <a:lnSpc>
                <a:spcPct val="100000"/>
              </a:lnSpc>
              <a:spcBef>
                <a:spcPts val="0"/>
              </a:spcBef>
              <a:spcAft>
                <a:spcPts val="0"/>
              </a:spcAft>
              <a:buNone/>
            </a:pPr>
            <a:r>
              <a:t/>
            </a:r>
            <a:endParaRPr sz="1800">
              <a:solidFill>
                <a:srgbClr val="4B4F58"/>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Categories of Test Design Techniques</a:t>
            </a:r>
            <a:endParaRPr/>
          </a:p>
        </p:txBody>
      </p:sp>
      <p:sp>
        <p:nvSpPr>
          <p:cNvPr id="141" name="Google Shape;141;p22"/>
          <p:cNvSpPr txBox="1"/>
          <p:nvPr>
            <p:ph idx="1" type="body"/>
          </p:nvPr>
        </p:nvSpPr>
        <p:spPr>
          <a:xfrm>
            <a:off x="729450" y="1240675"/>
            <a:ext cx="7688700" cy="39027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t/>
            </a:r>
            <a:endParaRPr b="1" sz="1800">
              <a:solidFill>
                <a:srgbClr val="4B4F58"/>
              </a:solidFill>
            </a:endParaRPr>
          </a:p>
          <a:p>
            <a:pPr indent="0" lvl="0" marL="0" rtl="0" algn="l">
              <a:lnSpc>
                <a:spcPct val="100000"/>
              </a:lnSpc>
              <a:spcBef>
                <a:spcPts val="0"/>
              </a:spcBef>
              <a:spcAft>
                <a:spcPts val="0"/>
              </a:spcAft>
              <a:buNone/>
            </a:pPr>
            <a:r>
              <a:rPr lang="en" sz="1800">
                <a:solidFill>
                  <a:srgbClr val="4B4F58"/>
                </a:solidFill>
              </a:rPr>
              <a:t>Test design techniques can be widely categorized into three different areas as follows:</a:t>
            </a:r>
            <a:endParaRPr sz="1800">
              <a:solidFill>
                <a:srgbClr val="4B4F58"/>
              </a:solidFill>
            </a:endParaRPr>
          </a:p>
          <a:p>
            <a:pPr indent="0" lvl="0" marL="0" rtl="0" algn="l">
              <a:lnSpc>
                <a:spcPct val="100000"/>
              </a:lnSpc>
              <a:spcBef>
                <a:spcPts val="0"/>
              </a:spcBef>
              <a:spcAft>
                <a:spcPts val="0"/>
              </a:spcAft>
              <a:buNone/>
            </a:pPr>
            <a:r>
              <a:t/>
            </a:r>
            <a:endParaRPr sz="1800">
              <a:solidFill>
                <a:srgbClr val="4B4F58"/>
              </a:solidFill>
            </a:endParaRPr>
          </a:p>
          <a:p>
            <a:pPr indent="0" lvl="0" marL="0" rtl="0" algn="l">
              <a:lnSpc>
                <a:spcPct val="100000"/>
              </a:lnSpc>
              <a:spcBef>
                <a:spcPts val="0"/>
              </a:spcBef>
              <a:spcAft>
                <a:spcPts val="0"/>
              </a:spcAft>
              <a:buNone/>
            </a:pPr>
            <a:r>
              <a:rPr lang="en" sz="1800">
                <a:solidFill>
                  <a:srgbClr val="4B4F58"/>
                </a:solidFill>
              </a:rPr>
              <a:t>1.	Specification-Based or Black Box Design Techniques</a:t>
            </a:r>
            <a:endParaRPr sz="1800">
              <a:solidFill>
                <a:srgbClr val="4B4F58"/>
              </a:solidFill>
            </a:endParaRPr>
          </a:p>
          <a:p>
            <a:pPr indent="0" lvl="0" marL="0" rtl="0" algn="l">
              <a:lnSpc>
                <a:spcPct val="100000"/>
              </a:lnSpc>
              <a:spcBef>
                <a:spcPts val="0"/>
              </a:spcBef>
              <a:spcAft>
                <a:spcPts val="0"/>
              </a:spcAft>
              <a:buNone/>
            </a:pPr>
            <a:r>
              <a:rPr lang="en" sz="1800">
                <a:solidFill>
                  <a:srgbClr val="4B4F58"/>
                </a:solidFill>
              </a:rPr>
              <a:t>2.	Structure based or White Box Design Techniques</a:t>
            </a:r>
            <a:endParaRPr sz="1800">
              <a:solidFill>
                <a:srgbClr val="4B4F58"/>
              </a:solidFill>
            </a:endParaRPr>
          </a:p>
          <a:p>
            <a:pPr indent="0" lvl="0" marL="0" rtl="0" algn="l">
              <a:lnSpc>
                <a:spcPct val="100000"/>
              </a:lnSpc>
              <a:spcBef>
                <a:spcPts val="0"/>
              </a:spcBef>
              <a:spcAft>
                <a:spcPts val="0"/>
              </a:spcAft>
              <a:buNone/>
            </a:pPr>
            <a:r>
              <a:rPr lang="en" sz="1800">
                <a:solidFill>
                  <a:srgbClr val="4B4F58"/>
                </a:solidFill>
              </a:rPr>
              <a:t>3.	Experienced Based Testing Techniques</a:t>
            </a:r>
            <a:endParaRPr sz="1800">
              <a:solidFill>
                <a:srgbClr val="4B4F58"/>
              </a:solidFill>
            </a:endParaRPr>
          </a:p>
          <a:p>
            <a:pPr indent="0" lvl="0" marL="0" rtl="0" algn="l">
              <a:lnSpc>
                <a:spcPct val="100000"/>
              </a:lnSpc>
              <a:spcBef>
                <a:spcPts val="0"/>
              </a:spcBef>
              <a:spcAft>
                <a:spcPts val="0"/>
              </a:spcAft>
              <a:buNone/>
            </a:pPr>
            <a:r>
              <a:t/>
            </a:r>
            <a:endParaRPr b="1" sz="1800">
              <a:solidFill>
                <a:srgbClr val="4B4F58"/>
              </a:solidFill>
            </a:endParaRPr>
          </a:p>
          <a:p>
            <a:pPr indent="0" lvl="0" marL="0" rtl="0" algn="l">
              <a:lnSpc>
                <a:spcPct val="100000"/>
              </a:lnSpc>
              <a:spcBef>
                <a:spcPts val="0"/>
              </a:spcBef>
              <a:spcAft>
                <a:spcPts val="0"/>
              </a:spcAft>
              <a:buNone/>
            </a:pPr>
            <a:r>
              <a:t/>
            </a:r>
            <a:endParaRPr b="1" sz="1800">
              <a:solidFill>
                <a:srgbClr val="4B4F58"/>
              </a:solidFill>
            </a:endParaRPr>
          </a:p>
          <a:p>
            <a:pPr indent="0" lvl="0" marL="0" rtl="0" algn="l">
              <a:lnSpc>
                <a:spcPct val="100000"/>
              </a:lnSpc>
              <a:spcBef>
                <a:spcPts val="0"/>
              </a:spcBef>
              <a:spcAft>
                <a:spcPts val="0"/>
              </a:spcAft>
              <a:buNone/>
            </a:pPr>
            <a:r>
              <a:t/>
            </a:r>
            <a:endParaRPr b="1" sz="1800">
              <a:solidFill>
                <a:srgbClr val="4B4F58"/>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Advantages of Test Design Techniques</a:t>
            </a:r>
            <a:endParaRPr/>
          </a:p>
        </p:txBody>
      </p:sp>
      <p:sp>
        <p:nvSpPr>
          <p:cNvPr id="147" name="Google Shape;147;p23"/>
          <p:cNvSpPr txBox="1"/>
          <p:nvPr>
            <p:ph idx="1" type="body"/>
          </p:nvPr>
        </p:nvSpPr>
        <p:spPr>
          <a:xfrm>
            <a:off x="729450" y="1240675"/>
            <a:ext cx="7688700" cy="39027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t/>
            </a:r>
            <a:endParaRPr sz="1800">
              <a:solidFill>
                <a:srgbClr val="4B4F58"/>
              </a:solidFill>
            </a:endParaRPr>
          </a:p>
          <a:p>
            <a:pPr indent="-342900" lvl="0" marL="457200" rtl="0" algn="l">
              <a:lnSpc>
                <a:spcPct val="100000"/>
              </a:lnSpc>
              <a:spcBef>
                <a:spcPts val="0"/>
              </a:spcBef>
              <a:spcAft>
                <a:spcPts val="0"/>
              </a:spcAft>
              <a:buClr>
                <a:srgbClr val="4B4F58"/>
              </a:buClr>
              <a:buSzPts val="1800"/>
              <a:buChar char="-"/>
            </a:pPr>
            <a:r>
              <a:rPr lang="en" sz="1800">
                <a:solidFill>
                  <a:srgbClr val="4B4F58"/>
                </a:solidFill>
              </a:rPr>
              <a:t>Test Design finds Faults in early stage.</a:t>
            </a:r>
            <a:endParaRPr sz="1800">
              <a:solidFill>
                <a:srgbClr val="4B4F58"/>
              </a:solidFill>
            </a:endParaRPr>
          </a:p>
          <a:p>
            <a:pPr indent="-342900" lvl="0" marL="457200" rtl="0" algn="l">
              <a:lnSpc>
                <a:spcPct val="100000"/>
              </a:lnSpc>
              <a:spcBef>
                <a:spcPts val="0"/>
              </a:spcBef>
              <a:spcAft>
                <a:spcPts val="0"/>
              </a:spcAft>
              <a:buClr>
                <a:srgbClr val="4B4F58"/>
              </a:buClr>
              <a:buSzPts val="1800"/>
              <a:buChar char="-"/>
            </a:pPr>
            <a:r>
              <a:rPr lang="en" sz="1800">
                <a:solidFill>
                  <a:srgbClr val="4B4F58"/>
                </a:solidFill>
              </a:rPr>
              <a:t>Faults found early are cheaper to fix.</a:t>
            </a:r>
            <a:endParaRPr sz="1800">
              <a:solidFill>
                <a:srgbClr val="4B4F58"/>
              </a:solidFill>
            </a:endParaRPr>
          </a:p>
          <a:p>
            <a:pPr indent="-342900" lvl="0" marL="457200" rtl="0" algn="l">
              <a:lnSpc>
                <a:spcPct val="100000"/>
              </a:lnSpc>
              <a:spcBef>
                <a:spcPts val="0"/>
              </a:spcBef>
              <a:spcAft>
                <a:spcPts val="0"/>
              </a:spcAft>
              <a:buClr>
                <a:srgbClr val="4B4F58"/>
              </a:buClr>
              <a:buSzPts val="1800"/>
              <a:buChar char="-"/>
            </a:pPr>
            <a:r>
              <a:rPr lang="en" sz="1800">
                <a:solidFill>
                  <a:srgbClr val="4B4F58"/>
                </a:solidFill>
              </a:rPr>
              <a:t>Early test design technique can prevent faults from entering into the system.</a:t>
            </a:r>
            <a:endParaRPr sz="1800">
              <a:solidFill>
                <a:srgbClr val="4B4F58"/>
              </a:solidFill>
            </a:endParaRPr>
          </a:p>
          <a:p>
            <a:pPr indent="-342900" lvl="0" marL="457200" rtl="0" algn="l">
              <a:lnSpc>
                <a:spcPct val="100000"/>
              </a:lnSpc>
              <a:spcBef>
                <a:spcPts val="0"/>
              </a:spcBef>
              <a:spcAft>
                <a:spcPts val="0"/>
              </a:spcAft>
              <a:buClr>
                <a:srgbClr val="4B4F58"/>
              </a:buClr>
              <a:buSzPts val="1800"/>
              <a:buChar char="-"/>
            </a:pPr>
            <a:r>
              <a:rPr lang="en" sz="1800">
                <a:solidFill>
                  <a:srgbClr val="4B4F58"/>
                </a:solidFill>
              </a:rPr>
              <a:t>Change requests can be reduced considerably through test design.</a:t>
            </a:r>
            <a:endParaRPr sz="1800">
              <a:solidFill>
                <a:srgbClr val="4B4F58"/>
              </a:solidFill>
            </a:endParaRPr>
          </a:p>
          <a:p>
            <a:pPr indent="-342900" lvl="0" marL="457200" rtl="0" algn="l">
              <a:lnSpc>
                <a:spcPct val="100000"/>
              </a:lnSpc>
              <a:spcBef>
                <a:spcPts val="0"/>
              </a:spcBef>
              <a:spcAft>
                <a:spcPts val="0"/>
              </a:spcAft>
              <a:buClr>
                <a:srgbClr val="4B4F58"/>
              </a:buClr>
              <a:buSzPts val="1800"/>
              <a:buChar char="-"/>
            </a:pPr>
            <a:r>
              <a:rPr lang="en" sz="1800">
                <a:solidFill>
                  <a:srgbClr val="4B4F58"/>
                </a:solidFill>
              </a:rPr>
              <a:t>Early test design helps to build quality and stops fault multiplication.</a:t>
            </a:r>
            <a:endParaRPr sz="1800">
              <a:solidFill>
                <a:srgbClr val="4B4F58"/>
              </a:solidFill>
            </a:endParaRPr>
          </a:p>
          <a:p>
            <a:pPr indent="0" lvl="0" marL="0" rtl="0" algn="l">
              <a:lnSpc>
                <a:spcPct val="100000"/>
              </a:lnSpc>
              <a:spcBef>
                <a:spcPts val="0"/>
              </a:spcBef>
              <a:spcAft>
                <a:spcPts val="0"/>
              </a:spcAft>
              <a:buNone/>
            </a:pPr>
            <a:r>
              <a:t/>
            </a:r>
            <a:endParaRPr sz="1800">
              <a:solidFill>
                <a:srgbClr val="4B4F58"/>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4"/>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Choose a Test Design Technique?</a:t>
            </a:r>
            <a:endParaRPr/>
          </a:p>
        </p:txBody>
      </p:sp>
      <p:sp>
        <p:nvSpPr>
          <p:cNvPr id="153" name="Google Shape;153;p24"/>
          <p:cNvSpPr txBox="1"/>
          <p:nvPr>
            <p:ph idx="1" type="body"/>
          </p:nvPr>
        </p:nvSpPr>
        <p:spPr>
          <a:xfrm>
            <a:off x="729450" y="1240675"/>
            <a:ext cx="7688700" cy="39027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t/>
            </a:r>
            <a:endParaRPr sz="1800">
              <a:solidFill>
                <a:srgbClr val="4B4F58"/>
              </a:solidFill>
            </a:endParaRPr>
          </a:p>
          <a:p>
            <a:pPr indent="-342900" lvl="0" marL="457200" rtl="0" algn="l">
              <a:lnSpc>
                <a:spcPct val="100000"/>
              </a:lnSpc>
              <a:spcBef>
                <a:spcPts val="0"/>
              </a:spcBef>
              <a:spcAft>
                <a:spcPts val="0"/>
              </a:spcAft>
              <a:buClr>
                <a:srgbClr val="4B4F58"/>
              </a:buClr>
              <a:buSzPts val="1800"/>
              <a:buChar char="-"/>
            </a:pPr>
            <a:r>
              <a:rPr lang="en" sz="1800">
                <a:solidFill>
                  <a:srgbClr val="4B4F58"/>
                </a:solidFill>
              </a:rPr>
              <a:t>Following are the list of factors that influence the selection of the appropriate test design technique for a particular kind of problem: </a:t>
            </a:r>
            <a:endParaRPr sz="1800">
              <a:solidFill>
                <a:srgbClr val="4B4F58"/>
              </a:solidFill>
            </a:endParaRPr>
          </a:p>
          <a:p>
            <a:pPr indent="-342900" lvl="0" marL="457200" rtl="0" algn="l">
              <a:lnSpc>
                <a:spcPct val="100000"/>
              </a:lnSpc>
              <a:spcBef>
                <a:spcPts val="0"/>
              </a:spcBef>
              <a:spcAft>
                <a:spcPts val="0"/>
              </a:spcAft>
              <a:buClr>
                <a:srgbClr val="4B4F58"/>
              </a:buClr>
              <a:buSzPts val="1800"/>
              <a:buChar char="-"/>
            </a:pPr>
            <a:r>
              <a:rPr lang="en" sz="1800">
                <a:solidFill>
                  <a:srgbClr val="4B4F58"/>
                </a:solidFill>
              </a:rPr>
              <a:t>The type of system, </a:t>
            </a:r>
            <a:endParaRPr sz="1800">
              <a:solidFill>
                <a:srgbClr val="4B4F58"/>
              </a:solidFill>
            </a:endParaRPr>
          </a:p>
          <a:p>
            <a:pPr indent="-342900" lvl="0" marL="457200" rtl="0" algn="l">
              <a:lnSpc>
                <a:spcPct val="100000"/>
              </a:lnSpc>
              <a:spcBef>
                <a:spcPts val="0"/>
              </a:spcBef>
              <a:spcAft>
                <a:spcPts val="0"/>
              </a:spcAft>
              <a:buClr>
                <a:srgbClr val="4B4F58"/>
              </a:buClr>
              <a:buSzPts val="1800"/>
              <a:buChar char="-"/>
            </a:pPr>
            <a:r>
              <a:rPr lang="en" sz="1800">
                <a:solidFill>
                  <a:srgbClr val="4B4F58"/>
                </a:solidFill>
              </a:rPr>
              <a:t>Risk identified, </a:t>
            </a:r>
            <a:endParaRPr sz="1800">
              <a:solidFill>
                <a:srgbClr val="4B4F58"/>
              </a:solidFill>
            </a:endParaRPr>
          </a:p>
          <a:p>
            <a:pPr indent="-342900" lvl="0" marL="457200" rtl="0" algn="l">
              <a:lnSpc>
                <a:spcPct val="100000"/>
              </a:lnSpc>
              <a:spcBef>
                <a:spcPts val="0"/>
              </a:spcBef>
              <a:spcAft>
                <a:spcPts val="0"/>
              </a:spcAft>
              <a:buClr>
                <a:srgbClr val="4B4F58"/>
              </a:buClr>
              <a:buSzPts val="1800"/>
              <a:buChar char="-"/>
            </a:pPr>
            <a:r>
              <a:rPr lang="en" sz="1800">
                <a:solidFill>
                  <a:srgbClr val="4B4F58"/>
                </a:solidFill>
              </a:rPr>
              <a:t>Customer requirements, </a:t>
            </a:r>
            <a:endParaRPr sz="1800">
              <a:solidFill>
                <a:srgbClr val="4B4F58"/>
              </a:solidFill>
            </a:endParaRPr>
          </a:p>
          <a:p>
            <a:pPr indent="-342900" lvl="0" marL="457200" rtl="0" algn="l">
              <a:lnSpc>
                <a:spcPct val="100000"/>
              </a:lnSpc>
              <a:spcBef>
                <a:spcPts val="0"/>
              </a:spcBef>
              <a:spcAft>
                <a:spcPts val="0"/>
              </a:spcAft>
              <a:buClr>
                <a:srgbClr val="4B4F58"/>
              </a:buClr>
              <a:buSzPts val="1800"/>
              <a:buChar char="-"/>
            </a:pPr>
            <a:r>
              <a:rPr lang="en" sz="1800">
                <a:solidFill>
                  <a:srgbClr val="4B4F58"/>
                </a:solidFill>
              </a:rPr>
              <a:t>Models for use case modeling, </a:t>
            </a:r>
            <a:endParaRPr sz="1800">
              <a:solidFill>
                <a:srgbClr val="4B4F58"/>
              </a:solidFill>
            </a:endParaRPr>
          </a:p>
          <a:p>
            <a:pPr indent="-342900" lvl="0" marL="457200" rtl="0" algn="l">
              <a:lnSpc>
                <a:spcPct val="100000"/>
              </a:lnSpc>
              <a:spcBef>
                <a:spcPts val="0"/>
              </a:spcBef>
              <a:spcAft>
                <a:spcPts val="0"/>
              </a:spcAft>
              <a:buClr>
                <a:srgbClr val="4B4F58"/>
              </a:buClr>
              <a:buSzPts val="1800"/>
              <a:buChar char="-"/>
            </a:pPr>
            <a:r>
              <a:rPr lang="en" sz="1800">
                <a:solidFill>
                  <a:srgbClr val="4B4F58"/>
                </a:solidFill>
              </a:rPr>
              <a:t>Requirements models or tester knowledge.</a:t>
            </a:r>
            <a:endParaRPr sz="1800">
              <a:solidFill>
                <a:srgbClr val="4B4F58"/>
              </a:solidFill>
            </a:endParaRPr>
          </a:p>
          <a:p>
            <a:pPr indent="0" lvl="0" marL="0" rtl="0" algn="l">
              <a:lnSpc>
                <a:spcPct val="100000"/>
              </a:lnSpc>
              <a:spcBef>
                <a:spcPts val="0"/>
              </a:spcBef>
              <a:spcAft>
                <a:spcPts val="0"/>
              </a:spcAft>
              <a:buNone/>
            </a:pPr>
            <a:r>
              <a:t/>
            </a:r>
            <a:endParaRPr sz="1800">
              <a:solidFill>
                <a:srgbClr val="4B4F58"/>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5"/>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Process To Write Test Cases</a:t>
            </a:r>
            <a:endParaRPr/>
          </a:p>
        </p:txBody>
      </p:sp>
      <p:sp>
        <p:nvSpPr>
          <p:cNvPr id="159" name="Google Shape;159;p25"/>
          <p:cNvSpPr txBox="1"/>
          <p:nvPr>
            <p:ph idx="1" type="body"/>
          </p:nvPr>
        </p:nvSpPr>
        <p:spPr>
          <a:xfrm>
            <a:off x="729450" y="1240675"/>
            <a:ext cx="7688700" cy="39027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t/>
            </a:r>
            <a:endParaRPr sz="1800">
              <a:solidFill>
                <a:srgbClr val="4B4F58"/>
              </a:solidFill>
            </a:endParaRPr>
          </a:p>
          <a:p>
            <a:pPr indent="0" lvl="0" marL="457200" rtl="0" algn="l">
              <a:lnSpc>
                <a:spcPct val="100000"/>
              </a:lnSpc>
              <a:spcBef>
                <a:spcPts val="0"/>
              </a:spcBef>
              <a:spcAft>
                <a:spcPts val="0"/>
              </a:spcAft>
              <a:buNone/>
            </a:pPr>
            <a:r>
              <a:t/>
            </a:r>
            <a:endParaRPr sz="1800">
              <a:solidFill>
                <a:srgbClr val="4B4F58"/>
              </a:solidFill>
            </a:endParaRPr>
          </a:p>
          <a:p>
            <a:pPr indent="0" lvl="0" marL="0" rtl="0" algn="l">
              <a:lnSpc>
                <a:spcPct val="100000"/>
              </a:lnSpc>
              <a:spcBef>
                <a:spcPts val="0"/>
              </a:spcBef>
              <a:spcAft>
                <a:spcPts val="0"/>
              </a:spcAft>
              <a:buNone/>
            </a:pPr>
            <a:r>
              <a:t/>
            </a:r>
            <a:endParaRPr sz="1800">
              <a:solidFill>
                <a:srgbClr val="4B4F58"/>
              </a:solidFill>
            </a:endParaRPr>
          </a:p>
        </p:txBody>
      </p:sp>
      <p:pic>
        <p:nvPicPr>
          <p:cNvPr id="160" name="Google Shape;160;p25"/>
          <p:cNvPicPr preferRelativeResize="0"/>
          <p:nvPr/>
        </p:nvPicPr>
        <p:blipFill>
          <a:blip r:embed="rId3">
            <a:alphaModFix/>
          </a:blip>
          <a:stretch>
            <a:fillRect/>
          </a:stretch>
        </p:blipFill>
        <p:spPr>
          <a:xfrm>
            <a:off x="3622527" y="1371600"/>
            <a:ext cx="1771025" cy="36313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6"/>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Best Practice for writing good Test Case.</a:t>
            </a:r>
            <a:endParaRPr/>
          </a:p>
        </p:txBody>
      </p:sp>
      <p:sp>
        <p:nvSpPr>
          <p:cNvPr id="166" name="Google Shape;166;p26"/>
          <p:cNvSpPr txBox="1"/>
          <p:nvPr>
            <p:ph idx="1" type="body"/>
          </p:nvPr>
        </p:nvSpPr>
        <p:spPr>
          <a:xfrm>
            <a:off x="729450" y="1240675"/>
            <a:ext cx="7688700" cy="3902700"/>
          </a:xfrm>
          <a:prstGeom prst="rect">
            <a:avLst/>
          </a:prstGeom>
        </p:spPr>
        <p:txBody>
          <a:bodyPr anchorCtr="0" anchor="t" bIns="91425" lIns="91425" spcFirstLastPara="1" rIns="91425" wrap="square" tIns="91425">
            <a:normAutofit fontScale="77500" lnSpcReduction="20000"/>
          </a:bodyPr>
          <a:lstStyle/>
          <a:p>
            <a:pPr indent="0" lvl="0" marL="0" rtl="0" algn="l">
              <a:lnSpc>
                <a:spcPct val="100000"/>
              </a:lnSpc>
              <a:spcBef>
                <a:spcPts val="0"/>
              </a:spcBef>
              <a:spcAft>
                <a:spcPts val="0"/>
              </a:spcAft>
              <a:buNone/>
            </a:pPr>
            <a:r>
              <a:t/>
            </a:r>
            <a:endParaRPr sz="1800">
              <a:solidFill>
                <a:srgbClr val="4B4F58"/>
              </a:solidFill>
            </a:endParaRPr>
          </a:p>
          <a:p>
            <a:pPr indent="0" lvl="0" marL="457200" rtl="0" algn="l">
              <a:lnSpc>
                <a:spcPct val="100000"/>
              </a:lnSpc>
              <a:spcBef>
                <a:spcPts val="0"/>
              </a:spcBef>
              <a:spcAft>
                <a:spcPts val="0"/>
              </a:spcAft>
              <a:buNone/>
            </a:pPr>
            <a:r>
              <a:rPr lang="en" sz="1800">
                <a:solidFill>
                  <a:srgbClr val="4B4F58"/>
                </a:solidFill>
              </a:rPr>
              <a:t>1. Test Cases need to be simple and transparent</a:t>
            </a:r>
            <a:endParaRPr sz="1800">
              <a:solidFill>
                <a:srgbClr val="4B4F58"/>
              </a:solidFill>
            </a:endParaRPr>
          </a:p>
          <a:p>
            <a:pPr indent="0" lvl="0" marL="0" rtl="0" algn="l">
              <a:lnSpc>
                <a:spcPct val="100000"/>
              </a:lnSpc>
              <a:spcBef>
                <a:spcPts val="0"/>
              </a:spcBef>
              <a:spcAft>
                <a:spcPts val="0"/>
              </a:spcAft>
              <a:buNone/>
            </a:pPr>
            <a:r>
              <a:t/>
            </a:r>
            <a:endParaRPr sz="1800">
              <a:solidFill>
                <a:srgbClr val="4B4F58"/>
              </a:solidFill>
            </a:endParaRPr>
          </a:p>
          <a:p>
            <a:pPr indent="0" lvl="0" marL="457200" rtl="0" algn="l">
              <a:lnSpc>
                <a:spcPct val="100000"/>
              </a:lnSpc>
              <a:spcBef>
                <a:spcPts val="0"/>
              </a:spcBef>
              <a:spcAft>
                <a:spcPts val="0"/>
              </a:spcAft>
              <a:buNone/>
            </a:pPr>
            <a:r>
              <a:rPr lang="en" sz="1800">
                <a:solidFill>
                  <a:srgbClr val="4B4F58"/>
                </a:solidFill>
              </a:rPr>
              <a:t>2. Create Test Case with End User in Mind</a:t>
            </a:r>
            <a:endParaRPr sz="1800">
              <a:solidFill>
                <a:srgbClr val="4B4F58"/>
              </a:solidFill>
            </a:endParaRPr>
          </a:p>
          <a:p>
            <a:pPr indent="0" lvl="0" marL="0" rtl="0" algn="l">
              <a:lnSpc>
                <a:spcPct val="100000"/>
              </a:lnSpc>
              <a:spcBef>
                <a:spcPts val="0"/>
              </a:spcBef>
              <a:spcAft>
                <a:spcPts val="0"/>
              </a:spcAft>
              <a:buNone/>
            </a:pPr>
            <a:r>
              <a:t/>
            </a:r>
            <a:endParaRPr sz="1800">
              <a:solidFill>
                <a:srgbClr val="4B4F58"/>
              </a:solidFill>
            </a:endParaRPr>
          </a:p>
          <a:p>
            <a:pPr indent="0" lvl="0" marL="457200" rtl="0" algn="l">
              <a:lnSpc>
                <a:spcPct val="100000"/>
              </a:lnSpc>
              <a:spcBef>
                <a:spcPts val="0"/>
              </a:spcBef>
              <a:spcAft>
                <a:spcPts val="0"/>
              </a:spcAft>
              <a:buNone/>
            </a:pPr>
            <a:r>
              <a:rPr lang="en" sz="1800">
                <a:solidFill>
                  <a:srgbClr val="4B4F58"/>
                </a:solidFill>
              </a:rPr>
              <a:t>3. Avoid test case repetition</a:t>
            </a:r>
            <a:endParaRPr sz="1800">
              <a:solidFill>
                <a:srgbClr val="4B4F58"/>
              </a:solidFill>
            </a:endParaRPr>
          </a:p>
          <a:p>
            <a:pPr indent="0" lvl="0" marL="0" rtl="0" algn="l">
              <a:lnSpc>
                <a:spcPct val="100000"/>
              </a:lnSpc>
              <a:spcBef>
                <a:spcPts val="0"/>
              </a:spcBef>
              <a:spcAft>
                <a:spcPts val="0"/>
              </a:spcAft>
              <a:buNone/>
            </a:pPr>
            <a:r>
              <a:t/>
            </a:r>
            <a:endParaRPr sz="1800">
              <a:solidFill>
                <a:srgbClr val="4B4F58"/>
              </a:solidFill>
            </a:endParaRPr>
          </a:p>
          <a:p>
            <a:pPr indent="0" lvl="0" marL="457200" rtl="0" algn="l">
              <a:lnSpc>
                <a:spcPct val="100000"/>
              </a:lnSpc>
              <a:spcBef>
                <a:spcPts val="0"/>
              </a:spcBef>
              <a:spcAft>
                <a:spcPts val="0"/>
              </a:spcAft>
              <a:buNone/>
            </a:pPr>
            <a:r>
              <a:rPr lang="en" sz="1800">
                <a:solidFill>
                  <a:srgbClr val="4B4F58"/>
                </a:solidFill>
              </a:rPr>
              <a:t>4. Do not Assume</a:t>
            </a:r>
            <a:endParaRPr sz="1800">
              <a:solidFill>
                <a:srgbClr val="4B4F58"/>
              </a:solidFill>
            </a:endParaRPr>
          </a:p>
          <a:p>
            <a:pPr indent="0" lvl="0" marL="0" rtl="0" algn="l">
              <a:lnSpc>
                <a:spcPct val="100000"/>
              </a:lnSpc>
              <a:spcBef>
                <a:spcPts val="0"/>
              </a:spcBef>
              <a:spcAft>
                <a:spcPts val="0"/>
              </a:spcAft>
              <a:buNone/>
            </a:pPr>
            <a:r>
              <a:t/>
            </a:r>
            <a:endParaRPr sz="1800">
              <a:solidFill>
                <a:srgbClr val="4B4F58"/>
              </a:solidFill>
            </a:endParaRPr>
          </a:p>
          <a:p>
            <a:pPr indent="0" lvl="0" marL="457200" rtl="0" algn="l">
              <a:lnSpc>
                <a:spcPct val="100000"/>
              </a:lnSpc>
              <a:spcBef>
                <a:spcPts val="0"/>
              </a:spcBef>
              <a:spcAft>
                <a:spcPts val="0"/>
              </a:spcAft>
              <a:buNone/>
            </a:pPr>
            <a:r>
              <a:rPr lang="en" sz="1800">
                <a:solidFill>
                  <a:srgbClr val="4B4F58"/>
                </a:solidFill>
              </a:rPr>
              <a:t>5. Ensure 100% Coverage</a:t>
            </a:r>
            <a:endParaRPr sz="1800">
              <a:solidFill>
                <a:srgbClr val="4B4F58"/>
              </a:solidFill>
            </a:endParaRPr>
          </a:p>
          <a:p>
            <a:pPr indent="0" lvl="0" marL="457200" rtl="0" algn="l">
              <a:lnSpc>
                <a:spcPct val="100000"/>
              </a:lnSpc>
              <a:spcBef>
                <a:spcPts val="0"/>
              </a:spcBef>
              <a:spcAft>
                <a:spcPts val="0"/>
              </a:spcAft>
              <a:buNone/>
            </a:pPr>
            <a:r>
              <a:t/>
            </a:r>
            <a:endParaRPr sz="1800">
              <a:solidFill>
                <a:srgbClr val="4B4F58"/>
              </a:solidFill>
            </a:endParaRPr>
          </a:p>
          <a:p>
            <a:pPr indent="0" lvl="0" marL="457200" rtl="0" algn="l">
              <a:lnSpc>
                <a:spcPct val="100000"/>
              </a:lnSpc>
              <a:spcBef>
                <a:spcPts val="0"/>
              </a:spcBef>
              <a:spcAft>
                <a:spcPts val="0"/>
              </a:spcAft>
              <a:buNone/>
            </a:pPr>
            <a:r>
              <a:rPr lang="en" sz="1800">
                <a:solidFill>
                  <a:srgbClr val="4B4F58"/>
                </a:solidFill>
              </a:rPr>
              <a:t>6. Test Cases must be identifiable</a:t>
            </a:r>
            <a:endParaRPr sz="1800">
              <a:solidFill>
                <a:srgbClr val="4B4F58"/>
              </a:solidFill>
            </a:endParaRPr>
          </a:p>
          <a:p>
            <a:pPr indent="0" lvl="0" marL="457200" rtl="0" algn="l">
              <a:lnSpc>
                <a:spcPct val="100000"/>
              </a:lnSpc>
              <a:spcBef>
                <a:spcPts val="0"/>
              </a:spcBef>
              <a:spcAft>
                <a:spcPts val="0"/>
              </a:spcAft>
              <a:buNone/>
            </a:pPr>
            <a:r>
              <a:t/>
            </a:r>
            <a:endParaRPr sz="1800">
              <a:solidFill>
                <a:srgbClr val="4B4F58"/>
              </a:solidFill>
            </a:endParaRPr>
          </a:p>
          <a:p>
            <a:pPr indent="0" lvl="0" marL="457200" rtl="0" algn="l">
              <a:lnSpc>
                <a:spcPct val="100000"/>
              </a:lnSpc>
              <a:spcBef>
                <a:spcPts val="0"/>
              </a:spcBef>
              <a:spcAft>
                <a:spcPts val="0"/>
              </a:spcAft>
              <a:buNone/>
            </a:pPr>
            <a:r>
              <a:rPr lang="en" sz="1800">
                <a:solidFill>
                  <a:srgbClr val="4B4F58"/>
                </a:solidFill>
              </a:rPr>
              <a:t>7. Implement Testing Techniques</a:t>
            </a:r>
            <a:endParaRPr sz="1800">
              <a:solidFill>
                <a:srgbClr val="4B4F58"/>
              </a:solidFill>
            </a:endParaRPr>
          </a:p>
          <a:p>
            <a:pPr indent="0" lvl="0" marL="457200" rtl="0" algn="l">
              <a:lnSpc>
                <a:spcPct val="100000"/>
              </a:lnSpc>
              <a:spcBef>
                <a:spcPts val="0"/>
              </a:spcBef>
              <a:spcAft>
                <a:spcPts val="0"/>
              </a:spcAft>
              <a:buNone/>
            </a:pPr>
            <a:r>
              <a:t/>
            </a:r>
            <a:endParaRPr sz="1800">
              <a:solidFill>
                <a:srgbClr val="4B4F58"/>
              </a:solidFill>
            </a:endParaRPr>
          </a:p>
          <a:p>
            <a:pPr indent="0" lvl="0" marL="457200" rtl="0" algn="l">
              <a:lnSpc>
                <a:spcPct val="100000"/>
              </a:lnSpc>
              <a:spcBef>
                <a:spcPts val="0"/>
              </a:spcBef>
              <a:spcAft>
                <a:spcPts val="0"/>
              </a:spcAft>
              <a:buNone/>
            </a:pPr>
            <a:r>
              <a:rPr lang="en" sz="1800">
                <a:solidFill>
                  <a:srgbClr val="4B4F58"/>
                </a:solidFill>
              </a:rPr>
              <a:t>8. Self-cleaning</a:t>
            </a:r>
            <a:endParaRPr sz="1800">
              <a:solidFill>
                <a:srgbClr val="4B4F58"/>
              </a:solidFill>
            </a:endParaRPr>
          </a:p>
          <a:p>
            <a:pPr indent="0" lvl="0" marL="457200" rtl="0" algn="l">
              <a:lnSpc>
                <a:spcPct val="100000"/>
              </a:lnSpc>
              <a:spcBef>
                <a:spcPts val="0"/>
              </a:spcBef>
              <a:spcAft>
                <a:spcPts val="0"/>
              </a:spcAft>
              <a:buNone/>
            </a:pPr>
            <a:r>
              <a:t/>
            </a:r>
            <a:endParaRPr sz="1800">
              <a:solidFill>
                <a:srgbClr val="4B4F58"/>
              </a:solidFill>
            </a:endParaRPr>
          </a:p>
          <a:p>
            <a:pPr indent="0" lvl="0" marL="457200" rtl="0" algn="l">
              <a:lnSpc>
                <a:spcPct val="100000"/>
              </a:lnSpc>
              <a:spcBef>
                <a:spcPts val="0"/>
              </a:spcBef>
              <a:spcAft>
                <a:spcPts val="0"/>
              </a:spcAft>
              <a:buNone/>
            </a:pPr>
            <a:r>
              <a:rPr lang="en" sz="1800">
                <a:solidFill>
                  <a:srgbClr val="4B4F58"/>
                </a:solidFill>
              </a:rPr>
              <a:t>9. Repeatable and self-standing</a:t>
            </a:r>
            <a:endParaRPr sz="1800">
              <a:solidFill>
                <a:srgbClr val="4B4F58"/>
              </a:solidFill>
            </a:endParaRPr>
          </a:p>
          <a:p>
            <a:pPr indent="0" lvl="0" marL="0" rtl="0" algn="l">
              <a:lnSpc>
                <a:spcPct val="100000"/>
              </a:lnSpc>
              <a:spcBef>
                <a:spcPts val="0"/>
              </a:spcBef>
              <a:spcAft>
                <a:spcPts val="0"/>
              </a:spcAft>
              <a:buNone/>
            </a:pPr>
            <a:r>
              <a:t/>
            </a:r>
            <a:endParaRPr sz="1800">
              <a:solidFill>
                <a:srgbClr val="4B4F58"/>
              </a:solidFill>
            </a:endParaRPr>
          </a:p>
          <a:p>
            <a:pPr indent="0" lvl="0" marL="457200" rtl="0" algn="l">
              <a:lnSpc>
                <a:spcPct val="100000"/>
              </a:lnSpc>
              <a:spcBef>
                <a:spcPts val="0"/>
              </a:spcBef>
              <a:spcAft>
                <a:spcPts val="0"/>
              </a:spcAft>
              <a:buNone/>
            </a:pPr>
            <a:r>
              <a:rPr lang="en" sz="1800">
                <a:solidFill>
                  <a:srgbClr val="4B4F58"/>
                </a:solidFill>
              </a:rPr>
              <a:t>10. Peer Review</a:t>
            </a:r>
            <a:endParaRPr sz="1800">
              <a:solidFill>
                <a:srgbClr val="4B4F58"/>
              </a:solidFill>
            </a:endParaRPr>
          </a:p>
          <a:p>
            <a:pPr indent="0" lvl="0" marL="0" rtl="0" algn="l">
              <a:lnSpc>
                <a:spcPct val="100000"/>
              </a:lnSpc>
              <a:spcBef>
                <a:spcPts val="0"/>
              </a:spcBef>
              <a:spcAft>
                <a:spcPts val="0"/>
              </a:spcAft>
              <a:buNone/>
            </a:pPr>
            <a:r>
              <a:t/>
            </a:r>
            <a:endParaRPr sz="1800">
              <a:solidFill>
                <a:srgbClr val="4B4F58"/>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7"/>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Process To Write Test Cases</a:t>
            </a:r>
            <a:endParaRPr/>
          </a:p>
        </p:txBody>
      </p:sp>
      <p:sp>
        <p:nvSpPr>
          <p:cNvPr id="172" name="Google Shape;172;p27"/>
          <p:cNvSpPr txBox="1"/>
          <p:nvPr>
            <p:ph idx="1" type="body"/>
          </p:nvPr>
        </p:nvSpPr>
        <p:spPr>
          <a:xfrm>
            <a:off x="729450" y="1240675"/>
            <a:ext cx="7688700" cy="39027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sz="1800">
                <a:solidFill>
                  <a:srgbClr val="4B4F58"/>
                </a:solidFill>
              </a:rPr>
              <a:t>Example : </a:t>
            </a:r>
            <a:r>
              <a:rPr lang="en" sz="1500">
                <a:solidFill>
                  <a:srgbClr val="222222"/>
                </a:solidFill>
                <a:highlight>
                  <a:srgbClr val="FFFFFF"/>
                </a:highlight>
                <a:latin typeface="Arial"/>
                <a:ea typeface="Arial"/>
                <a:cs typeface="Arial"/>
                <a:sym typeface="Arial"/>
              </a:rPr>
              <a:t>Create a Test Case for the scenario: Check Login Functionality.</a:t>
            </a:r>
            <a:endParaRPr sz="1500">
              <a:solidFill>
                <a:srgbClr val="222222"/>
              </a:solidFill>
              <a:highlight>
                <a:srgbClr val="FFFFFF"/>
              </a:highlight>
              <a:latin typeface="Arial"/>
              <a:ea typeface="Arial"/>
              <a:cs typeface="Arial"/>
              <a:sym typeface="Arial"/>
            </a:endParaRPr>
          </a:p>
          <a:p>
            <a:pPr indent="0" lvl="0" marL="457200" rtl="0" algn="l">
              <a:lnSpc>
                <a:spcPct val="100000"/>
              </a:lnSpc>
              <a:spcBef>
                <a:spcPts val="0"/>
              </a:spcBef>
              <a:spcAft>
                <a:spcPts val="0"/>
              </a:spcAft>
              <a:buNone/>
            </a:pPr>
            <a:r>
              <a:t/>
            </a:r>
            <a:endParaRPr sz="1800">
              <a:solidFill>
                <a:srgbClr val="4B4F58"/>
              </a:solidFill>
            </a:endParaRPr>
          </a:p>
          <a:p>
            <a:pPr indent="0" lvl="0" marL="0" rtl="0" algn="l">
              <a:lnSpc>
                <a:spcPct val="100000"/>
              </a:lnSpc>
              <a:spcBef>
                <a:spcPts val="0"/>
              </a:spcBef>
              <a:spcAft>
                <a:spcPts val="0"/>
              </a:spcAft>
              <a:buNone/>
            </a:pPr>
            <a:r>
              <a:t/>
            </a:r>
            <a:endParaRPr sz="1800">
              <a:solidFill>
                <a:srgbClr val="4B4F58"/>
              </a:solidFill>
            </a:endParaRPr>
          </a:p>
        </p:txBody>
      </p:sp>
      <p:pic>
        <p:nvPicPr>
          <p:cNvPr id="173" name="Google Shape;173;p27"/>
          <p:cNvPicPr preferRelativeResize="0"/>
          <p:nvPr/>
        </p:nvPicPr>
        <p:blipFill>
          <a:blip r:embed="rId3">
            <a:alphaModFix/>
          </a:blip>
          <a:stretch>
            <a:fillRect/>
          </a:stretch>
        </p:blipFill>
        <p:spPr>
          <a:xfrm>
            <a:off x="2158913" y="1973175"/>
            <a:ext cx="4371975" cy="28003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8"/>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Q&amp;A’s ?</a:t>
            </a:r>
            <a:endParaRPr/>
          </a:p>
        </p:txBody>
      </p:sp>
      <p:sp>
        <p:nvSpPr>
          <p:cNvPr id="179" name="Google Shape;179;p28"/>
          <p:cNvSpPr txBox="1"/>
          <p:nvPr>
            <p:ph idx="1" type="body"/>
          </p:nvPr>
        </p:nvSpPr>
        <p:spPr>
          <a:xfrm>
            <a:off x="729450" y="2320025"/>
            <a:ext cx="7688700" cy="1320600"/>
          </a:xfrm>
          <a:prstGeom prst="rect">
            <a:avLst/>
          </a:prstGeom>
        </p:spPr>
        <p:txBody>
          <a:bodyPr anchorCtr="0" anchor="t" bIns="91425" lIns="91425" spcFirstLastPara="1" rIns="91425" wrap="square" tIns="91425">
            <a:normAutofit/>
          </a:bodyPr>
          <a:lstStyle/>
          <a:p>
            <a:pPr indent="0" lvl="0" marL="457200" rtl="0" algn="ctr">
              <a:lnSpc>
                <a:spcPct val="100000"/>
              </a:lnSpc>
              <a:spcBef>
                <a:spcPts val="0"/>
              </a:spcBef>
              <a:spcAft>
                <a:spcPts val="0"/>
              </a:spcAft>
              <a:buNone/>
            </a:pPr>
            <a:r>
              <a:rPr lang="en" sz="2900">
                <a:solidFill>
                  <a:srgbClr val="000000"/>
                </a:solidFill>
                <a:latin typeface="Calibri"/>
                <a:ea typeface="Calibri"/>
                <a:cs typeface="Calibri"/>
                <a:sym typeface="Calibri"/>
              </a:rPr>
              <a:t>Thank you !</a:t>
            </a:r>
            <a:endParaRPr sz="2900">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