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6858000" cy="9144000"/>
  <p:embeddedFontLst>
    <p:embeddedFont>
      <p:font typeface="Raleway" panose="020B0604020202020204" charset="0"/>
      <p:regular r:id="rId27"/>
      <p:bold r:id="rId28"/>
      <p:italic r:id="rId29"/>
      <p:boldItalic r:id="rId30"/>
    </p:embeddedFont>
    <p:embeddedFont>
      <p:font typeface="Lato" panose="020B0604020202020204" charset="0"/>
      <p:regular r:id="rId31"/>
      <p:bold r:id="rId32"/>
      <p:italic r:id="rId33"/>
      <p:boldItalic r:id="rId34"/>
    </p:embeddedFont>
    <p:embeddedFont>
      <p:font typeface="Calibri" panose="020F050202020403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738" y="6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6a117d3ff3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6a117d3ff3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6b2700d40f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6b2700d40f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6b2700d40f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6b2700d40f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6b2700d40f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6b2700d40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6b2700d40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6b2700d40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6b2700d40f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6b2700d40f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6a89426c41_0_4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6a89426c41_0_4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This can save time, resources, and costs in the long run. Also, it catches issues early when they are easier and less expensive to fix.</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6a89426c41_0_4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6a89426c41_0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6a89426c41_0_4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6a89426c41_0_4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6b2700d40f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6b2700d40f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Requirements &amp; Specifications Review: This includes analyzing the functional and non-functional requirements. We can also look at the feasibility of meeting the specified needs. </a:t>
            </a:r>
            <a:endParaRPr sz="1800">
              <a:solidFill>
                <a:srgbClr val="595959"/>
              </a:solidFill>
              <a:latin typeface="Lato"/>
              <a:ea typeface="Lato"/>
              <a:cs typeface="Lato"/>
              <a:sym typeface="Lato"/>
            </a:endParaRPr>
          </a:p>
          <a:p>
            <a:pPr marL="457200" lvl="0" indent="-342900" algn="l" rtl="0">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Structural Design Analysis: We must review the system’s static structure and flow diagrams to ensure it meets the system requirements. </a:t>
            </a:r>
            <a:endParaRPr sz="1800">
              <a:solidFill>
                <a:srgbClr val="595959"/>
              </a:solidFill>
              <a:latin typeface="Lato"/>
              <a:ea typeface="Lato"/>
              <a:cs typeface="Lato"/>
              <a:sym typeface="Lato"/>
            </a:endParaRPr>
          </a:p>
          <a:p>
            <a:pPr marL="457200" lvl="0" indent="-342900" algn="l" rtl="0">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Code Review: This involves manually inspecting and analyzing the source code to ensure the absence of errors and adherence to conventions and standards.</a:t>
            </a:r>
            <a:endParaRPr sz="1800">
              <a:solidFill>
                <a:srgbClr val="595959"/>
              </a:solidFill>
              <a:latin typeface="Lato"/>
              <a:ea typeface="Lato"/>
              <a:cs typeface="Lato"/>
              <a:sym typeface="Lato"/>
            </a:endParaRPr>
          </a:p>
          <a:p>
            <a:pPr marL="457200" lvl="0" indent="-342900" algn="l" rtl="0">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Database Analysis: We need to check for inconsistencies and ensure that all the database objects are consistent and aligned with the database design.</a:t>
            </a:r>
            <a:endParaRPr sz="1800">
              <a:solidFill>
                <a:srgbClr val="595959"/>
              </a:solidFill>
              <a:latin typeface="Lato"/>
              <a:ea typeface="Lato"/>
              <a:cs typeface="Lato"/>
              <a:sym typeface="Lato"/>
            </a:endParaRPr>
          </a:p>
          <a:p>
            <a:pPr marL="457200" lvl="0" indent="-342900" algn="l" rtl="0">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Documentation Review: We must assess the documentation to ensure accuracy and readability. </a:t>
            </a:r>
            <a:endParaRPr sz="1800">
              <a:solidFill>
                <a:srgbClr val="595959"/>
              </a:solidFill>
              <a:latin typeface="Lato"/>
              <a:ea typeface="Lato"/>
              <a:cs typeface="Lato"/>
              <a:sym typeface="Lato"/>
            </a:endParaRPr>
          </a:p>
          <a:p>
            <a:pPr marL="457200" lvl="0" indent="-342900" algn="l" rtl="0">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User Manual Review: We must review the user guide to ensure users can easily use the system.</a:t>
            </a:r>
            <a:endParaRPr sz="1800">
              <a:solidFill>
                <a:srgbClr val="595959"/>
              </a:solidFill>
              <a:latin typeface="Lato"/>
              <a:ea typeface="Lato"/>
              <a:cs typeface="Lato"/>
              <a:sym typeface="Lato"/>
            </a:endParaRPr>
          </a:p>
          <a:p>
            <a:pPr marL="0" lvl="0" indent="0" algn="l" rtl="0">
              <a:spcBef>
                <a:spcPts val="120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6a89426c41_0_4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6a89426c41_0_4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26b2700d40f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26b2700d40f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6a117d3ff3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6a117d3ff3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56250"/>
              </a:lnSpc>
              <a:spcBef>
                <a:spcPts val="0"/>
              </a:spcBef>
              <a:spcAft>
                <a:spcPts val="0"/>
              </a:spcAft>
              <a:buClr>
                <a:schemeClr val="dk1"/>
              </a:buClr>
              <a:buSzPts val="1200"/>
              <a:buAutoNum type="arabicPeriod"/>
            </a:pPr>
            <a:r>
              <a:rPr lang="en" sz="1200">
                <a:solidFill>
                  <a:schemeClr val="dk1"/>
                </a:solidFill>
                <a:highlight>
                  <a:srgbClr val="FFFFFF"/>
                </a:highlight>
              </a:rPr>
              <a:t>Early defect detection: Static Testing helps detect errors, defects, and bugs early in the development process when they are most cost-effective and easier to fix.</a:t>
            </a:r>
            <a:endParaRPr sz="1200">
              <a:solidFill>
                <a:schemeClr val="dk1"/>
              </a:solidFill>
              <a:highlight>
                <a:srgbClr val="FFFFFF"/>
              </a:highlight>
            </a:endParaRPr>
          </a:p>
          <a:p>
            <a:pPr marL="457200" lvl="0" indent="-304800" algn="l" rtl="0">
              <a:lnSpc>
                <a:spcPct val="156250"/>
              </a:lnSpc>
              <a:spcBef>
                <a:spcPts val="0"/>
              </a:spcBef>
              <a:spcAft>
                <a:spcPts val="0"/>
              </a:spcAft>
              <a:buClr>
                <a:schemeClr val="dk1"/>
              </a:buClr>
              <a:buSzPts val="1200"/>
              <a:buAutoNum type="arabicPeriod"/>
            </a:pPr>
            <a:r>
              <a:rPr lang="en" sz="1200">
                <a:solidFill>
                  <a:schemeClr val="dk1"/>
                </a:solidFill>
                <a:highlight>
                  <a:srgbClr val="FFFFFF"/>
                </a:highlight>
              </a:rPr>
              <a:t>Improved code quality: Static Testing helps ensure that code is well-structured, easy to maintain, and meets industry-recognized coding standards. This leads to higher code quality and reduces the chance of bugs and defects in the final product.</a:t>
            </a:r>
            <a:endParaRPr sz="1200">
              <a:solidFill>
                <a:schemeClr val="dk1"/>
              </a:solidFill>
              <a:highlight>
                <a:srgbClr val="FFFFFF"/>
              </a:highlight>
            </a:endParaRPr>
          </a:p>
          <a:p>
            <a:pPr marL="457200" lvl="0" indent="-304800" algn="l" rtl="0">
              <a:lnSpc>
                <a:spcPct val="156250"/>
              </a:lnSpc>
              <a:spcBef>
                <a:spcPts val="0"/>
              </a:spcBef>
              <a:spcAft>
                <a:spcPts val="0"/>
              </a:spcAft>
              <a:buClr>
                <a:schemeClr val="dk1"/>
              </a:buClr>
              <a:buSzPts val="1200"/>
              <a:buAutoNum type="arabicPeriod"/>
            </a:pPr>
            <a:r>
              <a:rPr lang="en" sz="1200">
                <a:solidFill>
                  <a:schemeClr val="dk1"/>
                </a:solidFill>
                <a:highlight>
                  <a:srgbClr val="FFFFFF"/>
                </a:highlight>
              </a:rPr>
              <a:t>Reduced costs and time: Detecting defects early on reduces the costs and time associated with fixing them. This can save significant amounts of resources throughout the development cycle.</a:t>
            </a:r>
            <a:endParaRPr sz="1200">
              <a:solidFill>
                <a:schemeClr val="dk1"/>
              </a:solidFill>
              <a:highlight>
                <a:srgbClr val="FFFFFF"/>
              </a:highlight>
            </a:endParaRPr>
          </a:p>
          <a:p>
            <a:pPr marL="457200" lvl="0" indent="-304800" algn="l" rtl="0">
              <a:lnSpc>
                <a:spcPct val="156250"/>
              </a:lnSpc>
              <a:spcBef>
                <a:spcPts val="0"/>
              </a:spcBef>
              <a:spcAft>
                <a:spcPts val="0"/>
              </a:spcAft>
              <a:buClr>
                <a:schemeClr val="dk1"/>
              </a:buClr>
              <a:buSzPts val="1200"/>
              <a:buAutoNum type="arabicPeriod"/>
            </a:pPr>
            <a:r>
              <a:rPr lang="en" sz="1200">
                <a:solidFill>
                  <a:schemeClr val="dk1"/>
                </a:solidFill>
                <a:highlight>
                  <a:srgbClr val="FFFFFF"/>
                </a:highlight>
              </a:rPr>
              <a:t>Prevention of common issues: Static Testing helps prevent common issues such as syntax errors, null pointer exceptions, and resource leaks. By proactively addressing these issues during development, teams can avoid problems later.</a:t>
            </a:r>
            <a:endParaRPr sz="1200">
              <a:solidFill>
                <a:schemeClr val="dk1"/>
              </a:solidFill>
              <a:highlight>
                <a:srgbClr val="FFFFFF"/>
              </a:highlight>
            </a:endParaRPr>
          </a:p>
          <a:p>
            <a:pPr marL="457200" lvl="0" indent="-304800" algn="l" rtl="0">
              <a:lnSpc>
                <a:spcPct val="156250"/>
              </a:lnSpc>
              <a:spcBef>
                <a:spcPts val="0"/>
              </a:spcBef>
              <a:spcAft>
                <a:spcPts val="0"/>
              </a:spcAft>
              <a:buClr>
                <a:schemeClr val="dk1"/>
              </a:buClr>
              <a:buSzPts val="1200"/>
              <a:buAutoNum type="arabicPeriod"/>
            </a:pPr>
            <a:r>
              <a:rPr lang="en" sz="1200">
                <a:solidFill>
                  <a:schemeClr val="dk1"/>
                </a:solidFill>
                <a:highlight>
                  <a:srgbClr val="FFFFFF"/>
                </a:highlight>
              </a:rPr>
              <a:t>Improved collaboration: Static Testing helps identify issues in a collaborative environment, promoting knowledge-sharing and fostering communication between team members.</a:t>
            </a:r>
            <a:endParaRPr sz="1200">
              <a:solidFill>
                <a:schemeClr val="dk1"/>
              </a:solidFill>
              <a:highlight>
                <a:srgbClr val="FFFFFF"/>
              </a:highlight>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26a117d3ff3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26a117d3ff3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6a117d3ff3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26a117d3ff3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6a117d3ff3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6a117d3ff3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6b2700d40f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26b2700d40f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26a117d3ff3_0_2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26a117d3ff3_0_2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lvl="0" indent="-412750" algn="l" rtl="0">
              <a:lnSpc>
                <a:spcPct val="115000"/>
              </a:lnSpc>
              <a:spcBef>
                <a:spcPts val="1200"/>
              </a:spcBef>
              <a:spcAft>
                <a:spcPts val="0"/>
              </a:spcAft>
              <a:buClr>
                <a:schemeClr val="dk1"/>
              </a:buClr>
              <a:buSzPts val="2900"/>
              <a:buChar char="•"/>
            </a:pPr>
            <a:r>
              <a:rPr lang="en">
                <a:solidFill>
                  <a:schemeClr val="dk1"/>
                </a:solidFill>
              </a:rPr>
              <a:t>Loss of money – this can include losing customers right through to financial penalties for non-compliance to legal requirements</a:t>
            </a:r>
            <a:endParaRPr>
              <a:solidFill>
                <a:schemeClr val="dk1"/>
              </a:solidFill>
            </a:endParaRPr>
          </a:p>
          <a:p>
            <a:pPr marL="342900" lvl="0" indent="-412750" algn="l" rtl="0">
              <a:lnSpc>
                <a:spcPct val="115000"/>
              </a:lnSpc>
              <a:spcBef>
                <a:spcPts val="0"/>
              </a:spcBef>
              <a:spcAft>
                <a:spcPts val="0"/>
              </a:spcAft>
              <a:buClr>
                <a:schemeClr val="dk1"/>
              </a:buClr>
              <a:buSzPts val="2900"/>
              <a:buChar char="•"/>
            </a:pPr>
            <a:r>
              <a:rPr lang="en">
                <a:solidFill>
                  <a:schemeClr val="dk1"/>
                </a:solidFill>
              </a:rPr>
              <a:t>Loss of time – this can be caused by transactions taking a long time to process but can include staff not being able to work due to a fault or failure</a:t>
            </a:r>
            <a:endParaRPr>
              <a:solidFill>
                <a:schemeClr val="dk1"/>
              </a:solidFill>
            </a:endParaRPr>
          </a:p>
          <a:p>
            <a:pPr marL="342900" lvl="0" indent="-412750" algn="l" rtl="0">
              <a:lnSpc>
                <a:spcPct val="115000"/>
              </a:lnSpc>
              <a:spcBef>
                <a:spcPts val="0"/>
              </a:spcBef>
              <a:spcAft>
                <a:spcPts val="0"/>
              </a:spcAft>
              <a:buClr>
                <a:schemeClr val="dk1"/>
              </a:buClr>
              <a:buSzPts val="2900"/>
              <a:buChar char="•"/>
            </a:pPr>
            <a:r>
              <a:rPr lang="en">
                <a:solidFill>
                  <a:schemeClr val="dk1"/>
                </a:solidFill>
              </a:rPr>
              <a:t>Damage to business reputation – if an organization is unable to provide service to their customers due to software problems then the customers will lose confidence or faith in this organization (and probably take their business elsewhere)</a:t>
            </a:r>
            <a:endParaRPr>
              <a:solidFill>
                <a:schemeClr val="dk1"/>
              </a:solidFill>
            </a:endParaRPr>
          </a:p>
          <a:p>
            <a:pPr marL="342900" lvl="0" indent="-412750" algn="l" rtl="0">
              <a:lnSpc>
                <a:spcPct val="115000"/>
              </a:lnSpc>
              <a:spcBef>
                <a:spcPts val="0"/>
              </a:spcBef>
              <a:spcAft>
                <a:spcPts val="0"/>
              </a:spcAft>
              <a:buClr>
                <a:schemeClr val="dk1"/>
              </a:buClr>
              <a:buSzPts val="2900"/>
              <a:buChar char="•"/>
            </a:pPr>
            <a:r>
              <a:rPr lang="en">
                <a:solidFill>
                  <a:schemeClr val="dk1"/>
                </a:solidFill>
              </a:rPr>
              <a:t>Injury or death – It might sound dramatic but some safety-critical systems could result in injuries or deaths if they don’t work properly (e.g. flight traffic control software)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6b2700d40f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6b2700d40f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lvl="0" indent="-412750" algn="l" rtl="0">
              <a:lnSpc>
                <a:spcPct val="115000"/>
              </a:lnSpc>
              <a:spcBef>
                <a:spcPts val="1200"/>
              </a:spcBef>
              <a:spcAft>
                <a:spcPts val="0"/>
              </a:spcAft>
              <a:buClr>
                <a:schemeClr val="dk1"/>
              </a:buClr>
              <a:buSzPts val="2900"/>
              <a:buChar char="•"/>
            </a:pPr>
            <a:r>
              <a:rPr lang="en">
                <a:solidFill>
                  <a:schemeClr val="dk1"/>
                </a:solidFill>
              </a:rPr>
              <a:t>Loss of money – this can include losing customers right through to financial penalties for non-compliance to legal requirements</a:t>
            </a:r>
            <a:endParaRPr>
              <a:solidFill>
                <a:schemeClr val="dk1"/>
              </a:solidFill>
            </a:endParaRPr>
          </a:p>
          <a:p>
            <a:pPr marL="342900" lvl="0" indent="-412750" algn="l" rtl="0">
              <a:lnSpc>
                <a:spcPct val="115000"/>
              </a:lnSpc>
              <a:spcBef>
                <a:spcPts val="0"/>
              </a:spcBef>
              <a:spcAft>
                <a:spcPts val="0"/>
              </a:spcAft>
              <a:buClr>
                <a:schemeClr val="dk1"/>
              </a:buClr>
              <a:buSzPts val="2900"/>
              <a:buChar char="•"/>
            </a:pPr>
            <a:r>
              <a:rPr lang="en">
                <a:solidFill>
                  <a:schemeClr val="dk1"/>
                </a:solidFill>
              </a:rPr>
              <a:t>Loss of time – this can be caused by transactions taking a long time to process but can include staff not being able to work due to a fault or failure</a:t>
            </a:r>
            <a:endParaRPr>
              <a:solidFill>
                <a:schemeClr val="dk1"/>
              </a:solidFill>
            </a:endParaRPr>
          </a:p>
          <a:p>
            <a:pPr marL="342900" lvl="0" indent="-412750" algn="l" rtl="0">
              <a:lnSpc>
                <a:spcPct val="115000"/>
              </a:lnSpc>
              <a:spcBef>
                <a:spcPts val="0"/>
              </a:spcBef>
              <a:spcAft>
                <a:spcPts val="0"/>
              </a:spcAft>
              <a:buClr>
                <a:schemeClr val="dk1"/>
              </a:buClr>
              <a:buSzPts val="2900"/>
              <a:buChar char="•"/>
            </a:pPr>
            <a:r>
              <a:rPr lang="en">
                <a:solidFill>
                  <a:schemeClr val="dk1"/>
                </a:solidFill>
              </a:rPr>
              <a:t>Damage to business reputation – if an organization is unable to provide service to their customers due to software problems then the customers will lose confidence or faith in this organization (and probably take their business elsewhere)</a:t>
            </a:r>
            <a:endParaRPr>
              <a:solidFill>
                <a:schemeClr val="dk1"/>
              </a:solidFill>
            </a:endParaRPr>
          </a:p>
          <a:p>
            <a:pPr marL="342900" lvl="0" indent="-412750" algn="l" rtl="0">
              <a:lnSpc>
                <a:spcPct val="115000"/>
              </a:lnSpc>
              <a:spcBef>
                <a:spcPts val="0"/>
              </a:spcBef>
              <a:spcAft>
                <a:spcPts val="0"/>
              </a:spcAft>
              <a:buClr>
                <a:schemeClr val="dk1"/>
              </a:buClr>
              <a:buSzPts val="2900"/>
              <a:buChar char="•"/>
            </a:pPr>
            <a:r>
              <a:rPr lang="en">
                <a:solidFill>
                  <a:schemeClr val="dk1"/>
                </a:solidFill>
              </a:rPr>
              <a:t>Injury or death – It might sound dramatic but some safety-critical systems could result in injuries or deaths if they don’t work properly (e.g. flight traffic control software)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6b2700d40f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6b2700d40f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lvl="0" indent="-412750" algn="l" rtl="0">
              <a:lnSpc>
                <a:spcPct val="115000"/>
              </a:lnSpc>
              <a:spcBef>
                <a:spcPts val="1200"/>
              </a:spcBef>
              <a:spcAft>
                <a:spcPts val="0"/>
              </a:spcAft>
              <a:buClr>
                <a:schemeClr val="dk1"/>
              </a:buClr>
              <a:buSzPts val="2900"/>
              <a:buChar char="•"/>
            </a:pPr>
            <a:r>
              <a:rPr lang="en">
                <a:solidFill>
                  <a:schemeClr val="dk1"/>
                </a:solidFill>
              </a:rPr>
              <a:t>Loss of money – this can include losing customers right through to financial penalties for non-compliance to legal requirements</a:t>
            </a:r>
            <a:endParaRPr>
              <a:solidFill>
                <a:schemeClr val="dk1"/>
              </a:solidFill>
            </a:endParaRPr>
          </a:p>
          <a:p>
            <a:pPr marL="342900" lvl="0" indent="-412750" algn="l" rtl="0">
              <a:lnSpc>
                <a:spcPct val="115000"/>
              </a:lnSpc>
              <a:spcBef>
                <a:spcPts val="0"/>
              </a:spcBef>
              <a:spcAft>
                <a:spcPts val="0"/>
              </a:spcAft>
              <a:buClr>
                <a:schemeClr val="dk1"/>
              </a:buClr>
              <a:buSzPts val="2900"/>
              <a:buChar char="•"/>
            </a:pPr>
            <a:r>
              <a:rPr lang="en">
                <a:solidFill>
                  <a:schemeClr val="dk1"/>
                </a:solidFill>
              </a:rPr>
              <a:t>Loss of time – this can be caused by transactions taking a long time to process but can include staff not being able to work due to a fault or failure</a:t>
            </a:r>
            <a:endParaRPr>
              <a:solidFill>
                <a:schemeClr val="dk1"/>
              </a:solidFill>
            </a:endParaRPr>
          </a:p>
          <a:p>
            <a:pPr marL="342900" lvl="0" indent="-412750" algn="l" rtl="0">
              <a:lnSpc>
                <a:spcPct val="115000"/>
              </a:lnSpc>
              <a:spcBef>
                <a:spcPts val="0"/>
              </a:spcBef>
              <a:spcAft>
                <a:spcPts val="0"/>
              </a:spcAft>
              <a:buClr>
                <a:schemeClr val="dk1"/>
              </a:buClr>
              <a:buSzPts val="2900"/>
              <a:buChar char="•"/>
            </a:pPr>
            <a:r>
              <a:rPr lang="en">
                <a:solidFill>
                  <a:schemeClr val="dk1"/>
                </a:solidFill>
              </a:rPr>
              <a:t>Damage to business reputation – if an organization is unable to provide service to their customers due to software problems then the customers will lose confidence or faith in this organization (and probably take their business elsewhere)</a:t>
            </a:r>
            <a:endParaRPr>
              <a:solidFill>
                <a:schemeClr val="dk1"/>
              </a:solidFill>
            </a:endParaRPr>
          </a:p>
          <a:p>
            <a:pPr marL="342900" lvl="0" indent="-412750" algn="l" rtl="0">
              <a:lnSpc>
                <a:spcPct val="115000"/>
              </a:lnSpc>
              <a:spcBef>
                <a:spcPts val="0"/>
              </a:spcBef>
              <a:spcAft>
                <a:spcPts val="0"/>
              </a:spcAft>
              <a:buClr>
                <a:schemeClr val="dk1"/>
              </a:buClr>
              <a:buSzPts val="2900"/>
              <a:buChar char="•"/>
            </a:pPr>
            <a:r>
              <a:rPr lang="en">
                <a:solidFill>
                  <a:schemeClr val="dk1"/>
                </a:solidFill>
              </a:rPr>
              <a:t>Injury or death – It might sound dramatic but some safety-critical systems could result in injuries or deaths if they don’t work properly (e.g. flight traffic control software)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26a117d3ff3_0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26a117d3ff3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6a117d3ff3_0_3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6a117d3ff3_0_3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6a117d3ff3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26a117d3ff3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2"/>
        <p:cNvGrpSpPr/>
        <p:nvPr/>
      </p:nvGrpSpPr>
      <p:grpSpPr>
        <a:xfrm>
          <a:off x="0" y="0"/>
          <a:ext cx="0" cy="0"/>
          <a:chOff x="0" y="0"/>
          <a:chExt cx="0" cy="0"/>
        </a:xfrm>
      </p:grpSpPr>
      <p:sp>
        <p:nvSpPr>
          <p:cNvPr id="83" name="Google Shape;83;p13"/>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4" name="Google Shape;84;p13"/>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1200"/>
              </a:spcBef>
              <a:spcAft>
                <a:spcPts val="0"/>
              </a:spcAft>
              <a:buClr>
                <a:schemeClr val="dk1"/>
              </a:buClr>
              <a:buSzPts val="1800"/>
              <a:buChar char="○"/>
              <a:defRPr/>
            </a:lvl2pPr>
            <a:lvl3pPr marL="1371600" lvl="2" indent="-342900" algn="l" rtl="0">
              <a:spcBef>
                <a:spcPts val="1200"/>
              </a:spcBef>
              <a:spcAft>
                <a:spcPts val="0"/>
              </a:spcAft>
              <a:buClr>
                <a:schemeClr val="dk1"/>
              </a:buClr>
              <a:buSzPts val="1800"/>
              <a:buChar char="■"/>
              <a:defRPr/>
            </a:lvl3pPr>
            <a:lvl4pPr marL="1828800" lvl="3" indent="-342900" algn="l" rtl="0">
              <a:spcBef>
                <a:spcPts val="1200"/>
              </a:spcBef>
              <a:spcAft>
                <a:spcPts val="0"/>
              </a:spcAft>
              <a:buClr>
                <a:schemeClr val="dk1"/>
              </a:buClr>
              <a:buSzPts val="1800"/>
              <a:buChar char="●"/>
              <a:defRPr/>
            </a:lvl4pPr>
            <a:lvl5pPr marL="2286000" lvl="4" indent="-342900" algn="l" rtl="0">
              <a:spcBef>
                <a:spcPts val="1200"/>
              </a:spcBef>
              <a:spcAft>
                <a:spcPts val="0"/>
              </a:spcAft>
              <a:buClr>
                <a:schemeClr val="dk1"/>
              </a:buClr>
              <a:buSzPts val="1800"/>
              <a:buChar char="○"/>
              <a:defRPr/>
            </a:lvl5pPr>
            <a:lvl6pPr marL="2743200" lvl="5" indent="-342900" algn="l" rtl="0">
              <a:spcBef>
                <a:spcPts val="1200"/>
              </a:spcBef>
              <a:spcAft>
                <a:spcPts val="0"/>
              </a:spcAft>
              <a:buClr>
                <a:schemeClr val="dk1"/>
              </a:buClr>
              <a:buSzPts val="1800"/>
              <a:buChar char="■"/>
              <a:defRPr/>
            </a:lvl6pPr>
            <a:lvl7pPr marL="3200400" lvl="6" indent="-342900" algn="l" rtl="0">
              <a:spcBef>
                <a:spcPts val="1200"/>
              </a:spcBef>
              <a:spcAft>
                <a:spcPts val="0"/>
              </a:spcAft>
              <a:buClr>
                <a:schemeClr val="dk1"/>
              </a:buClr>
              <a:buSzPts val="1800"/>
              <a:buChar char="●"/>
              <a:defRPr/>
            </a:lvl7pPr>
            <a:lvl8pPr marL="3657600" lvl="7" indent="-342900" algn="l" rtl="0">
              <a:spcBef>
                <a:spcPts val="1200"/>
              </a:spcBef>
              <a:spcAft>
                <a:spcPts val="0"/>
              </a:spcAft>
              <a:buClr>
                <a:schemeClr val="dk1"/>
              </a:buClr>
              <a:buSzPts val="1800"/>
              <a:buChar char="○"/>
              <a:defRPr/>
            </a:lvl8pPr>
            <a:lvl9pPr marL="4114800" lvl="8" indent="-342900" algn="l" rtl="0">
              <a:spcBef>
                <a:spcPts val="1200"/>
              </a:spcBef>
              <a:spcAft>
                <a:spcPts val="1200"/>
              </a:spcAft>
              <a:buClr>
                <a:schemeClr val="dk1"/>
              </a:buClr>
              <a:buSzPts val="1800"/>
              <a:buChar char="■"/>
              <a:defRPr/>
            </a:lvl9pPr>
          </a:lstStyle>
          <a:p>
            <a:endParaRPr/>
          </a:p>
        </p:txBody>
      </p:sp>
      <p:sp>
        <p:nvSpPr>
          <p:cNvPr id="85" name="Google Shape;85;p13"/>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6" name="Google Shape;86;p13"/>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 name="Google Shape;87;p13"/>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Software Quality Assurance</a:t>
            </a:r>
            <a:endParaRPr/>
          </a:p>
          <a:p>
            <a:pPr marL="0" lvl="0" indent="0" algn="ctr" rtl="0">
              <a:spcBef>
                <a:spcPts val="0"/>
              </a:spcBef>
              <a:spcAft>
                <a:spcPts val="0"/>
              </a:spcAft>
              <a:buNone/>
            </a:pPr>
            <a:r>
              <a:rPr lang="en"/>
              <a:t>HNDIT-4022</a:t>
            </a:r>
            <a:endParaRPr/>
          </a:p>
        </p:txBody>
      </p:sp>
      <p:sp>
        <p:nvSpPr>
          <p:cNvPr id="93" name="Google Shape;93;p14"/>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100" b="1">
                <a:solidFill>
                  <a:srgbClr val="38761D"/>
                </a:solidFill>
              </a:rPr>
              <a:t>Static Verification Techniques</a:t>
            </a:r>
            <a:endParaRPr sz="2100" b="1">
              <a:solidFill>
                <a:srgbClr val="38761D"/>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40"/>
              <a:t>Software Verification Vs Validation</a:t>
            </a:r>
            <a:endParaRPr sz="2540"/>
          </a:p>
        </p:txBody>
      </p:sp>
      <p:sp>
        <p:nvSpPr>
          <p:cNvPr id="99" name="Google Shape;99;p15"/>
          <p:cNvSpPr txBox="1">
            <a:spLocks noGrp="1"/>
          </p:cNvSpPr>
          <p:nvPr>
            <p:ph type="body" idx="1"/>
          </p:nvPr>
        </p:nvSpPr>
        <p:spPr>
          <a:xfrm>
            <a:off x="729450" y="1240675"/>
            <a:ext cx="7688700" cy="39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b="1"/>
              <a:t>Verification is</a:t>
            </a:r>
            <a:endParaRPr sz="1800" b="1"/>
          </a:p>
          <a:p>
            <a:pPr marL="0" lvl="0" indent="0" algn="l" rtl="0">
              <a:spcBef>
                <a:spcPts val="1200"/>
              </a:spcBef>
              <a:spcAft>
                <a:spcPts val="0"/>
              </a:spcAft>
              <a:buNone/>
            </a:pPr>
            <a:r>
              <a:rPr lang="en" sz="1800"/>
              <a:t>Verification typically involves reviews and meetings to evaluate documents, plans, code, requirements, and specifications. This can be done with checklists, issues lists, walkthroughs, and inspection meetings. </a:t>
            </a:r>
            <a:endParaRPr sz="1800"/>
          </a:p>
          <a:p>
            <a:pPr marL="457200" lvl="0" indent="0" algn="l" rtl="0">
              <a:spcBef>
                <a:spcPts val="1200"/>
              </a:spcBef>
              <a:spcAft>
                <a:spcPts val="0"/>
              </a:spcAft>
              <a:buNone/>
            </a:pPr>
            <a:r>
              <a:rPr lang="en" sz="1800"/>
              <a:t>Two Types of Verification;</a:t>
            </a:r>
            <a:endParaRPr sz="1800"/>
          </a:p>
          <a:p>
            <a:pPr marL="914400" lvl="1" indent="-342900" algn="l" rtl="0">
              <a:spcBef>
                <a:spcPts val="1200"/>
              </a:spcBef>
              <a:spcAft>
                <a:spcPts val="0"/>
              </a:spcAft>
              <a:buSzPts val="1800"/>
              <a:buChar char="❏"/>
            </a:pPr>
            <a:r>
              <a:rPr lang="en" sz="1800"/>
              <a:t>Dynamic verification, also known as Test or Experimentation - This is good for finding bugs</a:t>
            </a:r>
            <a:endParaRPr sz="1800"/>
          </a:p>
          <a:p>
            <a:pPr marL="914400" lvl="1" indent="-342900" algn="l" rtl="0">
              <a:spcBef>
                <a:spcPts val="0"/>
              </a:spcBef>
              <a:spcAft>
                <a:spcPts val="0"/>
              </a:spcAft>
              <a:buSzPts val="1800"/>
              <a:buChar char="❏"/>
            </a:pPr>
            <a:r>
              <a:rPr lang="en" sz="1800"/>
              <a:t>Static verification, also known as Analysis - This is useful for proving correctness of a program although it may result in false positives</a:t>
            </a:r>
            <a:endParaRPr sz="1800"/>
          </a:p>
          <a:p>
            <a:pPr marL="457200" lvl="0" indent="0" algn="l" rtl="0">
              <a:spcBef>
                <a:spcPts val="1200"/>
              </a:spcBef>
              <a:spcAft>
                <a:spcPts val="1200"/>
              </a:spcAft>
              <a:buNone/>
            </a:pP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40"/>
              <a:t>Software Verification Vs Validation</a:t>
            </a:r>
            <a:endParaRPr sz="2540"/>
          </a:p>
        </p:txBody>
      </p:sp>
      <p:sp>
        <p:nvSpPr>
          <p:cNvPr id="105" name="Google Shape;105;p16"/>
          <p:cNvSpPr txBox="1">
            <a:spLocks noGrp="1"/>
          </p:cNvSpPr>
          <p:nvPr>
            <p:ph type="body" idx="1"/>
          </p:nvPr>
        </p:nvSpPr>
        <p:spPr>
          <a:xfrm>
            <a:off x="729450" y="1240675"/>
            <a:ext cx="7688700" cy="39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b="1"/>
              <a:t>Validation is</a:t>
            </a:r>
            <a:endParaRPr sz="1800" b="1"/>
          </a:p>
          <a:p>
            <a:pPr marL="457200" lvl="0" indent="-342900" algn="l" rtl="0">
              <a:spcBef>
                <a:spcPts val="1200"/>
              </a:spcBef>
              <a:spcAft>
                <a:spcPts val="0"/>
              </a:spcAft>
              <a:buSzPts val="1800"/>
              <a:buChar char="-"/>
            </a:pPr>
            <a:r>
              <a:rPr lang="en" sz="1800"/>
              <a:t>Validation typically involves actual testing and takes place after verifications are completed. </a:t>
            </a:r>
            <a:endParaRPr sz="1800"/>
          </a:p>
          <a:p>
            <a:pPr marL="457200" lvl="0" indent="0" algn="l" rtl="0">
              <a:spcBef>
                <a:spcPts val="1200"/>
              </a:spcBef>
              <a:spcAft>
                <a:spcPts val="1200"/>
              </a:spcAft>
              <a:buNone/>
            </a:pP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40"/>
              <a:t>Software Verification Vs Validation…</a:t>
            </a:r>
            <a:endParaRPr sz="2540"/>
          </a:p>
        </p:txBody>
      </p:sp>
      <p:sp>
        <p:nvSpPr>
          <p:cNvPr id="111" name="Google Shape;111;p17"/>
          <p:cNvSpPr txBox="1">
            <a:spLocks noGrp="1"/>
          </p:cNvSpPr>
          <p:nvPr>
            <p:ph type="body" idx="1"/>
          </p:nvPr>
        </p:nvSpPr>
        <p:spPr>
          <a:xfrm>
            <a:off x="729450" y="1240675"/>
            <a:ext cx="7688700" cy="39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800"/>
          </a:p>
          <a:p>
            <a:pPr marL="457200" lvl="0" indent="-342900" algn="l" rtl="0">
              <a:spcBef>
                <a:spcPts val="1200"/>
              </a:spcBef>
              <a:spcAft>
                <a:spcPts val="0"/>
              </a:spcAft>
              <a:buSzPts val="1800"/>
              <a:buChar char="-"/>
            </a:pPr>
            <a:r>
              <a:rPr lang="en" sz="1800"/>
              <a:t>Software verification asks the question, "Are we building the product right?"; that is, does the software conform to its specification.</a:t>
            </a:r>
            <a:endParaRPr sz="1800"/>
          </a:p>
          <a:p>
            <a:pPr marL="457200" lvl="0" indent="0" algn="l" rtl="0">
              <a:spcBef>
                <a:spcPts val="1200"/>
              </a:spcBef>
              <a:spcAft>
                <a:spcPts val="0"/>
              </a:spcAft>
              <a:buNone/>
            </a:pPr>
            <a:endParaRPr sz="1800"/>
          </a:p>
          <a:p>
            <a:pPr marL="457200" lvl="0" indent="-342900" algn="l" rtl="0">
              <a:spcBef>
                <a:spcPts val="1200"/>
              </a:spcBef>
              <a:spcAft>
                <a:spcPts val="0"/>
              </a:spcAft>
              <a:buSzPts val="1800"/>
              <a:buChar char="-"/>
            </a:pPr>
            <a:r>
              <a:rPr lang="en" sz="1800"/>
              <a:t>Software validation asks the question, "Are we building the right product?"; that is, is the software doing what the user really requires.</a:t>
            </a:r>
            <a:endParaRPr sz="1800"/>
          </a:p>
          <a:p>
            <a:pPr marL="457200" lvl="0" indent="0" algn="l" rtl="0">
              <a:spcBef>
                <a:spcPts val="1200"/>
              </a:spcBef>
              <a:spcAft>
                <a:spcPts val="0"/>
              </a:spcAft>
              <a:buNone/>
            </a:pPr>
            <a:endParaRPr sz="1800"/>
          </a:p>
          <a:p>
            <a:pPr marL="457200" lvl="0" indent="0" algn="l" rtl="0">
              <a:spcBef>
                <a:spcPts val="1200"/>
              </a:spcBef>
              <a:spcAft>
                <a:spcPts val="1200"/>
              </a:spcAft>
              <a:buNone/>
            </a:pP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40"/>
              <a:t>Software Verification Vs Validation…</a:t>
            </a:r>
            <a:endParaRPr sz="2540"/>
          </a:p>
        </p:txBody>
      </p:sp>
      <p:pic>
        <p:nvPicPr>
          <p:cNvPr id="117" name="Google Shape;117;p18"/>
          <p:cNvPicPr preferRelativeResize="0"/>
          <p:nvPr/>
        </p:nvPicPr>
        <p:blipFill>
          <a:blip r:embed="rId3">
            <a:alphaModFix/>
          </a:blip>
          <a:stretch>
            <a:fillRect/>
          </a:stretch>
        </p:blipFill>
        <p:spPr>
          <a:xfrm>
            <a:off x="838200" y="1320450"/>
            <a:ext cx="7097255" cy="36706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40"/>
              <a:t>What is Static Testing?</a:t>
            </a:r>
            <a:endParaRPr sz="2540"/>
          </a:p>
        </p:txBody>
      </p:sp>
      <p:sp>
        <p:nvSpPr>
          <p:cNvPr id="123" name="Google Shape;123;p19"/>
          <p:cNvSpPr txBox="1">
            <a:spLocks noGrp="1"/>
          </p:cNvSpPr>
          <p:nvPr>
            <p:ph type="body" idx="1"/>
          </p:nvPr>
        </p:nvSpPr>
        <p:spPr>
          <a:xfrm>
            <a:off x="729450" y="1240675"/>
            <a:ext cx="7688700" cy="9309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a:t>Static Testing is a software testing technique that involves reviewing and analyzing:- software documentation – design, or code without executing the software. It is a way of checking for errors and defects in the software by examining it in a “static” state rather than actively running it.</a:t>
            </a:r>
            <a:endParaRPr sz="1800"/>
          </a:p>
          <a:p>
            <a:pPr marL="457200" lvl="0" indent="-342900" algn="l" rtl="0">
              <a:spcBef>
                <a:spcPts val="0"/>
              </a:spcBef>
              <a:spcAft>
                <a:spcPts val="0"/>
              </a:spcAft>
              <a:buSzPts val="1800"/>
              <a:buChar char="-"/>
            </a:pPr>
            <a:r>
              <a:rPr lang="en" sz="1800"/>
              <a:t>Static Testing aims to identify issues early in software development when they are easier and less costly to fix. </a:t>
            </a:r>
            <a:endParaRPr sz="1800"/>
          </a:p>
          <a:p>
            <a:pPr marL="457200" lvl="0" indent="-342900" algn="l" rtl="0">
              <a:spcBef>
                <a:spcPts val="0"/>
              </a:spcBef>
              <a:spcAft>
                <a:spcPts val="0"/>
              </a:spcAft>
              <a:buSzPts val="1800"/>
              <a:buChar char="-"/>
            </a:pPr>
            <a:r>
              <a:rPr lang="en" sz="1800"/>
              <a:t>By catching defects early, Static Testing can help improve the software’s overall quality and reliability. </a:t>
            </a:r>
            <a:endParaRPr sz="1800"/>
          </a:p>
          <a:p>
            <a:pPr marL="457200" lvl="0" indent="-342900" algn="l" rtl="0">
              <a:spcBef>
                <a:spcPts val="0"/>
              </a:spcBef>
              <a:spcAft>
                <a:spcPts val="0"/>
              </a:spcAft>
              <a:buSzPts val="1800"/>
              <a:buChar char="-"/>
            </a:pPr>
            <a:r>
              <a:rPr lang="en" sz="1800"/>
              <a:t>Also, it enhances maintainability and ultimately saves time and money in the long run.</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0"/>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40"/>
              <a:t>What is Static Testing?...</a:t>
            </a:r>
            <a:endParaRPr sz="2540"/>
          </a:p>
        </p:txBody>
      </p:sp>
      <p:sp>
        <p:nvSpPr>
          <p:cNvPr id="129" name="Google Shape;129;p20"/>
          <p:cNvSpPr txBox="1">
            <a:spLocks noGrp="1"/>
          </p:cNvSpPr>
          <p:nvPr>
            <p:ph type="body" idx="1"/>
          </p:nvPr>
        </p:nvSpPr>
        <p:spPr>
          <a:xfrm>
            <a:off x="729450" y="1240675"/>
            <a:ext cx="7688700" cy="39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There are two basic types of static testing. </a:t>
            </a:r>
            <a:endParaRPr sz="1800"/>
          </a:p>
          <a:p>
            <a:pPr marL="0" lvl="0" indent="0" algn="l" rtl="0">
              <a:spcBef>
                <a:spcPts val="1200"/>
              </a:spcBef>
              <a:spcAft>
                <a:spcPts val="0"/>
              </a:spcAft>
              <a:buNone/>
            </a:pPr>
            <a:r>
              <a:rPr lang="en" sz="1800"/>
              <a:t>1.	People-based - People-based techniques are generally known as “reviews"	There are different ways in which reviews can be performed.</a:t>
            </a:r>
            <a:endParaRPr sz="1800"/>
          </a:p>
          <a:p>
            <a:pPr marL="0" lvl="0" indent="0" algn="l" rtl="0">
              <a:spcBef>
                <a:spcPts val="1200"/>
              </a:spcBef>
              <a:spcAft>
                <a:spcPts val="1200"/>
              </a:spcAft>
              <a:buNone/>
            </a:pPr>
            <a:r>
              <a:rPr lang="en" sz="1800"/>
              <a:t>2.	Tool-based -The tool-based techniques examine source code and are known as "static analysis"</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40"/>
              <a:t>Why Static Testing?</a:t>
            </a:r>
            <a:endParaRPr sz="2540"/>
          </a:p>
        </p:txBody>
      </p:sp>
      <p:sp>
        <p:nvSpPr>
          <p:cNvPr id="135" name="Google Shape;135;p21"/>
          <p:cNvSpPr txBox="1">
            <a:spLocks noGrp="1"/>
          </p:cNvSpPr>
          <p:nvPr>
            <p:ph type="body" idx="1"/>
          </p:nvPr>
        </p:nvSpPr>
        <p:spPr>
          <a:xfrm>
            <a:off x="729450" y="1240675"/>
            <a:ext cx="7688700" cy="37152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sz="1800"/>
              <a:t>Static Testing is a valuable technique because it helps detect errors and defects in software before it is tested. </a:t>
            </a:r>
            <a:endParaRPr sz="1800"/>
          </a:p>
          <a:p>
            <a:pPr marL="457200" lvl="0" indent="-342900" algn="l" rtl="0">
              <a:spcBef>
                <a:spcPts val="0"/>
              </a:spcBef>
              <a:spcAft>
                <a:spcPts val="0"/>
              </a:spcAft>
              <a:buSzPts val="1800"/>
              <a:buChar char="-"/>
            </a:pPr>
            <a:r>
              <a:rPr lang="en" sz="1800"/>
              <a:t>For example, You review software requirements as part of Static Testing. You may identify potential conflicts that could be difficult to address later in the development cycle. Similarly, if you review code during Static Testing, you may spot issues like</a:t>
            </a:r>
            <a:endParaRPr sz="1800"/>
          </a:p>
          <a:p>
            <a:pPr marL="457200" lvl="0" indent="0" algn="l" rtl="0">
              <a:spcBef>
                <a:spcPts val="1200"/>
              </a:spcBef>
              <a:spcAft>
                <a:spcPts val="0"/>
              </a:spcAft>
              <a:buNone/>
            </a:pPr>
            <a:r>
              <a:rPr lang="en" sz="1800"/>
              <a:t>coding errors,</a:t>
            </a:r>
            <a:endParaRPr sz="1800"/>
          </a:p>
          <a:p>
            <a:pPr marL="457200" lvl="0" indent="0" algn="l" rtl="0">
              <a:spcBef>
                <a:spcPts val="1200"/>
              </a:spcBef>
              <a:spcAft>
                <a:spcPts val="1200"/>
              </a:spcAft>
              <a:buNone/>
            </a:pPr>
            <a:r>
              <a:rPr lang="en" sz="1800"/>
              <a:t>inconsistent naming conventions</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40"/>
              <a:t>When to Perform Static Testing?</a:t>
            </a:r>
            <a:endParaRPr sz="2540"/>
          </a:p>
        </p:txBody>
      </p:sp>
      <p:sp>
        <p:nvSpPr>
          <p:cNvPr id="141" name="Google Shape;141;p22"/>
          <p:cNvSpPr txBox="1">
            <a:spLocks noGrp="1"/>
          </p:cNvSpPr>
          <p:nvPr>
            <p:ph type="body" idx="1"/>
          </p:nvPr>
        </p:nvSpPr>
        <p:spPr>
          <a:xfrm>
            <a:off x="729450" y="1240675"/>
            <a:ext cx="7688700" cy="3762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sz="1800"/>
              <a:t>Static testing is recommended to be done during the design, documentation, and development phases before dynamic testing commences.</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40"/>
              <a:t>Objectives of Static Testing</a:t>
            </a:r>
            <a:endParaRPr sz="2540"/>
          </a:p>
        </p:txBody>
      </p:sp>
      <p:sp>
        <p:nvSpPr>
          <p:cNvPr id="147" name="Google Shape;147;p23"/>
          <p:cNvSpPr txBox="1">
            <a:spLocks noGrp="1"/>
          </p:cNvSpPr>
          <p:nvPr>
            <p:ph type="body" idx="1"/>
          </p:nvPr>
        </p:nvSpPr>
        <p:spPr>
          <a:xfrm>
            <a:off x="729450" y="1240675"/>
            <a:ext cx="7688700" cy="3840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sz="1800"/>
              <a:t>Ensure all programming conventions, standards, and guidelines are followed.</a:t>
            </a:r>
            <a:endParaRPr sz="1800"/>
          </a:p>
          <a:p>
            <a:pPr marL="457200" lvl="0" indent="-342900" algn="l" rtl="0">
              <a:spcBef>
                <a:spcPts val="0"/>
              </a:spcBef>
              <a:spcAft>
                <a:spcPts val="0"/>
              </a:spcAft>
              <a:buSzPts val="1800"/>
              <a:buChar char="-"/>
            </a:pPr>
            <a:r>
              <a:rPr lang="en" sz="1800"/>
              <a:t>Verify that the source code is complete and can be compiled &amp; built.</a:t>
            </a:r>
            <a:endParaRPr sz="1800"/>
          </a:p>
          <a:p>
            <a:pPr marL="457200" lvl="0" indent="-342900" algn="l" rtl="0">
              <a:spcBef>
                <a:spcPts val="0"/>
              </a:spcBef>
              <a:spcAft>
                <a:spcPts val="0"/>
              </a:spcAft>
              <a:buSzPts val="1800"/>
              <a:buChar char="-"/>
            </a:pPr>
            <a:r>
              <a:rPr lang="en" sz="1800"/>
              <a:t>Ensure that all design and implementation specifications are met.</a:t>
            </a:r>
            <a:endParaRPr sz="1800"/>
          </a:p>
          <a:p>
            <a:pPr marL="457200" lvl="0" indent="-342900" algn="l" rtl="0">
              <a:spcBef>
                <a:spcPts val="0"/>
              </a:spcBef>
              <a:spcAft>
                <a:spcPts val="0"/>
              </a:spcAft>
              <a:buSzPts val="1800"/>
              <a:buChar char="-"/>
            </a:pPr>
            <a:r>
              <a:rPr lang="en" sz="1800"/>
              <a:t>Identify areas of the software that may have logical, structural, formatting, or syntactic errors.</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40"/>
              <a:t>What is Subject to Static Testing?</a:t>
            </a:r>
            <a:endParaRPr sz="2540"/>
          </a:p>
        </p:txBody>
      </p:sp>
      <p:sp>
        <p:nvSpPr>
          <p:cNvPr id="153" name="Google Shape;153;p24"/>
          <p:cNvSpPr txBox="1">
            <a:spLocks noGrp="1"/>
          </p:cNvSpPr>
          <p:nvPr>
            <p:ph type="body" idx="1"/>
          </p:nvPr>
        </p:nvSpPr>
        <p:spPr>
          <a:xfrm>
            <a:off x="729450" y="1240675"/>
            <a:ext cx="7688700" cy="3840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a:t>Here are some major features that are subject to static testing,</a:t>
            </a:r>
            <a:endParaRPr sz="1800"/>
          </a:p>
          <a:p>
            <a:pPr marL="457200" lvl="0" indent="-342900" algn="l" rtl="0">
              <a:spcBef>
                <a:spcPts val="1200"/>
              </a:spcBef>
              <a:spcAft>
                <a:spcPts val="0"/>
              </a:spcAft>
              <a:buSzPts val="1800"/>
              <a:buChar char="-"/>
            </a:pPr>
            <a:r>
              <a:rPr lang="en" sz="1800"/>
              <a:t>Requirements &amp; Specifications Review</a:t>
            </a:r>
            <a:endParaRPr sz="1800"/>
          </a:p>
          <a:p>
            <a:pPr marL="457200" lvl="0" indent="-342900" algn="l" rtl="0">
              <a:spcBef>
                <a:spcPts val="0"/>
              </a:spcBef>
              <a:spcAft>
                <a:spcPts val="0"/>
              </a:spcAft>
              <a:buSzPts val="1800"/>
              <a:buChar char="-"/>
            </a:pPr>
            <a:r>
              <a:rPr lang="en" sz="1800"/>
              <a:t>Structural Design Analysis</a:t>
            </a:r>
            <a:endParaRPr sz="1800"/>
          </a:p>
          <a:p>
            <a:pPr marL="457200" lvl="0" indent="-342900" algn="l" rtl="0">
              <a:spcBef>
                <a:spcPts val="0"/>
              </a:spcBef>
              <a:spcAft>
                <a:spcPts val="0"/>
              </a:spcAft>
              <a:buSzPts val="1800"/>
              <a:buChar char="-"/>
            </a:pPr>
            <a:r>
              <a:rPr lang="en" sz="1800"/>
              <a:t>Code Review</a:t>
            </a:r>
            <a:endParaRPr sz="1800"/>
          </a:p>
          <a:p>
            <a:pPr marL="457200" lvl="0" indent="-342900" algn="l" rtl="0">
              <a:spcBef>
                <a:spcPts val="0"/>
              </a:spcBef>
              <a:spcAft>
                <a:spcPts val="0"/>
              </a:spcAft>
              <a:buSzPts val="1800"/>
              <a:buChar char="-"/>
            </a:pPr>
            <a:r>
              <a:rPr lang="en" sz="1800"/>
              <a:t>Database Analysis</a:t>
            </a:r>
            <a:endParaRPr sz="1800"/>
          </a:p>
          <a:p>
            <a:pPr marL="457200" lvl="0" indent="-342900" algn="l" rtl="0">
              <a:spcBef>
                <a:spcPts val="0"/>
              </a:spcBef>
              <a:spcAft>
                <a:spcPts val="0"/>
              </a:spcAft>
              <a:buSzPts val="1800"/>
              <a:buChar char="-"/>
            </a:pPr>
            <a:r>
              <a:rPr lang="en" sz="1800"/>
              <a:t>Documentation Review</a:t>
            </a:r>
            <a:endParaRPr sz="1800"/>
          </a:p>
          <a:p>
            <a:pPr marL="457200" lvl="0" indent="-342900" algn="l" rtl="0">
              <a:spcBef>
                <a:spcPts val="0"/>
              </a:spcBef>
              <a:spcAft>
                <a:spcPts val="0"/>
              </a:spcAft>
              <a:buSzPts val="1800"/>
              <a:buChar char="-"/>
            </a:pPr>
            <a:r>
              <a:rPr lang="en" sz="1800"/>
              <a:t>User Manual Review</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5"/>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40"/>
              <a:t>Static Testing Techniques</a:t>
            </a:r>
            <a:endParaRPr sz="2540"/>
          </a:p>
        </p:txBody>
      </p:sp>
      <p:sp>
        <p:nvSpPr>
          <p:cNvPr id="159" name="Google Shape;159;p25"/>
          <p:cNvSpPr txBox="1">
            <a:spLocks noGrp="1"/>
          </p:cNvSpPr>
          <p:nvPr>
            <p:ph type="body" idx="1"/>
          </p:nvPr>
        </p:nvSpPr>
        <p:spPr>
          <a:xfrm>
            <a:off x="729450" y="1240675"/>
            <a:ext cx="7688700" cy="3360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a:t>Static Testing is a necessary software testing technique comprising two approaches;</a:t>
            </a:r>
            <a:endParaRPr sz="1800"/>
          </a:p>
          <a:p>
            <a:pPr marL="457200" lvl="0" indent="-342900" algn="l" rtl="0">
              <a:spcBef>
                <a:spcPts val="1200"/>
              </a:spcBef>
              <a:spcAft>
                <a:spcPts val="0"/>
              </a:spcAft>
              <a:buSzPts val="1800"/>
              <a:buChar char="❏"/>
            </a:pPr>
            <a:r>
              <a:rPr lang="en" sz="1800"/>
              <a:t>Review</a:t>
            </a:r>
            <a:endParaRPr sz="1800"/>
          </a:p>
          <a:p>
            <a:pPr marL="457200" lvl="0" indent="-342900" algn="l" rtl="0">
              <a:spcBef>
                <a:spcPts val="0"/>
              </a:spcBef>
              <a:spcAft>
                <a:spcPts val="0"/>
              </a:spcAft>
              <a:buSzPts val="1800"/>
              <a:buChar char="❏"/>
            </a:pPr>
            <a:r>
              <a:rPr lang="en" sz="1800"/>
              <a:t>Static Analysis </a:t>
            </a:r>
            <a:endParaRPr sz="1800"/>
          </a:p>
          <a:p>
            <a:pPr marL="0" lvl="0" indent="0" algn="l" rtl="0">
              <a:spcBef>
                <a:spcPts val="1200"/>
              </a:spcBef>
              <a:spcAft>
                <a:spcPts val="1200"/>
              </a:spcAft>
              <a:buNone/>
            </a:pPr>
            <a:endParaRPr sz="1800"/>
          </a:p>
        </p:txBody>
      </p:sp>
      <p:pic>
        <p:nvPicPr>
          <p:cNvPr id="160" name="Google Shape;160;p25"/>
          <p:cNvPicPr preferRelativeResize="0"/>
          <p:nvPr/>
        </p:nvPicPr>
        <p:blipFill>
          <a:blip r:embed="rId3">
            <a:alphaModFix/>
          </a:blip>
          <a:stretch>
            <a:fillRect/>
          </a:stretch>
        </p:blipFill>
        <p:spPr>
          <a:xfrm>
            <a:off x="3142700" y="1725825"/>
            <a:ext cx="4929750" cy="2917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6"/>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40"/>
              <a:t>Static Testing Techniques…</a:t>
            </a:r>
            <a:endParaRPr sz="2540"/>
          </a:p>
        </p:txBody>
      </p:sp>
      <p:sp>
        <p:nvSpPr>
          <p:cNvPr id="166" name="Google Shape;166;p26"/>
          <p:cNvSpPr txBox="1">
            <a:spLocks noGrp="1"/>
          </p:cNvSpPr>
          <p:nvPr>
            <p:ph type="body" idx="1"/>
          </p:nvPr>
        </p:nvSpPr>
        <p:spPr>
          <a:xfrm>
            <a:off x="729450" y="1240675"/>
            <a:ext cx="7688700" cy="3902700"/>
          </a:xfrm>
          <a:prstGeom prst="rect">
            <a:avLst/>
          </a:prstGeom>
        </p:spPr>
        <p:txBody>
          <a:bodyPr spcFirstLastPara="1" wrap="square" lIns="91425" tIns="91425" rIns="91425" bIns="91425" anchor="t" anchorCtr="0">
            <a:normAutofit fontScale="92500" lnSpcReduction="20000"/>
          </a:bodyPr>
          <a:lstStyle/>
          <a:p>
            <a:pPr marL="457200" lvl="0" indent="-342900" algn="l" rtl="0">
              <a:spcBef>
                <a:spcPts val="0"/>
              </a:spcBef>
              <a:spcAft>
                <a:spcPts val="0"/>
              </a:spcAft>
              <a:buSzPts val="1800"/>
              <a:buChar char="❏"/>
            </a:pPr>
            <a:r>
              <a:rPr lang="en" sz="1800" dirty="0"/>
              <a:t>Review</a:t>
            </a:r>
            <a:endParaRPr sz="1800" dirty="0"/>
          </a:p>
          <a:p>
            <a:pPr marL="457200" lvl="0" indent="0" algn="l" rtl="0">
              <a:spcBef>
                <a:spcPts val="1200"/>
              </a:spcBef>
              <a:spcAft>
                <a:spcPts val="0"/>
              </a:spcAft>
              <a:buNone/>
            </a:pPr>
            <a:r>
              <a:rPr lang="en" sz="1800" dirty="0"/>
              <a:t>Reviews are a necessary feature of Static Testing. It enables testers to identify defects and issues in documentation, such as requirements and design. The importance of reviews lies in detecting the sources of failure at the earliest stage.</a:t>
            </a:r>
            <a:endParaRPr sz="1800" dirty="0"/>
          </a:p>
          <a:p>
            <a:pPr marL="457200" lvl="0" indent="-342900" algn="l" rtl="0">
              <a:spcBef>
                <a:spcPts val="1200"/>
              </a:spcBef>
              <a:spcAft>
                <a:spcPts val="0"/>
              </a:spcAft>
              <a:buSzPts val="1800"/>
              <a:buChar char="❏"/>
            </a:pPr>
            <a:r>
              <a:rPr lang="en" sz="1800" dirty="0"/>
              <a:t>Static Analysis </a:t>
            </a:r>
            <a:endParaRPr sz="1800" dirty="0"/>
          </a:p>
          <a:p>
            <a:pPr indent="0">
              <a:spcBef>
                <a:spcPts val="1200"/>
              </a:spcBef>
              <a:buNone/>
            </a:pPr>
            <a:r>
              <a:rPr lang="en-US" sz="1800"/>
              <a:t>Static </a:t>
            </a:r>
            <a:r>
              <a:rPr lang="en-US" sz="1800" smtClean="0"/>
              <a:t>Analysis </a:t>
            </a:r>
            <a:r>
              <a:rPr lang="en-US" sz="1800" dirty="0"/>
              <a:t>refers to the process of analyzing computer software without executing it. </a:t>
            </a:r>
            <a:r>
              <a:rPr lang="en-US" sz="1800" dirty="0"/>
              <a:t>This is typically done by examining the source code, bytecode, or other program representations. The purpose of static analysis is to identify potential issues, vulnerabilities, or bugs early in the software development lifecycle</a:t>
            </a:r>
            <a:r>
              <a:rPr lang="en-US" dirty="0"/>
              <a:t>.</a:t>
            </a:r>
          </a:p>
          <a:p>
            <a:pPr marL="457200" lvl="0" indent="0" algn="l" rtl="0">
              <a:spcBef>
                <a:spcPts val="1200"/>
              </a:spcBef>
              <a:spcAft>
                <a:spcPts val="0"/>
              </a:spcAft>
              <a:buNone/>
            </a:pPr>
            <a:r>
              <a:rPr lang="en" sz="1800" dirty="0" smtClean="0"/>
              <a:t>.</a:t>
            </a:r>
            <a:endParaRPr sz="1800" dirty="0"/>
          </a:p>
          <a:p>
            <a:pPr marL="0" lvl="0" indent="0" algn="l" rtl="0">
              <a:spcBef>
                <a:spcPts val="1200"/>
              </a:spcBef>
              <a:spcAft>
                <a:spcPts val="1200"/>
              </a:spcAft>
              <a:buNone/>
            </a:pPr>
            <a:endParaRPr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7"/>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Benefits of Static Testing</a:t>
            </a:r>
            <a:endParaRPr/>
          </a:p>
        </p:txBody>
      </p:sp>
      <p:sp>
        <p:nvSpPr>
          <p:cNvPr id="172" name="Google Shape;172;p27"/>
          <p:cNvSpPr txBox="1">
            <a:spLocks noGrp="1"/>
          </p:cNvSpPr>
          <p:nvPr>
            <p:ph type="body" idx="1"/>
          </p:nvPr>
        </p:nvSpPr>
        <p:spPr>
          <a:xfrm>
            <a:off x="729450" y="1240675"/>
            <a:ext cx="7688700" cy="39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a:solidFill>
                  <a:srgbClr val="4B4F58"/>
                </a:solidFill>
                <a:highlight>
                  <a:srgbClr val="FFFFFF"/>
                </a:highlight>
              </a:rPr>
              <a:t>Static Testing provides several benefits to software development projects.</a:t>
            </a:r>
            <a:endParaRPr sz="1800">
              <a:solidFill>
                <a:srgbClr val="4B4F58"/>
              </a:solidFill>
              <a:highlight>
                <a:srgbClr val="FFFFFF"/>
              </a:highlight>
            </a:endParaRPr>
          </a:p>
          <a:p>
            <a:pPr marL="457200" lvl="0" indent="-342900" algn="l" rtl="0">
              <a:spcBef>
                <a:spcPts val="1200"/>
              </a:spcBef>
              <a:spcAft>
                <a:spcPts val="0"/>
              </a:spcAft>
              <a:buClr>
                <a:srgbClr val="4B4F58"/>
              </a:buClr>
              <a:buSzPts val="1800"/>
              <a:buChar char="❏"/>
            </a:pPr>
            <a:r>
              <a:rPr lang="en" sz="1800">
                <a:solidFill>
                  <a:srgbClr val="4B4F58"/>
                </a:solidFill>
                <a:highlight>
                  <a:srgbClr val="FFFFFF"/>
                </a:highlight>
              </a:rPr>
              <a:t>Early defect detection</a:t>
            </a:r>
            <a:endParaRPr sz="1800">
              <a:solidFill>
                <a:srgbClr val="4B4F58"/>
              </a:solidFill>
              <a:highlight>
                <a:srgbClr val="FFFFFF"/>
              </a:highlight>
            </a:endParaRPr>
          </a:p>
          <a:p>
            <a:pPr marL="457200" lvl="0" indent="-342900" algn="l" rtl="0">
              <a:spcBef>
                <a:spcPts val="0"/>
              </a:spcBef>
              <a:spcAft>
                <a:spcPts val="0"/>
              </a:spcAft>
              <a:buClr>
                <a:srgbClr val="4B4F58"/>
              </a:buClr>
              <a:buSzPts val="1800"/>
              <a:buChar char="❏"/>
            </a:pPr>
            <a:r>
              <a:rPr lang="en" sz="1800">
                <a:solidFill>
                  <a:srgbClr val="4B4F58"/>
                </a:solidFill>
                <a:highlight>
                  <a:srgbClr val="FFFFFF"/>
                </a:highlight>
              </a:rPr>
              <a:t>Improved code quality</a:t>
            </a:r>
            <a:endParaRPr sz="1800">
              <a:solidFill>
                <a:srgbClr val="4B4F58"/>
              </a:solidFill>
              <a:highlight>
                <a:srgbClr val="FFFFFF"/>
              </a:highlight>
            </a:endParaRPr>
          </a:p>
          <a:p>
            <a:pPr marL="457200" lvl="0" indent="-342900" algn="l" rtl="0">
              <a:spcBef>
                <a:spcPts val="0"/>
              </a:spcBef>
              <a:spcAft>
                <a:spcPts val="0"/>
              </a:spcAft>
              <a:buClr>
                <a:srgbClr val="4B4F58"/>
              </a:buClr>
              <a:buSzPts val="1800"/>
              <a:buChar char="❏"/>
            </a:pPr>
            <a:r>
              <a:rPr lang="en" sz="1800">
                <a:solidFill>
                  <a:srgbClr val="4B4F58"/>
                </a:solidFill>
                <a:highlight>
                  <a:srgbClr val="FFFFFF"/>
                </a:highlight>
              </a:rPr>
              <a:t>Reduced costs and time</a:t>
            </a:r>
            <a:endParaRPr sz="1800">
              <a:solidFill>
                <a:srgbClr val="4B4F58"/>
              </a:solidFill>
              <a:highlight>
                <a:srgbClr val="FFFFFF"/>
              </a:highlight>
            </a:endParaRPr>
          </a:p>
          <a:p>
            <a:pPr marL="457200" lvl="0" indent="-342900" algn="l" rtl="0">
              <a:spcBef>
                <a:spcPts val="0"/>
              </a:spcBef>
              <a:spcAft>
                <a:spcPts val="0"/>
              </a:spcAft>
              <a:buClr>
                <a:srgbClr val="4B4F58"/>
              </a:buClr>
              <a:buSzPts val="1800"/>
              <a:buChar char="❏"/>
            </a:pPr>
            <a:r>
              <a:rPr lang="en" sz="1800">
                <a:solidFill>
                  <a:srgbClr val="4B4F58"/>
                </a:solidFill>
                <a:highlight>
                  <a:srgbClr val="FFFFFF"/>
                </a:highlight>
              </a:rPr>
              <a:t>Prevention of common issues</a:t>
            </a:r>
            <a:endParaRPr sz="1800">
              <a:solidFill>
                <a:srgbClr val="4B4F58"/>
              </a:solidFill>
              <a:highlight>
                <a:srgbClr val="FFFFFF"/>
              </a:highlight>
            </a:endParaRPr>
          </a:p>
          <a:p>
            <a:pPr marL="457200" lvl="0" indent="-342900" algn="l" rtl="0">
              <a:spcBef>
                <a:spcPts val="0"/>
              </a:spcBef>
              <a:spcAft>
                <a:spcPts val="0"/>
              </a:spcAft>
              <a:buClr>
                <a:srgbClr val="4B4F58"/>
              </a:buClr>
              <a:buSzPts val="1800"/>
              <a:buChar char="❏"/>
            </a:pPr>
            <a:r>
              <a:rPr lang="en" sz="1800">
                <a:solidFill>
                  <a:srgbClr val="4B4F58"/>
                </a:solidFill>
                <a:highlight>
                  <a:srgbClr val="FFFFFF"/>
                </a:highlight>
              </a:rPr>
              <a:t>Improved collaboration</a:t>
            </a:r>
            <a:endParaRPr sz="1800" b="1">
              <a:solidFill>
                <a:srgbClr val="4B4F58"/>
              </a:solidFill>
              <a:highlight>
                <a:srgbClr val="FFFFFF"/>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8"/>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Type of Static Testing</a:t>
            </a:r>
            <a:endParaRPr/>
          </a:p>
        </p:txBody>
      </p:sp>
      <p:sp>
        <p:nvSpPr>
          <p:cNvPr id="178" name="Google Shape;178;p28"/>
          <p:cNvSpPr txBox="1">
            <a:spLocks noGrp="1"/>
          </p:cNvSpPr>
          <p:nvPr>
            <p:ph type="body" idx="1"/>
          </p:nvPr>
        </p:nvSpPr>
        <p:spPr>
          <a:xfrm>
            <a:off x="729450" y="1240675"/>
            <a:ext cx="7688700" cy="2840400"/>
          </a:xfrm>
          <a:prstGeom prst="rect">
            <a:avLst/>
          </a:prstGeom>
        </p:spPr>
        <p:txBody>
          <a:bodyPr spcFirstLastPara="1" wrap="square" lIns="91425" tIns="91425" rIns="91425" bIns="91425" anchor="t" anchorCtr="0">
            <a:normAutofit/>
          </a:bodyPr>
          <a:lstStyle/>
          <a:p>
            <a:pPr marL="0" marR="0" lvl="0" indent="0" algn="l" rtl="0">
              <a:lnSpc>
                <a:spcPct val="80000"/>
              </a:lnSpc>
              <a:spcBef>
                <a:spcPts val="0"/>
              </a:spcBef>
              <a:spcAft>
                <a:spcPts val="0"/>
              </a:spcAft>
              <a:buSzPts val="852"/>
              <a:buNone/>
            </a:pPr>
            <a:r>
              <a:rPr lang="en" sz="1800">
                <a:solidFill>
                  <a:srgbClr val="4B4F58"/>
                </a:solidFill>
              </a:rPr>
              <a:t>Static Testing can be covered under two different types:</a:t>
            </a:r>
            <a:endParaRPr sz="1800">
              <a:solidFill>
                <a:srgbClr val="4B4F58"/>
              </a:solidFill>
            </a:endParaRPr>
          </a:p>
          <a:p>
            <a:pPr marL="0" marR="0" lvl="0" indent="0" algn="l" rtl="0">
              <a:lnSpc>
                <a:spcPct val="80000"/>
              </a:lnSpc>
              <a:spcBef>
                <a:spcPts val="0"/>
              </a:spcBef>
              <a:spcAft>
                <a:spcPts val="0"/>
              </a:spcAft>
              <a:buSzPts val="852"/>
              <a:buNone/>
            </a:pPr>
            <a:endParaRPr sz="1800">
              <a:solidFill>
                <a:srgbClr val="4B4F58"/>
              </a:solidFill>
            </a:endParaRPr>
          </a:p>
          <a:p>
            <a:pPr marL="0" marR="0" lvl="0" indent="0" algn="l" rtl="0">
              <a:lnSpc>
                <a:spcPct val="80000"/>
              </a:lnSpc>
              <a:spcBef>
                <a:spcPts val="0"/>
              </a:spcBef>
              <a:spcAft>
                <a:spcPts val="0"/>
              </a:spcAft>
              <a:buSzPts val="852"/>
              <a:buNone/>
            </a:pPr>
            <a:endParaRPr sz="1800">
              <a:solidFill>
                <a:srgbClr val="4B4F58"/>
              </a:solidFill>
            </a:endParaRPr>
          </a:p>
          <a:p>
            <a:pPr marL="457200" marR="0" lvl="0" indent="-342900" algn="l" rtl="0">
              <a:lnSpc>
                <a:spcPct val="80000"/>
              </a:lnSpc>
              <a:spcBef>
                <a:spcPts val="0"/>
              </a:spcBef>
              <a:spcAft>
                <a:spcPts val="0"/>
              </a:spcAft>
              <a:buClr>
                <a:srgbClr val="4B4F58"/>
              </a:buClr>
              <a:buSzPts val="1800"/>
              <a:buChar char="❏"/>
            </a:pPr>
            <a:r>
              <a:rPr lang="en" sz="1800">
                <a:solidFill>
                  <a:srgbClr val="4B4F58"/>
                </a:solidFill>
              </a:rPr>
              <a:t>Manual Static Testing</a:t>
            </a:r>
            <a:endParaRPr sz="1800">
              <a:solidFill>
                <a:srgbClr val="4B4F58"/>
              </a:solidFill>
            </a:endParaRPr>
          </a:p>
          <a:p>
            <a:pPr marL="457200" marR="0" lvl="0" indent="-342900" algn="l" rtl="0">
              <a:lnSpc>
                <a:spcPct val="80000"/>
              </a:lnSpc>
              <a:spcBef>
                <a:spcPts val="0"/>
              </a:spcBef>
              <a:spcAft>
                <a:spcPts val="0"/>
              </a:spcAft>
              <a:buClr>
                <a:srgbClr val="4B4F58"/>
              </a:buClr>
              <a:buSzPts val="1800"/>
              <a:buChar char="❏"/>
            </a:pPr>
            <a:r>
              <a:rPr lang="en" sz="1800">
                <a:solidFill>
                  <a:srgbClr val="4B4F58"/>
                </a:solidFill>
              </a:rPr>
              <a:t>Automated Static Testing</a:t>
            </a:r>
            <a:endParaRPr sz="1800">
              <a:solidFill>
                <a:srgbClr val="4B4F58"/>
              </a:solidFill>
            </a:endParaRPr>
          </a:p>
          <a:p>
            <a:pPr marL="0" marR="0" lvl="0" indent="0" algn="l" rtl="0">
              <a:lnSpc>
                <a:spcPct val="80000"/>
              </a:lnSpc>
              <a:spcBef>
                <a:spcPts val="0"/>
              </a:spcBef>
              <a:spcAft>
                <a:spcPts val="0"/>
              </a:spcAft>
              <a:buSzPts val="852"/>
              <a:buNone/>
            </a:pPr>
            <a:endParaRPr sz="1976">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9"/>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Manual Method of Static Testing</a:t>
            </a:r>
            <a:endParaRPr/>
          </a:p>
        </p:txBody>
      </p:sp>
      <p:sp>
        <p:nvSpPr>
          <p:cNvPr id="184" name="Google Shape;184;p29"/>
          <p:cNvSpPr txBox="1">
            <a:spLocks noGrp="1"/>
          </p:cNvSpPr>
          <p:nvPr>
            <p:ph type="body" idx="1"/>
          </p:nvPr>
        </p:nvSpPr>
        <p:spPr>
          <a:xfrm>
            <a:off x="729450" y="1240675"/>
            <a:ext cx="7688700" cy="32214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sz="1800">
                <a:solidFill>
                  <a:srgbClr val="4B4F58"/>
                </a:solidFill>
              </a:rPr>
              <a:t>Manual static testing methods are techniques used to identify errors and defects in software code and documentation without actually executing the code</a:t>
            </a:r>
            <a:endParaRPr sz="1800">
              <a:solidFill>
                <a:srgbClr val="4B4F58"/>
              </a:solidFill>
            </a:endParaRPr>
          </a:p>
          <a:p>
            <a:pPr marL="0" lvl="0" indent="0" algn="l" rtl="0">
              <a:lnSpc>
                <a:spcPct val="100000"/>
              </a:lnSpc>
              <a:spcBef>
                <a:spcPts val="0"/>
              </a:spcBef>
              <a:spcAft>
                <a:spcPts val="0"/>
              </a:spcAft>
              <a:buNone/>
            </a:pPr>
            <a:endParaRPr sz="1800">
              <a:solidFill>
                <a:srgbClr val="4B4F58"/>
              </a:solidFill>
            </a:endParaRPr>
          </a:p>
          <a:p>
            <a:pPr marL="457200" lvl="0" indent="-342900" algn="l" rtl="0">
              <a:lnSpc>
                <a:spcPct val="100000"/>
              </a:lnSpc>
              <a:spcBef>
                <a:spcPts val="0"/>
              </a:spcBef>
              <a:spcAft>
                <a:spcPts val="0"/>
              </a:spcAft>
              <a:buClr>
                <a:srgbClr val="4B4F58"/>
              </a:buClr>
              <a:buSzPts val="1800"/>
              <a:buChar char="❏"/>
            </a:pPr>
            <a:r>
              <a:rPr lang="en" sz="1800">
                <a:solidFill>
                  <a:srgbClr val="4B4F58"/>
                </a:solidFill>
              </a:rPr>
              <a:t>Inspections</a:t>
            </a:r>
            <a:endParaRPr sz="1800">
              <a:solidFill>
                <a:srgbClr val="4B4F58"/>
              </a:solidFill>
            </a:endParaRPr>
          </a:p>
          <a:p>
            <a:pPr marL="457200" lvl="0" indent="-342900" algn="l" rtl="0">
              <a:lnSpc>
                <a:spcPct val="100000"/>
              </a:lnSpc>
              <a:spcBef>
                <a:spcPts val="0"/>
              </a:spcBef>
              <a:spcAft>
                <a:spcPts val="0"/>
              </a:spcAft>
              <a:buClr>
                <a:srgbClr val="4B4F58"/>
              </a:buClr>
              <a:buSzPts val="1800"/>
              <a:buChar char="❏"/>
            </a:pPr>
            <a:r>
              <a:rPr lang="en" sz="1800">
                <a:solidFill>
                  <a:srgbClr val="4B4F58"/>
                </a:solidFill>
              </a:rPr>
              <a:t>Walkthroughs</a:t>
            </a:r>
            <a:endParaRPr sz="1800">
              <a:solidFill>
                <a:srgbClr val="4B4F58"/>
              </a:solidFill>
            </a:endParaRPr>
          </a:p>
          <a:p>
            <a:pPr marL="457200" lvl="0" indent="-342900" algn="l" rtl="0">
              <a:lnSpc>
                <a:spcPct val="100000"/>
              </a:lnSpc>
              <a:spcBef>
                <a:spcPts val="0"/>
              </a:spcBef>
              <a:spcAft>
                <a:spcPts val="0"/>
              </a:spcAft>
              <a:buClr>
                <a:srgbClr val="4B4F58"/>
              </a:buClr>
              <a:buSzPts val="1800"/>
              <a:buChar char="❏"/>
            </a:pPr>
            <a:r>
              <a:rPr lang="en" sz="1800">
                <a:solidFill>
                  <a:srgbClr val="4B4F58"/>
                </a:solidFill>
              </a:rPr>
              <a:t>Informal reviews</a:t>
            </a:r>
            <a:endParaRPr sz="1800">
              <a:solidFill>
                <a:srgbClr val="4B4F58"/>
              </a:solidFill>
            </a:endParaRPr>
          </a:p>
          <a:p>
            <a:pPr marL="457200" lvl="0" indent="-342900" algn="l" rtl="0">
              <a:lnSpc>
                <a:spcPct val="100000"/>
              </a:lnSpc>
              <a:spcBef>
                <a:spcPts val="0"/>
              </a:spcBef>
              <a:spcAft>
                <a:spcPts val="0"/>
              </a:spcAft>
              <a:buClr>
                <a:srgbClr val="4B4F58"/>
              </a:buClr>
              <a:buSzPts val="1800"/>
              <a:buChar char="❏"/>
            </a:pPr>
            <a:r>
              <a:rPr lang="en" sz="1800">
                <a:solidFill>
                  <a:srgbClr val="4B4F58"/>
                </a:solidFill>
              </a:rPr>
              <a:t>Technical reviews</a:t>
            </a:r>
            <a:endParaRPr sz="1800">
              <a:solidFill>
                <a:srgbClr val="4B4F58"/>
              </a:solidFill>
            </a:endParaRPr>
          </a:p>
          <a:p>
            <a:pPr marL="457200" lvl="0" indent="-342900" algn="l" rtl="0">
              <a:lnSpc>
                <a:spcPct val="100000"/>
              </a:lnSpc>
              <a:spcBef>
                <a:spcPts val="0"/>
              </a:spcBef>
              <a:spcAft>
                <a:spcPts val="0"/>
              </a:spcAft>
              <a:buClr>
                <a:srgbClr val="4B4F58"/>
              </a:buClr>
              <a:buSzPts val="1800"/>
              <a:buChar char="❏"/>
            </a:pPr>
            <a:r>
              <a:rPr lang="en" sz="1800">
                <a:solidFill>
                  <a:srgbClr val="4B4F58"/>
                </a:solidFill>
              </a:rPr>
              <a:t>Audits</a:t>
            </a:r>
            <a:endParaRPr sz="1800">
              <a:solidFill>
                <a:srgbClr val="4B4F58"/>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Automation Method of Static Testing</a:t>
            </a:r>
            <a:endParaRPr/>
          </a:p>
        </p:txBody>
      </p:sp>
      <p:sp>
        <p:nvSpPr>
          <p:cNvPr id="190" name="Google Shape;190;p30"/>
          <p:cNvSpPr txBox="1">
            <a:spLocks noGrp="1"/>
          </p:cNvSpPr>
          <p:nvPr>
            <p:ph type="body" idx="1"/>
          </p:nvPr>
        </p:nvSpPr>
        <p:spPr>
          <a:xfrm>
            <a:off x="729450" y="1240675"/>
            <a:ext cx="7688700" cy="39027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sz="1800">
                <a:solidFill>
                  <a:srgbClr val="4B4F58"/>
                </a:solidFill>
              </a:rPr>
              <a:t>This method leverages specialized tools to analyze source code, documentation, and other artifacts without execution.</a:t>
            </a:r>
            <a:endParaRPr sz="1800">
              <a:solidFill>
                <a:srgbClr val="4B4F58"/>
              </a:solidFill>
            </a:endParaRPr>
          </a:p>
          <a:p>
            <a:pPr marL="0" lvl="0" indent="0" algn="l" rtl="0">
              <a:lnSpc>
                <a:spcPct val="100000"/>
              </a:lnSpc>
              <a:spcBef>
                <a:spcPts val="0"/>
              </a:spcBef>
              <a:spcAft>
                <a:spcPts val="0"/>
              </a:spcAft>
              <a:buNone/>
            </a:pPr>
            <a:endParaRPr sz="1800">
              <a:solidFill>
                <a:srgbClr val="4B4F58"/>
              </a:solidFill>
            </a:endParaRPr>
          </a:p>
          <a:p>
            <a:pPr marL="0" lvl="0" indent="0" algn="l" rtl="0">
              <a:lnSpc>
                <a:spcPct val="100000"/>
              </a:lnSpc>
              <a:spcBef>
                <a:spcPts val="0"/>
              </a:spcBef>
              <a:spcAft>
                <a:spcPts val="0"/>
              </a:spcAft>
              <a:buNone/>
            </a:pPr>
            <a:r>
              <a:rPr lang="en" sz="1800">
                <a:solidFill>
                  <a:srgbClr val="4B4F58"/>
                </a:solidFill>
              </a:rPr>
              <a:t>Static Analysis : Tools dissect the code’s structure, logic, and flow, identifying potential errors like:</a:t>
            </a:r>
            <a:endParaRPr sz="1800">
              <a:solidFill>
                <a:srgbClr val="4B4F58"/>
              </a:solidFill>
            </a:endParaRPr>
          </a:p>
          <a:p>
            <a:pPr marL="457200" lvl="0" indent="-342900" algn="l" rtl="0">
              <a:lnSpc>
                <a:spcPct val="100000"/>
              </a:lnSpc>
              <a:spcBef>
                <a:spcPts val="0"/>
              </a:spcBef>
              <a:spcAft>
                <a:spcPts val="0"/>
              </a:spcAft>
              <a:buClr>
                <a:srgbClr val="4B4F58"/>
              </a:buClr>
              <a:buSzPts val="1800"/>
              <a:buChar char="-"/>
            </a:pPr>
            <a:r>
              <a:rPr lang="en" sz="1800">
                <a:solidFill>
                  <a:srgbClr val="4B4F58"/>
                </a:solidFill>
              </a:rPr>
              <a:t>Syntactic errors</a:t>
            </a:r>
            <a:endParaRPr sz="1800">
              <a:solidFill>
                <a:srgbClr val="4B4F58"/>
              </a:solidFill>
            </a:endParaRPr>
          </a:p>
          <a:p>
            <a:pPr marL="457200" lvl="0" indent="-342900" algn="l" rtl="0">
              <a:lnSpc>
                <a:spcPct val="100000"/>
              </a:lnSpc>
              <a:spcBef>
                <a:spcPts val="0"/>
              </a:spcBef>
              <a:spcAft>
                <a:spcPts val="0"/>
              </a:spcAft>
              <a:buClr>
                <a:srgbClr val="4B4F58"/>
              </a:buClr>
              <a:buSzPts val="1800"/>
              <a:buChar char="-"/>
            </a:pPr>
            <a:r>
              <a:rPr lang="en" sz="1800">
                <a:solidFill>
                  <a:srgbClr val="4B4F58"/>
                </a:solidFill>
              </a:rPr>
              <a:t>Logic errors</a:t>
            </a:r>
            <a:endParaRPr sz="1800">
              <a:solidFill>
                <a:srgbClr val="4B4F58"/>
              </a:solidFill>
            </a:endParaRPr>
          </a:p>
          <a:p>
            <a:pPr marL="457200" lvl="0" indent="-342900" algn="l" rtl="0">
              <a:lnSpc>
                <a:spcPct val="100000"/>
              </a:lnSpc>
              <a:spcBef>
                <a:spcPts val="0"/>
              </a:spcBef>
              <a:spcAft>
                <a:spcPts val="0"/>
              </a:spcAft>
              <a:buClr>
                <a:srgbClr val="4B4F58"/>
              </a:buClr>
              <a:buSzPts val="1800"/>
              <a:buChar char="-"/>
            </a:pPr>
            <a:r>
              <a:rPr lang="en" sz="1800">
                <a:solidFill>
                  <a:srgbClr val="4B4F58"/>
                </a:solidFill>
              </a:rPr>
              <a:t>Security vulnerabilities</a:t>
            </a:r>
            <a:endParaRPr sz="1800">
              <a:solidFill>
                <a:srgbClr val="4B4F58"/>
              </a:solidFill>
            </a:endParaRPr>
          </a:p>
          <a:p>
            <a:pPr marL="457200" lvl="0" indent="-342900" algn="l" rtl="0">
              <a:lnSpc>
                <a:spcPct val="100000"/>
              </a:lnSpc>
              <a:spcBef>
                <a:spcPts val="0"/>
              </a:spcBef>
              <a:spcAft>
                <a:spcPts val="0"/>
              </a:spcAft>
              <a:buClr>
                <a:srgbClr val="4B4F58"/>
              </a:buClr>
              <a:buSzPts val="1800"/>
              <a:buChar char="-"/>
            </a:pPr>
            <a:r>
              <a:rPr lang="en" sz="1800">
                <a:solidFill>
                  <a:srgbClr val="4B4F58"/>
                </a:solidFill>
              </a:rPr>
              <a:t>Code quality issues</a:t>
            </a:r>
            <a:endParaRPr sz="1800">
              <a:solidFill>
                <a:srgbClr val="4B4F58"/>
              </a:solidFill>
            </a:endParaRPr>
          </a:p>
          <a:p>
            <a:pPr marL="457200" lvl="0" indent="-342900" algn="l" rtl="0">
              <a:lnSpc>
                <a:spcPct val="100000"/>
              </a:lnSpc>
              <a:spcBef>
                <a:spcPts val="0"/>
              </a:spcBef>
              <a:spcAft>
                <a:spcPts val="0"/>
              </a:spcAft>
              <a:buClr>
                <a:srgbClr val="4B4F58"/>
              </a:buClr>
              <a:buSzPts val="1800"/>
              <a:buChar char="-"/>
            </a:pPr>
            <a:r>
              <a:rPr lang="en" sz="1800">
                <a:solidFill>
                  <a:srgbClr val="4B4F58"/>
                </a:solidFill>
              </a:rPr>
              <a:t>Coding standard violations</a:t>
            </a:r>
            <a:endParaRPr sz="1800">
              <a:solidFill>
                <a:srgbClr val="4B4F58"/>
              </a:solidFill>
            </a:endParaRPr>
          </a:p>
          <a:p>
            <a:pPr marL="457200" lvl="0" indent="-342900" algn="l" rtl="0">
              <a:lnSpc>
                <a:spcPct val="100000"/>
              </a:lnSpc>
              <a:spcBef>
                <a:spcPts val="0"/>
              </a:spcBef>
              <a:spcAft>
                <a:spcPts val="0"/>
              </a:spcAft>
              <a:buClr>
                <a:srgbClr val="4B4F58"/>
              </a:buClr>
              <a:buSzPts val="1800"/>
              <a:buChar char="-"/>
            </a:pPr>
            <a:r>
              <a:rPr lang="en" sz="1800">
                <a:solidFill>
                  <a:srgbClr val="4B4F58"/>
                </a:solidFill>
              </a:rPr>
              <a:t>Code Reviews &amp; Lint Checks</a:t>
            </a:r>
            <a:endParaRPr sz="1800">
              <a:solidFill>
                <a:srgbClr val="4B4F58"/>
              </a:solidFill>
            </a:endParaRPr>
          </a:p>
          <a:p>
            <a:pPr marL="457200" lvl="0" indent="-342900" algn="l" rtl="0">
              <a:lnSpc>
                <a:spcPct val="100000"/>
              </a:lnSpc>
              <a:spcBef>
                <a:spcPts val="0"/>
              </a:spcBef>
              <a:spcAft>
                <a:spcPts val="0"/>
              </a:spcAft>
              <a:buClr>
                <a:srgbClr val="4B4F58"/>
              </a:buClr>
              <a:buSzPts val="1800"/>
              <a:buChar char="-"/>
            </a:pPr>
            <a:r>
              <a:rPr lang="en" sz="1800">
                <a:solidFill>
                  <a:srgbClr val="4B4F58"/>
                </a:solidFill>
              </a:rPr>
              <a:t>Formal Methods</a:t>
            </a:r>
            <a:endParaRPr sz="1800">
              <a:solidFill>
                <a:srgbClr val="4B4F58"/>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1"/>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Automation Method of Static Testing…</a:t>
            </a:r>
            <a:endParaRPr/>
          </a:p>
        </p:txBody>
      </p:sp>
      <p:sp>
        <p:nvSpPr>
          <p:cNvPr id="196" name="Google Shape;196;p31"/>
          <p:cNvSpPr txBox="1">
            <a:spLocks noGrp="1"/>
          </p:cNvSpPr>
          <p:nvPr>
            <p:ph type="body" idx="1"/>
          </p:nvPr>
        </p:nvSpPr>
        <p:spPr>
          <a:xfrm>
            <a:off x="729450" y="1240675"/>
            <a:ext cx="7688700" cy="3902700"/>
          </a:xfrm>
          <a:prstGeom prst="rect">
            <a:avLst/>
          </a:prstGeom>
        </p:spPr>
        <p:txBody>
          <a:bodyPr spcFirstLastPara="1" wrap="square" lIns="91425" tIns="91425" rIns="91425" bIns="91425" anchor="t" anchorCtr="0">
            <a:normAutofit/>
          </a:bodyPr>
          <a:lstStyle/>
          <a:p>
            <a:pPr marL="457200" lvl="0" indent="-342900" algn="l" rtl="0">
              <a:lnSpc>
                <a:spcPct val="100000"/>
              </a:lnSpc>
              <a:spcBef>
                <a:spcPts val="0"/>
              </a:spcBef>
              <a:spcAft>
                <a:spcPts val="0"/>
              </a:spcAft>
              <a:buClr>
                <a:srgbClr val="4B4F58"/>
              </a:buClr>
              <a:buSzPts val="1800"/>
              <a:buChar char="-"/>
            </a:pPr>
            <a:r>
              <a:rPr lang="en" sz="1800">
                <a:solidFill>
                  <a:srgbClr val="4B4F58"/>
                </a:solidFill>
              </a:rPr>
              <a:t>Code Reviews &amp; Lint Checks: Tools scan the code for adherence to defined coding standards and best practices, highlighting areas for improvement.</a:t>
            </a:r>
            <a:endParaRPr sz="1800">
              <a:solidFill>
                <a:srgbClr val="4B4F58"/>
              </a:solidFill>
            </a:endParaRPr>
          </a:p>
          <a:p>
            <a:pPr marL="457200" lvl="0" indent="0" algn="l" rtl="0">
              <a:lnSpc>
                <a:spcPct val="100000"/>
              </a:lnSpc>
              <a:spcBef>
                <a:spcPts val="0"/>
              </a:spcBef>
              <a:spcAft>
                <a:spcPts val="0"/>
              </a:spcAft>
              <a:buNone/>
            </a:pPr>
            <a:endParaRPr sz="1800">
              <a:solidFill>
                <a:srgbClr val="4B4F58"/>
              </a:solidFill>
            </a:endParaRPr>
          </a:p>
          <a:p>
            <a:pPr marL="457200" lvl="0" indent="-342900" algn="l" rtl="0">
              <a:lnSpc>
                <a:spcPct val="100000"/>
              </a:lnSpc>
              <a:spcBef>
                <a:spcPts val="0"/>
              </a:spcBef>
              <a:spcAft>
                <a:spcPts val="0"/>
              </a:spcAft>
              <a:buClr>
                <a:srgbClr val="4B4F58"/>
              </a:buClr>
              <a:buSzPts val="1800"/>
              <a:buChar char="-"/>
            </a:pPr>
            <a:r>
              <a:rPr lang="en" sz="1800">
                <a:solidFill>
                  <a:srgbClr val="4B4F58"/>
                </a:solidFill>
              </a:rPr>
              <a:t>Formal Methods: Utilize mathematical techniques to prove the correctness of code properties and ensure they adhere to specific specifications.</a:t>
            </a:r>
            <a:endParaRPr sz="1800">
              <a:solidFill>
                <a:srgbClr val="4B4F58"/>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2"/>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Tools Used for Static Testing</a:t>
            </a:r>
            <a:endParaRPr/>
          </a:p>
        </p:txBody>
      </p:sp>
      <p:sp>
        <p:nvSpPr>
          <p:cNvPr id="202" name="Google Shape;202;p32"/>
          <p:cNvSpPr txBox="1">
            <a:spLocks noGrp="1"/>
          </p:cNvSpPr>
          <p:nvPr>
            <p:ph type="body" idx="1"/>
          </p:nvPr>
        </p:nvSpPr>
        <p:spPr>
          <a:xfrm>
            <a:off x="727650" y="1251075"/>
            <a:ext cx="7688700" cy="3892500"/>
          </a:xfrm>
          <a:prstGeom prst="rect">
            <a:avLst/>
          </a:prstGeom>
        </p:spPr>
        <p:txBody>
          <a:bodyPr spcFirstLastPara="1" wrap="square" lIns="91425" tIns="91425" rIns="91425" bIns="91425" anchor="t" anchorCtr="0">
            <a:normAutofit/>
          </a:bodyPr>
          <a:lstStyle/>
          <a:p>
            <a:pPr marL="342900" marR="0" lvl="0" indent="0" algn="just" rtl="0">
              <a:lnSpc>
                <a:spcPct val="100000"/>
              </a:lnSpc>
              <a:spcBef>
                <a:spcPts val="0"/>
              </a:spcBef>
              <a:spcAft>
                <a:spcPts val="0"/>
              </a:spcAft>
              <a:buNone/>
            </a:pPr>
            <a:endParaRPr sz="1800">
              <a:solidFill>
                <a:srgbClr val="4B4F58"/>
              </a:solidFill>
              <a:latin typeface="Calibri"/>
              <a:ea typeface="Calibri"/>
              <a:cs typeface="Calibri"/>
              <a:sym typeface="Calibri"/>
            </a:endParaRPr>
          </a:p>
          <a:p>
            <a:pPr marL="342900" marR="0" lvl="0" indent="0" algn="just" rtl="0">
              <a:lnSpc>
                <a:spcPct val="100000"/>
              </a:lnSpc>
              <a:spcBef>
                <a:spcPts val="0"/>
              </a:spcBef>
              <a:spcAft>
                <a:spcPts val="0"/>
              </a:spcAft>
              <a:buNone/>
            </a:pPr>
            <a:r>
              <a:rPr lang="en" sz="1800">
                <a:solidFill>
                  <a:srgbClr val="4B4F58"/>
                </a:solidFill>
              </a:rPr>
              <a:t>Here are some tools;</a:t>
            </a:r>
            <a:endParaRPr sz="1800">
              <a:solidFill>
                <a:srgbClr val="4B4F58"/>
              </a:solidFill>
            </a:endParaRPr>
          </a:p>
          <a:p>
            <a:pPr marL="342900" marR="0" lvl="0" indent="0" algn="just" rtl="0">
              <a:lnSpc>
                <a:spcPct val="100000"/>
              </a:lnSpc>
              <a:spcBef>
                <a:spcPts val="0"/>
              </a:spcBef>
              <a:spcAft>
                <a:spcPts val="0"/>
              </a:spcAft>
              <a:buNone/>
            </a:pP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Checkstyle</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SourceMeter</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Soot</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Lint</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SonarQube</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PDM</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Findings</a:t>
            </a:r>
            <a:endParaRPr sz="1800">
              <a:solidFill>
                <a:srgbClr val="4B4F58"/>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3"/>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is Tested in Static Testing?</a:t>
            </a:r>
            <a:endParaRPr/>
          </a:p>
        </p:txBody>
      </p:sp>
      <p:sp>
        <p:nvSpPr>
          <p:cNvPr id="208" name="Google Shape;208;p33"/>
          <p:cNvSpPr txBox="1">
            <a:spLocks noGrp="1"/>
          </p:cNvSpPr>
          <p:nvPr>
            <p:ph type="body" idx="1"/>
          </p:nvPr>
        </p:nvSpPr>
        <p:spPr>
          <a:xfrm>
            <a:off x="727650" y="1251075"/>
            <a:ext cx="7688700" cy="3892500"/>
          </a:xfrm>
          <a:prstGeom prst="rect">
            <a:avLst/>
          </a:prstGeom>
        </p:spPr>
        <p:txBody>
          <a:bodyPr spcFirstLastPara="1" wrap="square" lIns="91425" tIns="91425" rIns="91425" bIns="91425" anchor="t" anchorCtr="0">
            <a:normAutofit/>
          </a:bodyPr>
          <a:lstStyle/>
          <a:p>
            <a:pPr marL="0" marR="0" lvl="0" indent="0" algn="just" rtl="0">
              <a:lnSpc>
                <a:spcPct val="100000"/>
              </a:lnSpc>
              <a:spcBef>
                <a:spcPts val="0"/>
              </a:spcBef>
              <a:spcAft>
                <a:spcPts val="0"/>
              </a:spcAft>
              <a:buNone/>
            </a:pPr>
            <a:r>
              <a:rPr lang="en" sz="1800">
                <a:solidFill>
                  <a:srgbClr val="4B4F58"/>
                </a:solidFill>
              </a:rPr>
              <a:t>Key areas of Static Testing;</a:t>
            </a:r>
            <a:endParaRPr sz="1800">
              <a:solidFill>
                <a:srgbClr val="4B4F58"/>
              </a:solidFill>
            </a:endParaRPr>
          </a:p>
          <a:p>
            <a:pPr marL="342900" marR="0" lvl="0" indent="0" algn="just" rtl="0">
              <a:lnSpc>
                <a:spcPct val="100000"/>
              </a:lnSpc>
              <a:spcBef>
                <a:spcPts val="0"/>
              </a:spcBef>
              <a:spcAft>
                <a:spcPts val="0"/>
              </a:spcAft>
              <a:buNone/>
            </a:pP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Code Quality</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Syntax errors</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Coding standards</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Potential bugs</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Performance bottlenecks</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Security vulnerabilities</a:t>
            </a:r>
            <a:endParaRPr sz="1800">
              <a:solidFill>
                <a:srgbClr val="4B4F58"/>
              </a:solidFill>
            </a:endParaRPr>
          </a:p>
          <a:p>
            <a:pPr marL="914400" marR="0" lvl="0" indent="0" algn="just" rtl="0">
              <a:lnSpc>
                <a:spcPct val="100000"/>
              </a:lnSpc>
              <a:spcBef>
                <a:spcPts val="0"/>
              </a:spcBef>
              <a:spcAft>
                <a:spcPts val="0"/>
              </a:spcAft>
              <a:buNone/>
            </a:pP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Documentation Quality</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Requirements completeness and consistency</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Design document correctness</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Test plan completeness and feasibility</a:t>
            </a:r>
            <a:endParaRPr sz="1800">
              <a:solidFill>
                <a:srgbClr val="4B4F58"/>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4"/>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Static Testing is Performed?</a:t>
            </a:r>
            <a:endParaRPr/>
          </a:p>
        </p:txBody>
      </p:sp>
      <p:sp>
        <p:nvSpPr>
          <p:cNvPr id="214" name="Google Shape;214;p34"/>
          <p:cNvSpPr txBox="1">
            <a:spLocks noGrp="1"/>
          </p:cNvSpPr>
          <p:nvPr>
            <p:ph type="body" idx="1"/>
          </p:nvPr>
        </p:nvSpPr>
        <p:spPr>
          <a:xfrm>
            <a:off x="727650" y="1251075"/>
            <a:ext cx="7688700" cy="3892500"/>
          </a:xfrm>
          <a:prstGeom prst="rect">
            <a:avLst/>
          </a:prstGeom>
        </p:spPr>
        <p:txBody>
          <a:bodyPr spcFirstLastPara="1" wrap="square" lIns="91425" tIns="91425" rIns="91425" bIns="91425" anchor="t" anchorCtr="0">
            <a:normAutofit lnSpcReduction="10000"/>
          </a:bodyPr>
          <a:lstStyle/>
          <a:p>
            <a:pPr marL="0" marR="0" lvl="0" indent="0" algn="just" rtl="0">
              <a:lnSpc>
                <a:spcPct val="100000"/>
              </a:lnSpc>
              <a:spcBef>
                <a:spcPts val="0"/>
              </a:spcBef>
              <a:spcAft>
                <a:spcPts val="0"/>
              </a:spcAft>
              <a:buNone/>
            </a:pPr>
            <a:r>
              <a:rPr lang="en" sz="1800">
                <a:solidFill>
                  <a:srgbClr val="4B4F58"/>
                </a:solidFill>
              </a:rPr>
              <a:t>How static testing is performed;</a:t>
            </a:r>
            <a:endParaRPr sz="1800">
              <a:solidFill>
                <a:srgbClr val="4B4F58"/>
              </a:solidFill>
            </a:endParaRPr>
          </a:p>
          <a:p>
            <a:pPr marL="342900" marR="0" lvl="0" indent="0" algn="just" rtl="0">
              <a:lnSpc>
                <a:spcPct val="100000"/>
              </a:lnSpc>
              <a:spcBef>
                <a:spcPts val="0"/>
              </a:spcBef>
              <a:spcAft>
                <a:spcPts val="0"/>
              </a:spcAft>
              <a:buNone/>
            </a:pP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The first step in static testing is planning. </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prepare the necessary artifacts, such as source codes, design documents, requirements documents, and test cases. </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Static analysis is the core of this testing. </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Code reviews are an essential component of the static testing process. </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Small team of experts systematically reviews the code and finds potential errors using various methods.</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Any issues or bugs during the static testing process are reported and documented.</a:t>
            </a:r>
            <a:endParaRPr sz="1800">
              <a:solidFill>
                <a:srgbClr val="4B4F58"/>
              </a:solidFill>
            </a:endParaRPr>
          </a:p>
          <a:p>
            <a:pPr marL="457200" marR="0" lvl="0" indent="-342900" algn="just" rtl="0">
              <a:lnSpc>
                <a:spcPct val="100000"/>
              </a:lnSpc>
              <a:spcBef>
                <a:spcPts val="0"/>
              </a:spcBef>
              <a:spcAft>
                <a:spcPts val="0"/>
              </a:spcAft>
              <a:buClr>
                <a:srgbClr val="4B4F58"/>
              </a:buClr>
              <a:buSzPts val="1800"/>
              <a:buChar char="❏"/>
            </a:pPr>
            <a:r>
              <a:rPr lang="en" sz="1800">
                <a:solidFill>
                  <a:srgbClr val="4B4F58"/>
                </a:solidFill>
              </a:rPr>
              <a:t>The results collected during the static testing process should be analyzed to determine the quality of the software product. This is the final step in static testing.</a:t>
            </a:r>
            <a:endParaRPr sz="1800">
              <a:solidFill>
                <a:srgbClr val="4B4F58"/>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5"/>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Advantages of Software Review</a:t>
            </a:r>
            <a:endParaRPr/>
          </a:p>
        </p:txBody>
      </p:sp>
      <p:sp>
        <p:nvSpPr>
          <p:cNvPr id="220" name="Google Shape;220;p35"/>
          <p:cNvSpPr txBox="1">
            <a:spLocks noGrp="1"/>
          </p:cNvSpPr>
          <p:nvPr>
            <p:ph type="body" idx="1"/>
          </p:nvPr>
        </p:nvSpPr>
        <p:spPr>
          <a:xfrm>
            <a:off x="729450" y="1240675"/>
            <a:ext cx="7688700" cy="3902700"/>
          </a:xfrm>
          <a:prstGeom prst="rect">
            <a:avLst/>
          </a:prstGeom>
        </p:spPr>
        <p:txBody>
          <a:bodyPr spcFirstLastPara="1" wrap="square" lIns="91425" tIns="91425" rIns="91425" bIns="91425" anchor="t" anchorCtr="0">
            <a:normAutofit/>
          </a:bodyPr>
          <a:lstStyle/>
          <a:p>
            <a:pPr marL="457200" lvl="0" indent="-342900" algn="l" rtl="0">
              <a:lnSpc>
                <a:spcPct val="100000"/>
              </a:lnSpc>
              <a:spcBef>
                <a:spcPts val="640"/>
              </a:spcBef>
              <a:spcAft>
                <a:spcPts val="0"/>
              </a:spcAft>
              <a:buClr>
                <a:srgbClr val="4B4F58"/>
              </a:buClr>
              <a:buSzPts val="1800"/>
              <a:buFont typeface="Calibri"/>
              <a:buChar char="❏"/>
            </a:pPr>
            <a:r>
              <a:rPr lang="en" sz="1800">
                <a:solidFill>
                  <a:srgbClr val="4B4F58"/>
                </a:solidFill>
                <a:latin typeface="Calibri"/>
                <a:ea typeface="Calibri"/>
                <a:cs typeface="Calibri"/>
                <a:sym typeface="Calibri"/>
              </a:rPr>
              <a:t>Defects can be identified earlier stage of development (especially in formal review). </a:t>
            </a:r>
            <a:endParaRPr sz="1800">
              <a:solidFill>
                <a:srgbClr val="4B4F58"/>
              </a:solidFill>
              <a:latin typeface="Calibri"/>
              <a:ea typeface="Calibri"/>
              <a:cs typeface="Calibri"/>
              <a:sym typeface="Calibri"/>
            </a:endParaRPr>
          </a:p>
          <a:p>
            <a:pPr marL="457200" lvl="0" indent="-342900" algn="l" rtl="0">
              <a:lnSpc>
                <a:spcPct val="100000"/>
              </a:lnSpc>
              <a:spcBef>
                <a:spcPts val="0"/>
              </a:spcBef>
              <a:spcAft>
                <a:spcPts val="0"/>
              </a:spcAft>
              <a:buClr>
                <a:srgbClr val="4B4F58"/>
              </a:buClr>
              <a:buSzPts val="1800"/>
              <a:buFont typeface="Calibri"/>
              <a:buChar char="❏"/>
            </a:pPr>
            <a:r>
              <a:rPr lang="en" sz="1800">
                <a:solidFill>
                  <a:srgbClr val="4B4F58"/>
                </a:solidFill>
                <a:latin typeface="Calibri"/>
                <a:ea typeface="Calibri"/>
                <a:cs typeface="Calibri"/>
                <a:sym typeface="Calibri"/>
              </a:rPr>
              <a:t>Earlier inspection also reduces the maintenance cost of software. </a:t>
            </a:r>
            <a:endParaRPr sz="1800">
              <a:solidFill>
                <a:srgbClr val="4B4F58"/>
              </a:solidFill>
              <a:latin typeface="Calibri"/>
              <a:ea typeface="Calibri"/>
              <a:cs typeface="Calibri"/>
              <a:sym typeface="Calibri"/>
            </a:endParaRPr>
          </a:p>
          <a:p>
            <a:pPr marL="457200" lvl="0" indent="-342900" algn="l" rtl="0">
              <a:lnSpc>
                <a:spcPct val="100000"/>
              </a:lnSpc>
              <a:spcBef>
                <a:spcPts val="0"/>
              </a:spcBef>
              <a:spcAft>
                <a:spcPts val="0"/>
              </a:spcAft>
              <a:buClr>
                <a:srgbClr val="4B4F58"/>
              </a:buClr>
              <a:buSzPts val="1800"/>
              <a:buFont typeface="Calibri"/>
              <a:buChar char="❏"/>
            </a:pPr>
            <a:r>
              <a:rPr lang="en" sz="1800">
                <a:solidFill>
                  <a:srgbClr val="4B4F58"/>
                </a:solidFill>
                <a:latin typeface="Calibri"/>
                <a:ea typeface="Calibri"/>
                <a:cs typeface="Calibri"/>
                <a:sym typeface="Calibri"/>
              </a:rPr>
              <a:t>It can be used to train technical authors. </a:t>
            </a:r>
            <a:endParaRPr sz="1800">
              <a:solidFill>
                <a:srgbClr val="4B4F58"/>
              </a:solidFill>
              <a:latin typeface="Calibri"/>
              <a:ea typeface="Calibri"/>
              <a:cs typeface="Calibri"/>
              <a:sym typeface="Calibri"/>
            </a:endParaRPr>
          </a:p>
          <a:p>
            <a:pPr marL="457200" lvl="0" indent="-342900" algn="l" rtl="0">
              <a:lnSpc>
                <a:spcPct val="100000"/>
              </a:lnSpc>
              <a:spcBef>
                <a:spcPts val="0"/>
              </a:spcBef>
              <a:spcAft>
                <a:spcPts val="0"/>
              </a:spcAft>
              <a:buClr>
                <a:srgbClr val="4B4F58"/>
              </a:buClr>
              <a:buSzPts val="1800"/>
              <a:buFont typeface="Calibri"/>
              <a:buChar char="❏"/>
            </a:pPr>
            <a:r>
              <a:rPr lang="en" sz="1800">
                <a:solidFill>
                  <a:srgbClr val="4B4F58"/>
                </a:solidFill>
                <a:latin typeface="Calibri"/>
                <a:ea typeface="Calibri"/>
                <a:cs typeface="Calibri"/>
                <a:sym typeface="Calibri"/>
              </a:rPr>
              <a:t>Reviews can improve software development productivity and reduce development timescales.</a:t>
            </a:r>
            <a:endParaRPr sz="1800">
              <a:solidFill>
                <a:srgbClr val="4B4F58"/>
              </a:solidFill>
              <a:latin typeface="Calibri"/>
              <a:ea typeface="Calibri"/>
              <a:cs typeface="Calibri"/>
              <a:sym typeface="Calibri"/>
            </a:endParaRPr>
          </a:p>
          <a:p>
            <a:pPr marL="457200" lvl="0" indent="-342900" algn="l" rtl="0">
              <a:lnSpc>
                <a:spcPct val="100000"/>
              </a:lnSpc>
              <a:spcBef>
                <a:spcPts val="0"/>
              </a:spcBef>
              <a:spcAft>
                <a:spcPts val="0"/>
              </a:spcAft>
              <a:buClr>
                <a:srgbClr val="4B4F58"/>
              </a:buClr>
              <a:buSzPts val="1800"/>
              <a:buFont typeface="Calibri"/>
              <a:buChar char="❏"/>
            </a:pPr>
            <a:r>
              <a:rPr lang="en" sz="1800">
                <a:solidFill>
                  <a:srgbClr val="4B4F58"/>
                </a:solidFill>
                <a:latin typeface="Calibri"/>
                <a:ea typeface="Calibri"/>
                <a:cs typeface="Calibri"/>
                <a:sym typeface="Calibri"/>
              </a:rPr>
              <a:t>They can also reduce testing time and cost.</a:t>
            </a:r>
            <a:endParaRPr sz="1800">
              <a:solidFill>
                <a:srgbClr val="4B4F58"/>
              </a:solidFill>
              <a:latin typeface="Calibri"/>
              <a:ea typeface="Calibri"/>
              <a:cs typeface="Calibri"/>
              <a:sym typeface="Calibri"/>
            </a:endParaRPr>
          </a:p>
          <a:p>
            <a:pPr marL="457200" lvl="0" indent="-342900" algn="l" rtl="0">
              <a:lnSpc>
                <a:spcPct val="100000"/>
              </a:lnSpc>
              <a:spcBef>
                <a:spcPts val="0"/>
              </a:spcBef>
              <a:spcAft>
                <a:spcPts val="0"/>
              </a:spcAft>
              <a:buClr>
                <a:srgbClr val="4B4F58"/>
              </a:buClr>
              <a:buSzPts val="1800"/>
              <a:buFont typeface="Calibri"/>
              <a:buChar char="❏"/>
            </a:pPr>
            <a:r>
              <a:rPr lang="en" sz="1800">
                <a:solidFill>
                  <a:srgbClr val="4B4F58"/>
                </a:solidFill>
                <a:latin typeface="Calibri"/>
                <a:ea typeface="Calibri"/>
                <a:cs typeface="Calibri"/>
                <a:sym typeface="Calibri"/>
              </a:rPr>
              <a:t>Reviews generally reduce fault levels and lead to increased quality. This can also result in improved customer relations.</a:t>
            </a:r>
            <a:endParaRPr sz="1800">
              <a:solidFill>
                <a:srgbClr val="4B4F58"/>
              </a:solidFill>
              <a:latin typeface="Calibri"/>
              <a:ea typeface="Calibri"/>
              <a:cs typeface="Calibri"/>
              <a:sym typeface="Calibri"/>
            </a:endParaRPr>
          </a:p>
          <a:p>
            <a:pPr marL="457200" lvl="0" indent="-342900" algn="l" rtl="0">
              <a:lnSpc>
                <a:spcPct val="100000"/>
              </a:lnSpc>
              <a:spcBef>
                <a:spcPts val="0"/>
              </a:spcBef>
              <a:spcAft>
                <a:spcPts val="0"/>
              </a:spcAft>
              <a:buClr>
                <a:srgbClr val="4B4F58"/>
              </a:buClr>
              <a:buSzPts val="1800"/>
              <a:buFont typeface="Calibri"/>
              <a:buChar char="❏"/>
            </a:pPr>
            <a:r>
              <a:rPr lang="en" sz="1800">
                <a:solidFill>
                  <a:srgbClr val="4B4F58"/>
                </a:solidFill>
                <a:latin typeface="Calibri"/>
                <a:ea typeface="Calibri"/>
                <a:cs typeface="Calibri"/>
                <a:sym typeface="Calibri"/>
              </a:rPr>
              <a:t>Reviews are cost-effective.</a:t>
            </a:r>
            <a:endParaRPr sz="1800">
              <a:solidFill>
                <a:srgbClr val="4B4F58"/>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6"/>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Activity:</a:t>
            </a:r>
            <a:endParaRPr/>
          </a:p>
        </p:txBody>
      </p:sp>
      <p:sp>
        <p:nvSpPr>
          <p:cNvPr id="226" name="Google Shape;226;p36"/>
          <p:cNvSpPr txBox="1">
            <a:spLocks noGrp="1"/>
          </p:cNvSpPr>
          <p:nvPr>
            <p:ph type="body" idx="1"/>
          </p:nvPr>
        </p:nvSpPr>
        <p:spPr>
          <a:xfrm>
            <a:off x="727650" y="1251075"/>
            <a:ext cx="7688700" cy="3892500"/>
          </a:xfrm>
          <a:prstGeom prst="rect">
            <a:avLst/>
          </a:prstGeom>
        </p:spPr>
        <p:txBody>
          <a:bodyPr spcFirstLastPara="1" wrap="square" lIns="91425" tIns="91425" rIns="91425" bIns="91425" anchor="t" anchorCtr="0">
            <a:normAutofit/>
          </a:bodyPr>
          <a:lstStyle/>
          <a:p>
            <a:pPr marL="457200" lvl="0" indent="-412750" algn="just" rtl="0">
              <a:lnSpc>
                <a:spcPct val="100000"/>
              </a:lnSpc>
              <a:spcBef>
                <a:spcPts val="0"/>
              </a:spcBef>
              <a:spcAft>
                <a:spcPts val="0"/>
              </a:spcAft>
              <a:buClr>
                <a:srgbClr val="000000"/>
              </a:buClr>
              <a:buSzPts val="2900"/>
              <a:buFont typeface="Calibri"/>
              <a:buAutoNum type="arabicPeriod"/>
            </a:pPr>
            <a:r>
              <a:rPr lang="en" sz="2900">
                <a:solidFill>
                  <a:srgbClr val="000000"/>
                </a:solidFill>
                <a:latin typeface="Calibri"/>
                <a:ea typeface="Calibri"/>
                <a:cs typeface="Calibri"/>
                <a:sym typeface="Calibri"/>
              </a:rPr>
              <a:t>What is Static Testing?</a:t>
            </a:r>
            <a:endParaRPr sz="2900">
              <a:solidFill>
                <a:srgbClr val="000000"/>
              </a:solidFill>
              <a:latin typeface="Calibri"/>
              <a:ea typeface="Calibri"/>
              <a:cs typeface="Calibri"/>
              <a:sym typeface="Calibri"/>
            </a:endParaRPr>
          </a:p>
          <a:p>
            <a:pPr marL="457200" lvl="0" indent="-412750" algn="just" rtl="0">
              <a:lnSpc>
                <a:spcPct val="100000"/>
              </a:lnSpc>
              <a:spcBef>
                <a:spcPts val="0"/>
              </a:spcBef>
              <a:spcAft>
                <a:spcPts val="0"/>
              </a:spcAft>
              <a:buClr>
                <a:srgbClr val="000000"/>
              </a:buClr>
              <a:buSzPts val="2900"/>
              <a:buFont typeface="Calibri"/>
              <a:buAutoNum type="arabicPeriod"/>
            </a:pPr>
            <a:r>
              <a:rPr lang="en" sz="2900">
                <a:solidFill>
                  <a:srgbClr val="000000"/>
                </a:solidFill>
                <a:latin typeface="Calibri"/>
                <a:ea typeface="Calibri"/>
                <a:cs typeface="Calibri"/>
                <a:sym typeface="Calibri"/>
              </a:rPr>
              <a:t>What is tested in static testing?</a:t>
            </a:r>
            <a:endParaRPr sz="2900">
              <a:solidFill>
                <a:srgbClr val="000000"/>
              </a:solidFill>
              <a:latin typeface="Calibri"/>
              <a:ea typeface="Calibri"/>
              <a:cs typeface="Calibri"/>
              <a:sym typeface="Calibri"/>
            </a:endParaRPr>
          </a:p>
          <a:p>
            <a:pPr marL="457200" lvl="0" indent="-412750" algn="just" rtl="0">
              <a:lnSpc>
                <a:spcPct val="100000"/>
              </a:lnSpc>
              <a:spcBef>
                <a:spcPts val="0"/>
              </a:spcBef>
              <a:spcAft>
                <a:spcPts val="0"/>
              </a:spcAft>
              <a:buClr>
                <a:srgbClr val="000000"/>
              </a:buClr>
              <a:buSzPts val="2900"/>
              <a:buFont typeface="Calibri"/>
              <a:buAutoNum type="arabicPeriod"/>
            </a:pPr>
            <a:r>
              <a:rPr lang="en" sz="2900">
                <a:solidFill>
                  <a:srgbClr val="000000"/>
                </a:solidFill>
                <a:latin typeface="Calibri"/>
                <a:ea typeface="Calibri"/>
                <a:cs typeface="Calibri"/>
                <a:sym typeface="Calibri"/>
              </a:rPr>
              <a:t>Who inspects the documents in static testing?</a:t>
            </a:r>
            <a:endParaRPr sz="2900">
              <a:solidFill>
                <a:srgbClr val="000000"/>
              </a:solidFill>
              <a:latin typeface="Calibri"/>
              <a:ea typeface="Calibri"/>
              <a:cs typeface="Calibri"/>
              <a:sym typeface="Calibri"/>
            </a:endParaRPr>
          </a:p>
          <a:p>
            <a:pPr marL="457200" lvl="0" indent="-412750" algn="just" rtl="0">
              <a:lnSpc>
                <a:spcPct val="100000"/>
              </a:lnSpc>
              <a:spcBef>
                <a:spcPts val="0"/>
              </a:spcBef>
              <a:spcAft>
                <a:spcPts val="0"/>
              </a:spcAft>
              <a:buClr>
                <a:srgbClr val="000000"/>
              </a:buClr>
              <a:buSzPts val="2900"/>
              <a:buFont typeface="Calibri"/>
              <a:buAutoNum type="arabicPeriod"/>
            </a:pPr>
            <a:r>
              <a:rPr lang="en" sz="2900">
                <a:solidFill>
                  <a:srgbClr val="000000"/>
                </a:solidFill>
                <a:latin typeface="Calibri"/>
                <a:ea typeface="Calibri"/>
                <a:cs typeface="Calibri"/>
                <a:sym typeface="Calibri"/>
              </a:rPr>
              <a:t>State the different between Static testing and Dynamic testing.</a:t>
            </a:r>
            <a:endParaRPr sz="2900">
              <a:solidFill>
                <a:srgbClr val="000000"/>
              </a:solidFill>
              <a:latin typeface="Calibri"/>
              <a:ea typeface="Calibri"/>
              <a:cs typeface="Calibri"/>
              <a:sym typeface="Calibri"/>
            </a:endParaRPr>
          </a:p>
          <a:p>
            <a:pPr marL="457200" lvl="0" indent="-412750" algn="just" rtl="0">
              <a:lnSpc>
                <a:spcPct val="100000"/>
              </a:lnSpc>
              <a:spcBef>
                <a:spcPts val="0"/>
              </a:spcBef>
              <a:spcAft>
                <a:spcPts val="0"/>
              </a:spcAft>
              <a:buClr>
                <a:srgbClr val="000000"/>
              </a:buClr>
              <a:buSzPts val="2900"/>
              <a:buFont typeface="Calibri"/>
              <a:buAutoNum type="arabicPeriod"/>
            </a:pPr>
            <a:endParaRPr sz="2900">
              <a:solidFill>
                <a:srgbClr val="0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7"/>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Q&amp;A’s ?</a:t>
            </a:r>
            <a:endParaRPr/>
          </a:p>
        </p:txBody>
      </p:sp>
      <p:sp>
        <p:nvSpPr>
          <p:cNvPr id="232" name="Google Shape;232;p37"/>
          <p:cNvSpPr txBox="1">
            <a:spLocks noGrp="1"/>
          </p:cNvSpPr>
          <p:nvPr>
            <p:ph type="body" idx="1"/>
          </p:nvPr>
        </p:nvSpPr>
        <p:spPr>
          <a:xfrm>
            <a:off x="729450" y="2320025"/>
            <a:ext cx="7688700" cy="1320600"/>
          </a:xfrm>
          <a:prstGeom prst="rect">
            <a:avLst/>
          </a:prstGeom>
        </p:spPr>
        <p:txBody>
          <a:bodyPr spcFirstLastPara="1" wrap="square" lIns="91425" tIns="91425" rIns="91425" bIns="91425" anchor="t" anchorCtr="0">
            <a:normAutofit/>
          </a:bodyPr>
          <a:lstStyle/>
          <a:p>
            <a:pPr marL="457200" lvl="0" indent="0" algn="ctr" rtl="0">
              <a:lnSpc>
                <a:spcPct val="100000"/>
              </a:lnSpc>
              <a:spcBef>
                <a:spcPts val="0"/>
              </a:spcBef>
              <a:spcAft>
                <a:spcPts val="0"/>
              </a:spcAft>
              <a:buNone/>
            </a:pPr>
            <a:r>
              <a:rPr lang="en" sz="2900">
                <a:solidFill>
                  <a:srgbClr val="000000"/>
                </a:solidFill>
                <a:latin typeface="Calibri"/>
                <a:ea typeface="Calibri"/>
                <a:cs typeface="Calibri"/>
                <a:sym typeface="Calibri"/>
              </a:rPr>
              <a:t>Thank you !</a:t>
            </a:r>
            <a:endParaRPr sz="2900">
              <a:solidFill>
                <a:srgbClr val="00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1793</Words>
  <Application>Microsoft Office PowerPoint</Application>
  <PresentationFormat>On-screen Show (16:9)</PresentationFormat>
  <Paragraphs>167</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Raleway</vt:lpstr>
      <vt:lpstr>Arial</vt:lpstr>
      <vt:lpstr>Lato</vt:lpstr>
      <vt:lpstr>Calibri</vt:lpstr>
      <vt:lpstr>Streamline</vt:lpstr>
      <vt:lpstr>Software Quality Assurance HNDIT-4022</vt:lpstr>
      <vt:lpstr>Software Verification Vs Validation</vt:lpstr>
      <vt:lpstr>Software Verification Vs Validation</vt:lpstr>
      <vt:lpstr>Software Verification Vs Validation…</vt:lpstr>
      <vt:lpstr>Software Verification Vs Validation…</vt:lpstr>
      <vt:lpstr>What is Static Testing?</vt:lpstr>
      <vt:lpstr>What is Static Testing?...</vt:lpstr>
      <vt:lpstr>Why Static Testing?</vt:lpstr>
      <vt:lpstr>When to Perform Static Testing?</vt:lpstr>
      <vt:lpstr>Objectives of Static Testing</vt:lpstr>
      <vt:lpstr>What is Subject to Static Testing?</vt:lpstr>
      <vt:lpstr>Static Testing Techniques</vt:lpstr>
      <vt:lpstr>Static Testing Techniques…</vt:lpstr>
      <vt:lpstr>Benefits of Static Testing</vt:lpstr>
      <vt:lpstr>Type of Static Testing</vt:lpstr>
      <vt:lpstr>Manual Method of Static Testing</vt:lpstr>
      <vt:lpstr>Automation Method of Static Testing</vt:lpstr>
      <vt:lpstr>Automation Method of Static Testing…</vt:lpstr>
      <vt:lpstr>Tools Used for Static Testing</vt:lpstr>
      <vt:lpstr>What is Tested in Static Testing?</vt:lpstr>
      <vt:lpstr>How Static Testing is Performed?</vt:lpstr>
      <vt:lpstr>Advantages of Software Review</vt:lpstr>
      <vt:lpstr>Activity:</vt:lpstr>
      <vt:lpstr>Q&amp;A’s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Quality Assurance HNDIT-4022</dc:title>
  <dc:creator>Ewis</dc:creator>
  <cp:lastModifiedBy>Ewis</cp:lastModifiedBy>
  <cp:revision>4</cp:revision>
  <dcterms:modified xsi:type="dcterms:W3CDTF">2025-03-10T04:06:44Z</dcterms:modified>
</cp:coreProperties>
</file>