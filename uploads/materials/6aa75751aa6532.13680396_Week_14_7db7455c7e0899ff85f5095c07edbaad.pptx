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Nunito"/>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Nunito-regular.fntdata"/><Relationship Id="rId21" Type="http://schemas.openxmlformats.org/officeDocument/2006/relationships/font" Target="fonts/Raleway-boldItalic.fntdata"/><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Nunito-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595959"/>
                </a:solidFill>
                <a:latin typeface="Lato"/>
                <a:ea typeface="Lato"/>
                <a:cs typeface="Lato"/>
                <a:sym typeface="Lato"/>
              </a:rPr>
              <a:t>The easiest way to organize a test environment is through automation.</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The test environment is used by the testing teams to test the software, identify the bugs, and find a possible fix for the bugs.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A test environment is used to check the quality of the software and the impact of the application before release.</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It enables the tester to check the different parts of the application using different configurations and data setups.</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098e27d8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098e27d8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273239"/>
                </a:solidFill>
                <a:highlight>
                  <a:srgbClr val="FFFFFF"/>
                </a:highlight>
                <a:latin typeface="Nunito"/>
                <a:ea typeface="Nunito"/>
                <a:cs typeface="Nunito"/>
                <a:sym typeface="Nunito"/>
              </a:rPr>
              <a:t>Types of Test Environment</a:t>
            </a:r>
            <a:endParaRPr b="1" sz="1800">
              <a:solidFill>
                <a:srgbClr val="273239"/>
              </a:solidFill>
              <a:highlight>
                <a:srgbClr val="FFFFFF"/>
              </a:highlight>
              <a:latin typeface="Nunito"/>
              <a:ea typeface="Nunito"/>
              <a:cs typeface="Nunito"/>
              <a:sym typeface="Nunito"/>
            </a:endParaRPr>
          </a:p>
          <a:p>
            <a:pPr indent="0" lvl="0" marL="0" rtl="0" algn="l">
              <a:lnSpc>
                <a:spcPct val="115000"/>
              </a:lnSpc>
              <a:spcBef>
                <a:spcPts val="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Below are the different types of test environments:</a:t>
            </a:r>
            <a:endParaRPr sz="1350">
              <a:solidFill>
                <a:srgbClr val="273239"/>
              </a:solidFill>
              <a:highlight>
                <a:srgbClr val="FFFFFF"/>
              </a:highlight>
              <a:latin typeface="Nunito"/>
              <a:ea typeface="Nunito"/>
              <a:cs typeface="Nunito"/>
              <a:sym typeface="Nunito"/>
            </a:endParaRPr>
          </a:p>
          <a:p>
            <a:pPr indent="-314325" lvl="0" marL="4572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Integration Test Environment: </a:t>
            </a:r>
            <a:r>
              <a:rPr lang="en" sz="1350">
                <a:solidFill>
                  <a:srgbClr val="273239"/>
                </a:solidFill>
                <a:highlight>
                  <a:srgbClr val="FFFFFF"/>
                </a:highlight>
                <a:latin typeface="Nunito"/>
                <a:ea typeface="Nunito"/>
                <a:cs typeface="Nunito"/>
                <a:sym typeface="Nunito"/>
              </a:rPr>
              <a:t>In this environment, software modules are integrated, and integrated behavior is verified. In this environment, one, two, or many modules can be integrated, and functional testing can be used to verify the behavior and correctness of the application. It should imitate the production environment closely. </a:t>
            </a:r>
            <a:endParaRPr sz="1350">
              <a:solidFill>
                <a:srgbClr val="273239"/>
              </a:solidFill>
              <a:highlight>
                <a:srgbClr val="FFFFFF"/>
              </a:highlight>
              <a:latin typeface="Nunito"/>
              <a:ea typeface="Nunito"/>
              <a:cs typeface="Nunito"/>
              <a:sym typeface="Nunito"/>
            </a:endParaRPr>
          </a:p>
          <a:p>
            <a:pPr indent="-314325" lvl="0" marL="4572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Performance Test Environment: The performance</a:t>
            </a:r>
            <a:r>
              <a:rPr lang="en" sz="1350">
                <a:solidFill>
                  <a:srgbClr val="273239"/>
                </a:solidFill>
                <a:highlight>
                  <a:srgbClr val="FFFFFF"/>
                </a:highlight>
                <a:latin typeface="Nunito"/>
                <a:ea typeface="Nunito"/>
                <a:cs typeface="Nunito"/>
                <a:sym typeface="Nunito"/>
              </a:rPr>
              <a:t> environment tells how well a system will perform based on goals like throughput, stability, response time, etc. The setup here is quite complex as it requires very selective choice and infrastructure configuration. Performance testing needs to be run in different environments with distinct configurations by varying the size of RAM, the volume of data, etc. Performance testing is time-consuming and expensive.</a:t>
            </a:r>
            <a:endParaRPr sz="1350">
              <a:solidFill>
                <a:srgbClr val="273239"/>
              </a:solidFill>
              <a:highlight>
                <a:srgbClr val="FFFFFF"/>
              </a:highlight>
              <a:latin typeface="Nunito"/>
              <a:ea typeface="Nunito"/>
              <a:cs typeface="Nunito"/>
              <a:sym typeface="Nunito"/>
            </a:endParaRPr>
          </a:p>
          <a:p>
            <a:pPr indent="-314325" lvl="0" marL="4572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Security Test Environment: </a:t>
            </a:r>
            <a:r>
              <a:rPr lang="en" sz="1350">
                <a:solidFill>
                  <a:srgbClr val="273239"/>
                </a:solidFill>
                <a:highlight>
                  <a:srgbClr val="FFFFFF"/>
                </a:highlight>
                <a:latin typeface="Nunito"/>
                <a:ea typeface="Nunito"/>
                <a:cs typeface="Nunito"/>
                <a:sym typeface="Nunito"/>
              </a:rPr>
              <a:t>While using a security test environment, the testing team tries to ensure that the software is free of security flaws in confidentiality, integrity, and authenticity. Setting up a secure testing environment requires ensuring that the system is not left unattended, there is an isolated test environment, not touching the production data. </a:t>
            </a:r>
            <a:endParaRPr sz="1350">
              <a:solidFill>
                <a:srgbClr val="273239"/>
              </a:solidFill>
              <a:highlight>
                <a:srgbClr val="FFFFFF"/>
              </a:highlight>
              <a:latin typeface="Nunito"/>
              <a:ea typeface="Nunito"/>
              <a:cs typeface="Nunito"/>
              <a:sym typeface="Nunito"/>
            </a:endParaRPr>
          </a:p>
          <a:p>
            <a:pPr indent="-314325" lvl="0" marL="4572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Chaos Test Environment: </a:t>
            </a:r>
            <a:r>
              <a:rPr lang="en" sz="1350">
                <a:solidFill>
                  <a:srgbClr val="273239"/>
                </a:solidFill>
                <a:highlight>
                  <a:srgbClr val="FFFFFF"/>
                </a:highlight>
                <a:latin typeface="Nunito"/>
                <a:ea typeface="Nunito"/>
                <a:cs typeface="Nunito"/>
                <a:sym typeface="Nunito"/>
              </a:rPr>
              <a:t>Here the main aim is to find a specific area that can cause the application to fail before the application can lead to negative user feedback. After identifying the area, the tester tries to fix it.</a:t>
            </a:r>
            <a:endParaRPr sz="1350">
              <a:solidFill>
                <a:srgbClr val="273239"/>
              </a:solidFill>
              <a:highlight>
                <a:srgbClr val="FFFFFF"/>
              </a:highlight>
              <a:latin typeface="Nunito"/>
              <a:ea typeface="Nunito"/>
              <a:cs typeface="Nunito"/>
              <a:sym typeface="Nunito"/>
            </a:endParaRPr>
          </a:p>
          <a:p>
            <a:pPr indent="0" lvl="0" marL="457200" rtl="0" algn="l">
              <a:lnSpc>
                <a:spcPct val="115000"/>
              </a:lnSpc>
              <a:spcBef>
                <a:spcPts val="180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098e27d8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7098e27d8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Database: </a:t>
            </a:r>
            <a:r>
              <a:rPr lang="en" sz="1350">
                <a:solidFill>
                  <a:srgbClr val="273239"/>
                </a:solidFill>
                <a:highlight>
                  <a:srgbClr val="FFFFFF"/>
                </a:highlight>
                <a:latin typeface="Nunito"/>
                <a:ea typeface="Nunito"/>
                <a:cs typeface="Nunito"/>
                <a:sym typeface="Nunito"/>
              </a:rPr>
              <a:t>This is one of the most important software applications to be present in the test environment. It can be client-server, mobile, application, or any other. The database is needed at every part of the backend.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Operating System: </a:t>
            </a:r>
            <a:r>
              <a:rPr lang="en" sz="1350">
                <a:solidFill>
                  <a:srgbClr val="273239"/>
                </a:solidFill>
                <a:highlight>
                  <a:srgbClr val="FFFFFF"/>
                </a:highlight>
                <a:latin typeface="Nunito"/>
                <a:ea typeface="Nunito"/>
                <a:cs typeface="Nunito"/>
                <a:sym typeface="Nunito"/>
              </a:rPr>
              <a:t>This is the program that is loaded into the system and manages every application on the system. This includes the Client operating system and server operating system.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Network protocol: </a:t>
            </a:r>
            <a:r>
              <a:rPr lang="en" sz="1350">
                <a:solidFill>
                  <a:srgbClr val="273239"/>
                </a:solidFill>
                <a:highlight>
                  <a:srgbClr val="FFFFFF"/>
                </a:highlight>
                <a:latin typeface="Nunito"/>
                <a:ea typeface="Nunito"/>
                <a:cs typeface="Nunito"/>
                <a:sym typeface="Nunito"/>
              </a:rPr>
              <a:t>These are the network configurations required by the software, that need to be set up according to the requirements of the application. Different applications have different requirements like wireless networks, LAN, or private networks for testing. </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Test Data: </a:t>
            </a:r>
            <a:r>
              <a:rPr lang="en" sz="1350">
                <a:solidFill>
                  <a:srgbClr val="273239"/>
                </a:solidFill>
                <a:highlight>
                  <a:srgbClr val="FFFFFF"/>
                </a:highlight>
                <a:latin typeface="Nunito"/>
                <a:ea typeface="Nunito"/>
                <a:cs typeface="Nunito"/>
                <a:sym typeface="Nunito"/>
              </a:rPr>
              <a:t>This is also one of the most important elements. Complete, accurate, and consistent test data is very important for testers to design effective test cases.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Manual testers: </a:t>
            </a:r>
            <a:r>
              <a:rPr lang="en" sz="1350">
                <a:solidFill>
                  <a:srgbClr val="273239"/>
                </a:solidFill>
                <a:highlight>
                  <a:srgbClr val="FFFFFF"/>
                </a:highlight>
                <a:latin typeface="Nunito"/>
                <a:ea typeface="Nunito"/>
                <a:cs typeface="Nunito"/>
                <a:sym typeface="Nunito"/>
              </a:rPr>
              <a:t>Manual testers will check the application quality and conduct the test cases manually. </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Automation testers: </a:t>
            </a:r>
            <a:r>
              <a:rPr lang="en" sz="1350">
                <a:solidFill>
                  <a:srgbClr val="273239"/>
                </a:solidFill>
                <a:highlight>
                  <a:srgbClr val="FFFFFF"/>
                </a:highlight>
                <a:latin typeface="Nunito"/>
                <a:ea typeface="Nunito"/>
                <a:cs typeface="Nunito"/>
                <a:sym typeface="Nunito"/>
              </a:rPr>
              <a:t>These are the developers working on programming, designing, and testing any new or existing software. They use automated testing tools to automate the test case generation and execution. </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Documentation: </a:t>
            </a:r>
            <a:r>
              <a:rPr lang="en" sz="1350">
                <a:solidFill>
                  <a:srgbClr val="273239"/>
                </a:solidFill>
                <a:highlight>
                  <a:srgbClr val="FFFFFF"/>
                </a:highlight>
                <a:latin typeface="Nunito"/>
                <a:ea typeface="Nunito"/>
                <a:cs typeface="Nunito"/>
                <a:sym typeface="Nunito"/>
              </a:rPr>
              <a:t>Documentation like configuration guides, installation guides, and user manuals are required to understand the system and design appropriate test cases.</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e10c7e685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e10c7e685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Test Server: Every application that is tested may not be tested on the local machine. It may require setting up a test server. For example, Java-based applications, Fedora setup, etc.</a:t>
            </a:r>
            <a:endParaRPr sz="1800">
              <a:solidFill>
                <a:srgbClr val="595959"/>
              </a:solidFill>
              <a:latin typeface="Lato"/>
              <a:ea typeface="Lato"/>
              <a:cs typeface="Lato"/>
              <a:sym typeface="Lato"/>
            </a:endParaRPr>
          </a:p>
          <a:p>
            <a:pPr indent="-342900" lvl="0" marL="457200" rtl="0" algn="l">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Network: A network setup like LAN, CAN, or any wireless medium to fulfill the requirement of the internet. It ensures that the congestion during testing does not affect other members of the team like developers, designers, etc.</a:t>
            </a:r>
            <a:endParaRPr sz="1800">
              <a:solidFill>
                <a:srgbClr val="595959"/>
              </a:solidFill>
              <a:latin typeface="Lato"/>
              <a:ea typeface="Lato"/>
              <a:cs typeface="Lato"/>
              <a:sym typeface="Lato"/>
            </a:endParaRPr>
          </a:p>
          <a:p>
            <a:pPr indent="-342900" lvl="0" marL="457200" rtl="0" algn="l">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PC setup: PC setup may include setting up different browsers for different testers or different OS for different testers.</a:t>
            </a:r>
            <a:endParaRPr sz="1800">
              <a:solidFill>
                <a:srgbClr val="595959"/>
              </a:solidFill>
              <a:latin typeface="Lato"/>
              <a:ea typeface="Lato"/>
              <a:cs typeface="Lato"/>
              <a:sym typeface="Lato"/>
            </a:endParaRPr>
          </a:p>
          <a:p>
            <a:pPr indent="-342900" lvl="0" marL="457200" rtl="0" algn="l">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Bug Reporting: A bug reporting tool should be included in the test environment for bug reporting.</a:t>
            </a:r>
            <a:endParaRPr sz="1800">
              <a:solidFill>
                <a:srgbClr val="595959"/>
              </a:solidFill>
              <a:latin typeface="Lato"/>
              <a:ea typeface="Lato"/>
              <a:cs typeface="Lato"/>
              <a:sym typeface="Lato"/>
            </a:endParaRPr>
          </a:p>
          <a:p>
            <a:pPr indent="-342900" lvl="0" marL="457200" rtl="0" algn="l">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Test Tool: A test tool setup to perform automation testing.</a:t>
            </a:r>
            <a:endParaRPr sz="1800">
              <a:solidFill>
                <a:srgbClr val="595959"/>
              </a:solidFill>
              <a:latin typeface="Lato"/>
              <a:ea typeface="Lato"/>
              <a:cs typeface="Lato"/>
              <a:sym typeface="Lato"/>
            </a:endParaRPr>
          </a:p>
          <a:p>
            <a:pPr indent="-342900" lvl="0" marL="457200" rtl="0" algn="l">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Test Data: The common approach is to copy the production data to test. This helps the tester to detect the same issues without corrupting the production data. Privacy is the main concern in using production data. To overcome it look into obfuscated and anonymized test data.</a:t>
            </a:r>
            <a:endParaRPr sz="1800">
              <a:solidFill>
                <a:srgbClr val="595959"/>
              </a:solidFill>
              <a:latin typeface="Lato"/>
              <a:ea typeface="Lato"/>
              <a:cs typeface="Lato"/>
              <a:sym typeface="Lato"/>
            </a:endParaRPr>
          </a:p>
          <a:p>
            <a:pPr indent="0" lvl="0" marL="457200" rtl="0" algn="l">
              <a:spcBef>
                <a:spcPts val="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7270ad76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7270ad76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7270ad764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7270ad764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270ad764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7270ad764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270ad764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270ad764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270ad764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7270ad764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7270ad764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7270ad764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Software Testing </a:t>
            </a:r>
            <a:r>
              <a:rPr b="1" lang="en" sz="2100">
                <a:solidFill>
                  <a:srgbClr val="38761D"/>
                </a:solidFill>
              </a:rPr>
              <a:t>Environment</a:t>
            </a:r>
            <a:r>
              <a:rPr b="1" lang="en" sz="2100">
                <a:solidFill>
                  <a:srgbClr val="38761D"/>
                </a:solidFill>
              </a:rPr>
              <a:t> </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a Test Environment?</a:t>
            </a:r>
            <a:endParaRPr sz="2540"/>
          </a:p>
        </p:txBody>
      </p:sp>
      <p:sp>
        <p:nvSpPr>
          <p:cNvPr id="99" name="Google Shape;99;p15"/>
          <p:cNvSpPr txBox="1"/>
          <p:nvPr>
            <p:ph idx="1" type="body"/>
          </p:nvPr>
        </p:nvSpPr>
        <p:spPr>
          <a:xfrm>
            <a:off x="729450" y="1240675"/>
            <a:ext cx="7688700" cy="9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The test environment is the hardware and software set up for the testing teams to run test cases. </a:t>
            </a:r>
            <a:endParaRPr sz="1800"/>
          </a:p>
          <a:p>
            <a:pPr indent="0" lvl="0" marL="0" rtl="0" algn="l">
              <a:spcBef>
                <a:spcPts val="1200"/>
              </a:spcBef>
              <a:spcAft>
                <a:spcPts val="1200"/>
              </a:spcAft>
              <a:buNone/>
            </a:pPr>
            <a:r>
              <a:rPr lang="en" sz="1800"/>
              <a:t>This test environment setup varies from product to product and its configuration completely depends on the application under test requirement.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Types of Test Environment</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05" name="Google Shape;105;p16"/>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Integration Test Environment: </a:t>
            </a:r>
            <a:endParaRPr sz="1800"/>
          </a:p>
          <a:p>
            <a:pPr indent="-342900" lvl="0" marL="457200" rtl="0" algn="l">
              <a:spcBef>
                <a:spcPts val="0"/>
              </a:spcBef>
              <a:spcAft>
                <a:spcPts val="0"/>
              </a:spcAft>
              <a:buSzPts val="1800"/>
              <a:buChar char="●"/>
            </a:pPr>
            <a:r>
              <a:rPr lang="en" sz="1800"/>
              <a:t>Performance Test Environment: </a:t>
            </a:r>
            <a:endParaRPr sz="1800"/>
          </a:p>
          <a:p>
            <a:pPr indent="-342900" lvl="0" marL="457200" rtl="0" algn="l">
              <a:spcBef>
                <a:spcPts val="0"/>
              </a:spcBef>
              <a:spcAft>
                <a:spcPts val="0"/>
              </a:spcAft>
              <a:buSzPts val="1800"/>
              <a:buChar char="●"/>
            </a:pPr>
            <a:r>
              <a:rPr lang="en" sz="1800"/>
              <a:t>Security Test Environment: </a:t>
            </a:r>
            <a:endParaRPr sz="1800"/>
          </a:p>
          <a:p>
            <a:pPr indent="-342900" lvl="0" marL="457200" rtl="0" algn="l">
              <a:spcBef>
                <a:spcPts val="0"/>
              </a:spcBef>
              <a:spcAft>
                <a:spcPts val="0"/>
              </a:spcAft>
              <a:buSzPts val="1800"/>
              <a:buChar char="●"/>
            </a:pPr>
            <a:r>
              <a:rPr lang="en" sz="1800"/>
              <a:t>Chaos Test Environment: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Key Areas to Set up Test Environment</a:t>
            </a:r>
            <a:endParaRPr sz="2540"/>
          </a:p>
          <a:p>
            <a:pPr indent="0" lvl="0" marL="0" rtl="0" algn="l">
              <a:spcBef>
                <a:spcPts val="0"/>
              </a:spcBef>
              <a:spcAft>
                <a:spcPts val="0"/>
              </a:spcAft>
              <a:buSzPts val="990"/>
              <a:buNone/>
            </a:pPr>
            <a:r>
              <a:t/>
            </a:r>
            <a:endParaRPr sz="2540"/>
          </a:p>
        </p:txBody>
      </p:sp>
      <p:sp>
        <p:nvSpPr>
          <p:cNvPr id="111" name="Google Shape;111;p17"/>
          <p:cNvSpPr txBox="1"/>
          <p:nvPr/>
        </p:nvSpPr>
        <p:spPr>
          <a:xfrm>
            <a:off x="847500" y="1417400"/>
            <a:ext cx="70140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Database:</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Operating System</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Network protocol</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Test Data</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Manual testers</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Automation testers</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Documentation</a:t>
            </a:r>
            <a:endParaRPr sz="1800">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Process for Setup of Test Environment</a:t>
            </a:r>
            <a:endParaRPr sz="2540"/>
          </a:p>
          <a:p>
            <a:pPr indent="0" lvl="0" marL="0" rtl="0" algn="l">
              <a:spcBef>
                <a:spcPts val="0"/>
              </a:spcBef>
              <a:spcAft>
                <a:spcPts val="0"/>
              </a:spcAft>
              <a:buSzPts val="990"/>
              <a:buNone/>
            </a:pPr>
            <a:r>
              <a:t/>
            </a:r>
            <a:endParaRPr sz="2540"/>
          </a:p>
        </p:txBody>
      </p:sp>
      <p:sp>
        <p:nvSpPr>
          <p:cNvPr id="117" name="Google Shape;117;p18"/>
          <p:cNvSpPr txBox="1"/>
          <p:nvPr/>
        </p:nvSpPr>
        <p:spPr>
          <a:xfrm>
            <a:off x="847500" y="1417400"/>
            <a:ext cx="70140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System admins, developers, and testers are some of the people that are involved in the testing of the application. The test environment involves setting up different areas like:</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Test Server</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Network</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PC setup</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Bug Reporting</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Test Tool</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Test Data</a:t>
            </a:r>
            <a:endParaRPr sz="18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Overview of roles in testing</a:t>
            </a:r>
            <a:endParaRPr sz="2540"/>
          </a:p>
          <a:p>
            <a:pPr indent="0" lvl="0" marL="0" rtl="0" algn="l">
              <a:spcBef>
                <a:spcPts val="0"/>
              </a:spcBef>
              <a:spcAft>
                <a:spcPts val="0"/>
              </a:spcAft>
              <a:buSzPts val="990"/>
              <a:buNone/>
            </a:pPr>
            <a:r>
              <a:t/>
            </a:r>
            <a:endParaRPr sz="2540"/>
          </a:p>
        </p:txBody>
      </p:sp>
      <p:sp>
        <p:nvSpPr>
          <p:cNvPr id="123" name="Google Shape;123;p19"/>
          <p:cNvSpPr txBox="1"/>
          <p:nvPr/>
        </p:nvSpPr>
        <p:spPr>
          <a:xfrm>
            <a:off x="847500" y="1417400"/>
            <a:ext cx="70140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Typically, career in software testing field consists of 7 major roles, based on knowledge and experience :</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Junior Software Tester / QA Engineer.</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Senior Software Tester / Senior QA Engineer.</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Test Architect.</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QA Lead / Test Lead.</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QA Manager / Test Manager.</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Quality Head.</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lang="en" sz="1800">
                <a:solidFill>
                  <a:schemeClr val="accent1"/>
                </a:solidFill>
                <a:latin typeface="Lato"/>
                <a:ea typeface="Lato"/>
                <a:cs typeface="Lato"/>
                <a:sym typeface="Lato"/>
              </a:rPr>
              <a:t>Delivery Head.</a:t>
            </a:r>
            <a:endParaRPr sz="1800">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Overview of roles in testing</a:t>
            </a:r>
            <a:endParaRPr sz="2540"/>
          </a:p>
          <a:p>
            <a:pPr indent="0" lvl="0" marL="0" rtl="0" algn="l">
              <a:spcBef>
                <a:spcPts val="0"/>
              </a:spcBef>
              <a:spcAft>
                <a:spcPts val="0"/>
              </a:spcAft>
              <a:buSzPts val="990"/>
              <a:buNone/>
            </a:pPr>
            <a:r>
              <a:t/>
            </a:r>
            <a:endParaRPr sz="2540"/>
          </a:p>
        </p:txBody>
      </p:sp>
      <p:sp>
        <p:nvSpPr>
          <p:cNvPr id="129" name="Google Shape;129;p20"/>
          <p:cNvSpPr txBox="1"/>
          <p:nvPr/>
        </p:nvSpPr>
        <p:spPr>
          <a:xfrm>
            <a:off x="847500" y="1417400"/>
            <a:ext cx="70140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accent1"/>
              </a:buClr>
              <a:buSzPts val="1800"/>
              <a:buFont typeface="Lato"/>
              <a:buChar char="❏"/>
            </a:pPr>
            <a:r>
              <a:rPr b="1" lang="en" sz="1800">
                <a:solidFill>
                  <a:schemeClr val="accent1"/>
                </a:solidFill>
                <a:latin typeface="Lato"/>
                <a:ea typeface="Lato"/>
                <a:cs typeface="Lato"/>
                <a:sym typeface="Lato"/>
              </a:rPr>
              <a:t>QA Engineer</a:t>
            </a:r>
            <a:endParaRPr b="1" sz="1800">
              <a:solidFill>
                <a:schemeClr val="accent1"/>
              </a:solidFill>
              <a:latin typeface="Lato"/>
              <a:ea typeface="Lato"/>
              <a:cs typeface="Lato"/>
              <a:sym typeface="Lato"/>
            </a:endParaRPr>
          </a:p>
          <a:p>
            <a:pPr indent="0" lvl="0" marL="457200" rtl="0" algn="l">
              <a:spcBef>
                <a:spcPts val="0"/>
              </a:spcBef>
              <a:spcAft>
                <a:spcPts val="0"/>
              </a:spcAft>
              <a:buNone/>
            </a:pPr>
            <a:r>
              <a:rPr lang="en" sz="1800">
                <a:solidFill>
                  <a:schemeClr val="accent1"/>
                </a:solidFill>
                <a:latin typeface="Lato"/>
                <a:ea typeface="Lato"/>
                <a:cs typeface="Lato"/>
                <a:sym typeface="Lato"/>
              </a:rPr>
              <a:t>The Test Engineer role is the principal role in testing and is responsible for the core activities of the test effort that involves designing, implementing, executing and evaluating the necessary tests and logging the outcome of that test.</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342900" lvl="0" marL="457200" rtl="0" algn="l">
              <a:spcBef>
                <a:spcPts val="0"/>
              </a:spcBef>
              <a:spcAft>
                <a:spcPts val="0"/>
              </a:spcAft>
              <a:buClr>
                <a:schemeClr val="accent1"/>
              </a:buClr>
              <a:buSzPts val="1800"/>
              <a:buFont typeface="Lato"/>
              <a:buChar char="❏"/>
            </a:pPr>
            <a:r>
              <a:rPr b="1" lang="en" sz="1800">
                <a:solidFill>
                  <a:schemeClr val="accent1"/>
                </a:solidFill>
                <a:latin typeface="Lato"/>
                <a:ea typeface="Lato"/>
                <a:cs typeface="Lato"/>
                <a:sym typeface="Lato"/>
              </a:rPr>
              <a:t>Test Lead</a:t>
            </a:r>
            <a:endParaRPr b="1" sz="1800">
              <a:solidFill>
                <a:schemeClr val="accent1"/>
              </a:solidFill>
              <a:latin typeface="Lato"/>
              <a:ea typeface="Lato"/>
              <a:cs typeface="Lato"/>
              <a:sym typeface="Lato"/>
            </a:endParaRPr>
          </a:p>
          <a:p>
            <a:pPr indent="0" lvl="0" marL="457200" rtl="0" algn="l">
              <a:spcBef>
                <a:spcPts val="0"/>
              </a:spcBef>
              <a:spcAft>
                <a:spcPts val="0"/>
              </a:spcAft>
              <a:buNone/>
            </a:pPr>
            <a:r>
              <a:rPr lang="en" sz="1800">
                <a:solidFill>
                  <a:schemeClr val="accent1"/>
                </a:solidFill>
                <a:latin typeface="Lato"/>
                <a:ea typeface="Lato"/>
                <a:cs typeface="Lato"/>
                <a:sym typeface="Lato"/>
              </a:rPr>
              <a:t>The Test Lead role is primarily responsible for test planning, identifying and defining the required tests, monitoring detailed testing progress, and evaluating the Test Results.</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Overview of roles in testing</a:t>
            </a:r>
            <a:endParaRPr sz="2540"/>
          </a:p>
          <a:p>
            <a:pPr indent="0" lvl="0" marL="0" rtl="0" algn="l">
              <a:spcBef>
                <a:spcPts val="0"/>
              </a:spcBef>
              <a:spcAft>
                <a:spcPts val="0"/>
              </a:spcAft>
              <a:buSzPts val="990"/>
              <a:buNone/>
            </a:pPr>
            <a:r>
              <a:t/>
            </a:r>
            <a:endParaRPr sz="2540"/>
          </a:p>
        </p:txBody>
      </p:sp>
      <p:sp>
        <p:nvSpPr>
          <p:cNvPr id="135" name="Google Shape;135;p21"/>
          <p:cNvSpPr txBox="1"/>
          <p:nvPr/>
        </p:nvSpPr>
        <p:spPr>
          <a:xfrm>
            <a:off x="847500" y="1417400"/>
            <a:ext cx="8081400" cy="429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QA teams help meet clients’ demands and expectations most fully, and this is the reason there are a lot of companies providing QA testing services nowadays.</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The basic QA levels all companies would have are :</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A. QA Tester:</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QA testers are of two types :</a:t>
            </a:r>
            <a:endParaRPr sz="18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Manual QA Engineer :</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Manual QA specialists find bugs in a system by relying on human observation. They make sure that the tests behave exactly as the expectations. Testers are provided with a test plan according to which they write test cases describing an input action and an expected response. QA engineers compare the actual result with the expected result and log a defect if they don’t match. The found defects are then reported via any bug tracking and management tool, e.g., Jira.</a:t>
            </a:r>
            <a:endParaRPr sz="15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b="1" sz="1800">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Overview of roles in testing</a:t>
            </a:r>
            <a:endParaRPr sz="2540"/>
          </a:p>
          <a:p>
            <a:pPr indent="0" lvl="0" marL="0" rtl="0" algn="l">
              <a:spcBef>
                <a:spcPts val="0"/>
              </a:spcBef>
              <a:spcAft>
                <a:spcPts val="0"/>
              </a:spcAft>
              <a:buSzPts val="990"/>
              <a:buNone/>
            </a:pPr>
            <a:r>
              <a:t/>
            </a:r>
            <a:endParaRPr sz="2540"/>
          </a:p>
        </p:txBody>
      </p:sp>
      <p:sp>
        <p:nvSpPr>
          <p:cNvPr id="141" name="Google Shape;141;p22"/>
          <p:cNvSpPr txBox="1"/>
          <p:nvPr/>
        </p:nvSpPr>
        <p:spPr>
          <a:xfrm>
            <a:off x="847500" y="1417400"/>
            <a:ext cx="70140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Automation QA Engineer</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Automation QA engineers have more advanced coding skills than manual QA engineers. With the help of their programming skills, they write scripts to run repetitive tests. They are often called developers in testing. Different automation tools are used with the help of which these QA engineers design and deploy test automation scripts. The ultimate goal is to automate as many of the test cases as possible so that the manual testers do not have to put the effort into running the same test cases on daily basis.</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Overview of roles in testing</a:t>
            </a:r>
            <a:endParaRPr sz="2540"/>
          </a:p>
          <a:p>
            <a:pPr indent="0" lvl="0" marL="0" rtl="0" algn="l">
              <a:spcBef>
                <a:spcPts val="0"/>
              </a:spcBef>
              <a:spcAft>
                <a:spcPts val="0"/>
              </a:spcAft>
              <a:buSzPts val="990"/>
              <a:buNone/>
            </a:pPr>
            <a:r>
              <a:t/>
            </a:r>
            <a:endParaRPr sz="2540"/>
          </a:p>
        </p:txBody>
      </p:sp>
      <p:sp>
        <p:nvSpPr>
          <p:cNvPr id="147" name="Google Shape;147;p23"/>
          <p:cNvSpPr txBox="1"/>
          <p:nvPr/>
        </p:nvSpPr>
        <p:spPr>
          <a:xfrm>
            <a:off x="847500" y="1417400"/>
            <a:ext cx="70140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B. QA Lead</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QA lead is someone who supervises the work of manual and automation QA engineers. The day-to-day responsibilities of a QA lead are :</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Supervising team members,</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Administering outside resources, and</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Designing test programs.</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Prepare Test strategy</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Controlling and planning the testing process.</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800">
                <a:solidFill>
                  <a:schemeClr val="accent1"/>
                </a:solidFill>
                <a:latin typeface="Lato"/>
                <a:ea typeface="Lato"/>
                <a:cs typeface="Lato"/>
                <a:sym typeface="Lato"/>
              </a:rPr>
              <a:t>Representing QA team at meetings across departments</a:t>
            </a:r>
            <a:endParaRPr sz="1800">
              <a:solidFill>
                <a:schemeClr val="accent1"/>
              </a:solidFill>
              <a:latin typeface="Lato"/>
              <a:ea typeface="Lato"/>
              <a:cs typeface="Lato"/>
              <a:sym typeface="Lato"/>
            </a:endParaRPr>
          </a:p>
          <a:p>
            <a:pPr indent="0" lvl="0" marL="0" rtl="0" algn="l">
              <a:spcBef>
                <a:spcPts val="0"/>
              </a:spcBef>
              <a:spcAft>
                <a:spcPts val="0"/>
              </a:spcAft>
              <a:buNone/>
            </a:pPr>
            <a:r>
              <a:t/>
            </a:r>
            <a:endParaRPr sz="1800">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Overview of roles in testing</a:t>
            </a:r>
            <a:endParaRPr sz="2540"/>
          </a:p>
          <a:p>
            <a:pPr indent="0" lvl="0" marL="0" rtl="0" algn="l">
              <a:spcBef>
                <a:spcPts val="0"/>
              </a:spcBef>
              <a:spcAft>
                <a:spcPts val="0"/>
              </a:spcAft>
              <a:buSzPts val="990"/>
              <a:buNone/>
            </a:pPr>
            <a:r>
              <a:t/>
            </a:r>
            <a:endParaRPr sz="2540"/>
          </a:p>
        </p:txBody>
      </p:sp>
      <p:sp>
        <p:nvSpPr>
          <p:cNvPr id="153" name="Google Shape;153;p24"/>
          <p:cNvSpPr txBox="1"/>
          <p:nvPr/>
        </p:nvSpPr>
        <p:spPr>
          <a:xfrm>
            <a:off x="847500" y="1265000"/>
            <a:ext cx="7014000" cy="392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Lato"/>
                <a:ea typeface="Lato"/>
                <a:cs typeface="Lato"/>
                <a:sym typeface="Lato"/>
              </a:rPr>
              <a:t>C. QA Manager</a:t>
            </a:r>
            <a:endParaRPr sz="1800">
              <a:solidFill>
                <a:schemeClr val="accent1"/>
              </a:solidFill>
              <a:latin typeface="Lato"/>
              <a:ea typeface="Lato"/>
              <a:cs typeface="Lato"/>
              <a:sym typeface="Lato"/>
            </a:endParaRPr>
          </a:p>
          <a:p>
            <a:pPr indent="0" lvl="0" marL="0" rtl="0" algn="l">
              <a:spcBef>
                <a:spcPts val="0"/>
              </a:spcBef>
              <a:spcAft>
                <a:spcPts val="0"/>
              </a:spcAft>
              <a:buNone/>
            </a:pPr>
            <a:r>
              <a:rPr lang="en" sz="1500">
                <a:solidFill>
                  <a:schemeClr val="accent1"/>
                </a:solidFill>
                <a:latin typeface="Lato"/>
                <a:ea typeface="Lato"/>
                <a:cs typeface="Lato"/>
                <a:sym typeface="Lato"/>
              </a:rPr>
              <a:t>Quality assurance managers work with other departments as well to establish quality standards. Managers also monitor that the standards are followed against agreed targets.</a:t>
            </a:r>
            <a:endParaRPr sz="1500">
              <a:solidFill>
                <a:schemeClr val="accent1"/>
              </a:solidFill>
              <a:latin typeface="Lato"/>
              <a:ea typeface="Lato"/>
              <a:cs typeface="Lato"/>
              <a:sym typeface="Lato"/>
            </a:endParaRPr>
          </a:p>
          <a:p>
            <a:pPr indent="0" lvl="0" marL="0" rtl="0" algn="l">
              <a:spcBef>
                <a:spcPts val="0"/>
              </a:spcBef>
              <a:spcAft>
                <a:spcPts val="0"/>
              </a:spcAft>
              <a:buNone/>
            </a:pPr>
            <a:r>
              <a:rPr lang="en" sz="1500">
                <a:solidFill>
                  <a:schemeClr val="accent1"/>
                </a:solidFill>
                <a:latin typeface="Lato"/>
                <a:ea typeface="Lato"/>
                <a:cs typeface="Lato"/>
                <a:sym typeface="Lato"/>
              </a:rPr>
              <a:t>Some responsibilities of QA managers are:</a:t>
            </a:r>
            <a:endParaRPr sz="1500">
              <a:solidFill>
                <a:schemeClr val="accent1"/>
              </a:solidFill>
              <a:latin typeface="Lato"/>
              <a:ea typeface="Lato"/>
              <a:cs typeface="Lato"/>
              <a:sym typeface="Lato"/>
            </a:endParaRPr>
          </a:p>
          <a:p>
            <a:pPr indent="0" lvl="0" marL="0" rtl="0" algn="l">
              <a:spcBef>
                <a:spcPts val="0"/>
              </a:spcBef>
              <a:spcAft>
                <a:spcPts val="0"/>
              </a:spcAft>
              <a:buNone/>
            </a:pPr>
            <a:r>
              <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Establish Quality Assurance Procedures</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Ensuring that the customer requirements are met.</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Analyze Production and Quality Control Reports</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Investigating and setting standards for quality, health, and safety</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Ensuring that processes comply with standards at both national and international level</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Writing management and technical reports.</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Determining training needs</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Recording and analyzing statistical information</a:t>
            </a:r>
            <a:endParaRPr sz="1500">
              <a:solidFill>
                <a:schemeClr val="accent1"/>
              </a:solidFill>
              <a:latin typeface="Lato"/>
              <a:ea typeface="Lato"/>
              <a:cs typeface="Lato"/>
              <a:sym typeface="Lato"/>
            </a:endParaRPr>
          </a:p>
          <a:p>
            <a:pPr indent="-323850" lvl="0" marL="457200" rtl="0" algn="l">
              <a:spcBef>
                <a:spcPts val="0"/>
              </a:spcBef>
              <a:spcAft>
                <a:spcPts val="0"/>
              </a:spcAft>
              <a:buClr>
                <a:schemeClr val="accent1"/>
              </a:buClr>
              <a:buSzPts val="1500"/>
              <a:buFont typeface="Lato"/>
              <a:buChar char="●"/>
            </a:pPr>
            <a:r>
              <a:rPr lang="en" sz="1500">
                <a:solidFill>
                  <a:schemeClr val="accent1"/>
                </a:solidFill>
                <a:latin typeface="Lato"/>
                <a:ea typeface="Lato"/>
                <a:cs typeface="Lato"/>
                <a:sym typeface="Lato"/>
              </a:rPr>
              <a:t>Monitoring engineer’s performance.</a:t>
            </a:r>
            <a:endParaRPr sz="15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59" name="Google Shape;159;p25"/>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