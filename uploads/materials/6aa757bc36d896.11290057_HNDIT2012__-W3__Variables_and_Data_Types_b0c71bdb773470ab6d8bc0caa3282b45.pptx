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handoutMasterIdLst>
    <p:handoutMasterId r:id="rId24"/>
  </p:handoutMasterIdLst>
  <p:sldIdLst>
    <p:sldId id="271" r:id="rId2"/>
    <p:sldId id="281" r:id="rId3"/>
    <p:sldId id="272" r:id="rId4"/>
    <p:sldId id="292" r:id="rId5"/>
    <p:sldId id="275" r:id="rId6"/>
    <p:sldId id="257" r:id="rId7"/>
    <p:sldId id="258" r:id="rId8"/>
    <p:sldId id="261" r:id="rId9"/>
    <p:sldId id="263" r:id="rId10"/>
    <p:sldId id="288" r:id="rId11"/>
    <p:sldId id="291" r:id="rId12"/>
    <p:sldId id="298" r:id="rId13"/>
    <p:sldId id="287" r:id="rId14"/>
    <p:sldId id="276" r:id="rId15"/>
    <p:sldId id="282" r:id="rId16"/>
    <p:sldId id="283" r:id="rId17"/>
    <p:sldId id="285" r:id="rId18"/>
    <p:sldId id="284" r:id="rId19"/>
    <p:sldId id="286" r:id="rId20"/>
    <p:sldId id="297" r:id="rId21"/>
    <p:sldId id="29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dirty="0"/>
              <a:t>11/04/2017</a:t>
            </a:r>
          </a:p>
          <a:p>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err="1"/>
              <a:t>Janaka</a:t>
            </a:r>
            <a:r>
              <a:rPr lang="en-US" dirty="0"/>
              <a:t> </a:t>
            </a:r>
            <a:r>
              <a:rPr lang="en-US" dirty="0" err="1"/>
              <a:t>Rajakaruna</a:t>
            </a:r>
            <a:r>
              <a:rPr lang="en-US" dirty="0"/>
              <a:t> –ATI, </a:t>
            </a:r>
            <a:r>
              <a:rPr lang="en-US" dirty="0" err="1"/>
              <a:t>Dehiwala</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BFC821F-4339-4B92-AEB6-D84CDACF305B}" type="slidenum">
              <a:rPr lang="en-US" smtClean="0"/>
              <a:pPr/>
              <a:t>‹#›</a:t>
            </a:fld>
            <a:endParaRPr lang="en-US"/>
          </a:p>
        </p:txBody>
      </p:sp>
    </p:spTree>
    <p:extLst>
      <p:ext uri="{BB962C8B-B14F-4D97-AF65-F5344CB8AC3E}">
        <p14:creationId xmlns:p14="http://schemas.microsoft.com/office/powerpoint/2010/main" val="7819840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7E9F37-919D-456F-AEA3-D529157E982D}" type="datetimeFigureOut">
              <a:rPr lang="en-US" smtClean="0"/>
              <a:pPr/>
              <a:t>3/18/2024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46846D-14DE-4ACD-9A31-875CA359E9EE}" type="slidenum">
              <a:rPr lang="en-US" smtClean="0"/>
              <a:pPr/>
              <a:t>‹#›</a:t>
            </a:fld>
            <a:endParaRPr lang="en-US"/>
          </a:p>
        </p:txBody>
      </p:sp>
    </p:spTree>
    <p:extLst>
      <p:ext uri="{BB962C8B-B14F-4D97-AF65-F5344CB8AC3E}">
        <p14:creationId xmlns:p14="http://schemas.microsoft.com/office/powerpoint/2010/main" val="1411717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46846D-14DE-4ACD-9A31-875CA359E9EE}" type="slidenum">
              <a:rPr lang="en-US" smtClean="0"/>
              <a:pPr/>
              <a:t>5</a:t>
            </a:fld>
            <a:endParaRPr lang="en-US"/>
          </a:p>
        </p:txBody>
      </p:sp>
    </p:spTree>
    <p:extLst>
      <p:ext uri="{BB962C8B-B14F-4D97-AF65-F5344CB8AC3E}">
        <p14:creationId xmlns:p14="http://schemas.microsoft.com/office/powerpoint/2010/main" val="1464357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46846D-14DE-4ACD-9A31-875CA359E9EE}" type="slidenum">
              <a:rPr lang="en-US" smtClean="0"/>
              <a:pPr/>
              <a:t>6</a:t>
            </a:fld>
            <a:endParaRPr lang="en-US"/>
          </a:p>
        </p:txBody>
      </p:sp>
    </p:spTree>
    <p:extLst>
      <p:ext uri="{BB962C8B-B14F-4D97-AF65-F5344CB8AC3E}">
        <p14:creationId xmlns:p14="http://schemas.microsoft.com/office/powerpoint/2010/main" val="3329682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Variables and Data Types </a:t>
            </a:r>
          </a:p>
        </p:txBody>
      </p:sp>
      <p:sp>
        <p:nvSpPr>
          <p:cNvPr id="2" name="Title 1"/>
          <p:cNvSpPr>
            <a:spLocks noGrp="1"/>
          </p:cNvSpPr>
          <p:nvPr>
            <p:ph type="ctrTitle"/>
          </p:nvPr>
        </p:nvSpPr>
        <p:spPr/>
        <p:txBody>
          <a:bodyPr>
            <a:normAutofit fontScale="90000"/>
          </a:bodyPr>
          <a:lstStyle/>
          <a:p>
            <a:r>
              <a:rPr lang="en-US" sz="4400" dirty="0"/>
              <a:t>HNDIT2012 Fundamentals of Computer Programming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 </a:t>
            </a:r>
          </a:p>
        </p:txBody>
      </p:sp>
      <p:sp>
        <p:nvSpPr>
          <p:cNvPr id="3" name="Content Placeholder 2"/>
          <p:cNvSpPr>
            <a:spLocks noGrp="1"/>
          </p:cNvSpPr>
          <p:nvPr>
            <p:ph idx="1"/>
          </p:nvPr>
        </p:nvSpPr>
        <p:spPr/>
        <p:txBody>
          <a:bodyPr/>
          <a:lstStyle/>
          <a:p>
            <a:r>
              <a:rPr lang="en-US" dirty="0"/>
              <a:t>Key word – special reserved word which is having a meaning to compiler. So key words cant be used for identifiers</a:t>
            </a:r>
          </a:p>
          <a:p>
            <a:r>
              <a:rPr lang="en-US" dirty="0"/>
              <a:t>Identifiers - word used by a programmer to name a variable, method, class or label</a:t>
            </a:r>
          </a:p>
        </p:txBody>
      </p:sp>
    </p:spTree>
    <p:extLst>
      <p:ext uri="{BB962C8B-B14F-4D97-AF65-F5344CB8AC3E}">
        <p14:creationId xmlns:p14="http://schemas.microsoft.com/office/powerpoint/2010/main" val="1054930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0" dirty="0"/>
              <a:t>Variable</a:t>
            </a:r>
            <a:endParaRPr lang="en-US" dirty="0"/>
          </a:p>
        </p:txBody>
      </p:sp>
      <p:sp>
        <p:nvSpPr>
          <p:cNvPr id="2" name="Content Placeholder 1"/>
          <p:cNvSpPr>
            <a:spLocks noGrp="1"/>
          </p:cNvSpPr>
          <p:nvPr>
            <p:ph idx="1"/>
          </p:nvPr>
        </p:nvSpPr>
        <p:spPr>
          <a:xfrm>
            <a:off x="533400" y="1600200"/>
            <a:ext cx="8229600" cy="4221163"/>
          </a:xfrm>
        </p:spPr>
        <p:txBody>
          <a:bodyPr/>
          <a:lstStyle/>
          <a:p>
            <a:r>
              <a:rPr lang="en-US" dirty="0"/>
              <a:t>Variable is a location in computer memory which can hold data.</a:t>
            </a:r>
          </a:p>
        </p:txBody>
      </p:sp>
      <p:pic>
        <p:nvPicPr>
          <p:cNvPr id="1026" name="Picture 2" descr="variable in java"/>
          <p:cNvPicPr>
            <a:picLocks noChangeAspect="1" noChangeArrowheads="1"/>
          </p:cNvPicPr>
          <p:nvPr/>
        </p:nvPicPr>
        <p:blipFill>
          <a:blip r:embed="rId2" cstate="print"/>
          <a:srcRect/>
          <a:stretch>
            <a:fillRect/>
          </a:stretch>
        </p:blipFill>
        <p:spPr bwMode="auto">
          <a:xfrm>
            <a:off x="2209800" y="2743200"/>
            <a:ext cx="6076188" cy="41148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a:t>
            </a:r>
          </a:p>
        </p:txBody>
      </p:sp>
      <p:sp>
        <p:nvSpPr>
          <p:cNvPr id="3" name="Content Placeholder 2"/>
          <p:cNvSpPr>
            <a:spLocks noGrp="1"/>
          </p:cNvSpPr>
          <p:nvPr>
            <p:ph idx="1"/>
          </p:nvPr>
        </p:nvSpPr>
        <p:spPr/>
        <p:txBody>
          <a:bodyPr/>
          <a:lstStyle/>
          <a:p>
            <a:pPr algn="just"/>
            <a:r>
              <a:rPr lang="en-US" dirty="0"/>
              <a:t>Classification of data (value of a variable ) which tells the compiler or interpreter how the programmer intends to use the data. </a:t>
            </a:r>
          </a:p>
        </p:txBody>
      </p:sp>
    </p:spTree>
    <p:extLst>
      <p:ext uri="{BB962C8B-B14F-4D97-AF65-F5344CB8AC3E}">
        <p14:creationId xmlns:p14="http://schemas.microsoft.com/office/powerpoint/2010/main" val="302633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endParaRPr lang="en-US"/>
          </a:p>
        </p:txBody>
      </p:sp>
      <p:pic>
        <p:nvPicPr>
          <p:cNvPr id="30722" name="Picture 2" descr="datatype in java"/>
          <p:cNvPicPr>
            <a:picLocks noChangeAspect="1" noChangeArrowheads="1"/>
          </p:cNvPicPr>
          <p:nvPr/>
        </p:nvPicPr>
        <p:blipFill>
          <a:blip r:embed="rId3" cstate="print"/>
          <a:srcRect/>
          <a:stretch>
            <a:fillRect/>
          </a:stretch>
        </p:blipFill>
        <p:spPr bwMode="auto">
          <a:xfrm>
            <a:off x="0" y="-156373"/>
            <a:ext cx="9144000" cy="701437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Primitive data types</a:t>
            </a:r>
            <a:endParaRPr lang="en-US" dirty="0"/>
          </a:p>
        </p:txBody>
      </p:sp>
      <p:sp>
        <p:nvSpPr>
          <p:cNvPr id="3" name="Content Placeholder 2"/>
          <p:cNvSpPr>
            <a:spLocks noGrp="1"/>
          </p:cNvSpPr>
          <p:nvPr>
            <p:ph idx="1"/>
          </p:nvPr>
        </p:nvSpPr>
        <p:spPr>
          <a:xfrm>
            <a:off x="457200" y="1481328"/>
            <a:ext cx="8534400" cy="5148072"/>
          </a:xfrm>
        </p:spPr>
        <p:txBody>
          <a:bodyPr>
            <a:noAutofit/>
          </a:bodyPr>
          <a:lstStyle/>
          <a:p>
            <a:r>
              <a:rPr lang="en-US" sz="2400" b="1" dirty="0"/>
              <a:t>byte</a:t>
            </a:r>
            <a:r>
              <a:rPr lang="en-US" sz="2400" dirty="0"/>
              <a:t>: </a:t>
            </a:r>
          </a:p>
          <a:p>
            <a:pPr lvl="1"/>
            <a:r>
              <a:rPr lang="en-US" sz="2400" dirty="0"/>
              <a:t>8-bit signed two's complement integer</a:t>
            </a:r>
          </a:p>
          <a:p>
            <a:pPr lvl="1"/>
            <a:r>
              <a:rPr lang="en-US" sz="2400" dirty="0"/>
              <a:t>-128 to 127 (inclusive)</a:t>
            </a:r>
          </a:p>
          <a:p>
            <a:pPr lvl="1"/>
            <a:r>
              <a:rPr lang="en-US" sz="2400" dirty="0"/>
              <a:t>Default value is 0.</a:t>
            </a:r>
          </a:p>
          <a:p>
            <a:pPr lvl="0"/>
            <a:r>
              <a:rPr lang="en-US" sz="2400" b="1" dirty="0"/>
              <a:t>short</a:t>
            </a:r>
            <a:r>
              <a:rPr lang="en-US" sz="2400" dirty="0"/>
              <a:t>: </a:t>
            </a:r>
          </a:p>
          <a:p>
            <a:pPr lvl="1"/>
            <a:r>
              <a:rPr lang="en-US" sz="2400" dirty="0"/>
              <a:t>16-bit signed two's complement integer</a:t>
            </a:r>
          </a:p>
          <a:p>
            <a:pPr lvl="1"/>
            <a:r>
              <a:rPr lang="en-US" sz="2400" dirty="0"/>
              <a:t>-32,768 to 32,767 (inclusive)</a:t>
            </a:r>
          </a:p>
          <a:p>
            <a:pPr lvl="1"/>
            <a:r>
              <a:rPr lang="en-US" sz="2400" dirty="0"/>
              <a:t>Default value is 0.</a:t>
            </a:r>
          </a:p>
          <a:p>
            <a:pPr lvl="0"/>
            <a:r>
              <a:rPr lang="en-US" sz="2400" b="1" dirty="0" err="1"/>
              <a:t>int</a:t>
            </a:r>
            <a:r>
              <a:rPr lang="en-US" sz="2400" dirty="0"/>
              <a:t>: </a:t>
            </a:r>
          </a:p>
          <a:p>
            <a:pPr lvl="1"/>
            <a:r>
              <a:rPr lang="en-US" sz="2400" dirty="0"/>
              <a:t>32-bit signed two's complement integer</a:t>
            </a:r>
          </a:p>
          <a:p>
            <a:pPr lvl="1"/>
            <a:r>
              <a:rPr lang="en-US" sz="2400" dirty="0"/>
              <a:t>-2,147,483,648 to 2,147,483,647 (inclusive)</a:t>
            </a:r>
          </a:p>
          <a:p>
            <a:pPr lvl="1"/>
            <a:r>
              <a:rPr lang="en-US" sz="2400" dirty="0"/>
              <a:t>Default value is 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Primitive data types</a:t>
            </a:r>
          </a:p>
        </p:txBody>
      </p:sp>
      <p:sp>
        <p:nvSpPr>
          <p:cNvPr id="2" name="Content Placeholder 1"/>
          <p:cNvSpPr>
            <a:spLocks noGrp="1"/>
          </p:cNvSpPr>
          <p:nvPr>
            <p:ph idx="1"/>
          </p:nvPr>
        </p:nvSpPr>
        <p:spPr>
          <a:xfrm>
            <a:off x="457200" y="1905000"/>
            <a:ext cx="8229600" cy="4800600"/>
          </a:xfrm>
        </p:spPr>
        <p:txBody>
          <a:bodyPr>
            <a:normAutofit fontScale="77500" lnSpcReduction="20000"/>
          </a:bodyPr>
          <a:lstStyle/>
          <a:p>
            <a:pPr lvl="0"/>
            <a:r>
              <a:rPr lang="en-US" b="1" dirty="0"/>
              <a:t>long</a:t>
            </a:r>
            <a:r>
              <a:rPr lang="en-US" dirty="0"/>
              <a:t>: </a:t>
            </a:r>
          </a:p>
          <a:p>
            <a:pPr lvl="1"/>
            <a:r>
              <a:rPr lang="en-US" dirty="0"/>
              <a:t>64-bit signed two's complement integer</a:t>
            </a:r>
          </a:p>
          <a:p>
            <a:pPr lvl="1"/>
            <a:r>
              <a:rPr lang="en-US" dirty="0"/>
              <a:t>-9,223,372,036,854,775,808 to 9,223,372,036,854,775,807 (inclusive). </a:t>
            </a:r>
          </a:p>
          <a:p>
            <a:pPr lvl="0"/>
            <a:r>
              <a:rPr lang="en-US" b="1" dirty="0"/>
              <a:t>float</a:t>
            </a:r>
            <a:r>
              <a:rPr lang="en-US" dirty="0"/>
              <a:t>: </a:t>
            </a:r>
          </a:p>
          <a:p>
            <a:pPr lvl="1"/>
            <a:r>
              <a:rPr lang="en-US" dirty="0"/>
              <a:t>Single precision 32-bit IEEE 754 floating point.</a:t>
            </a:r>
          </a:p>
          <a:p>
            <a:pPr lvl="0"/>
            <a:r>
              <a:rPr lang="en-US" b="1" dirty="0"/>
              <a:t>double</a:t>
            </a:r>
            <a:r>
              <a:rPr lang="en-US" dirty="0"/>
              <a:t>: </a:t>
            </a:r>
          </a:p>
          <a:p>
            <a:pPr lvl="1"/>
            <a:r>
              <a:rPr lang="en-US" dirty="0"/>
              <a:t>Double precision 64-bit IEEE 754 floating point. </a:t>
            </a:r>
          </a:p>
          <a:p>
            <a:pPr lvl="0"/>
            <a:r>
              <a:rPr lang="en-US" b="1" dirty="0" err="1"/>
              <a:t>boolean</a:t>
            </a:r>
            <a:r>
              <a:rPr lang="en-US" dirty="0"/>
              <a:t>: </a:t>
            </a:r>
          </a:p>
          <a:p>
            <a:pPr lvl="1"/>
            <a:r>
              <a:rPr lang="en-US" dirty="0"/>
              <a:t>Two possible values: true and false</a:t>
            </a:r>
          </a:p>
          <a:p>
            <a:pPr lvl="0"/>
            <a:r>
              <a:rPr lang="en-US" b="1" dirty="0"/>
              <a:t>char</a:t>
            </a:r>
            <a:r>
              <a:rPr lang="en-US" dirty="0"/>
              <a:t>: </a:t>
            </a:r>
          </a:p>
          <a:p>
            <a:pPr lvl="1"/>
            <a:r>
              <a:rPr lang="en-US" dirty="0"/>
              <a:t>Single 16-bit Unicode character</a:t>
            </a:r>
          </a:p>
          <a:p>
            <a:pPr lvl="1"/>
            <a:r>
              <a:rPr lang="en-US" dirty="0"/>
              <a:t>'\u0000' (or 0) to '\</a:t>
            </a:r>
            <a:r>
              <a:rPr lang="en-US" dirty="0" err="1"/>
              <a:t>uffff</a:t>
            </a:r>
            <a:r>
              <a:rPr lang="en-US" dirty="0"/>
              <a:t>' (or 65,535 inclusive).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Creating and Accessing Variables</a:t>
            </a:r>
          </a:p>
        </p:txBody>
      </p:sp>
      <p:sp>
        <p:nvSpPr>
          <p:cNvPr id="2" name="Content Placeholder 1"/>
          <p:cNvSpPr>
            <a:spLocks noGrp="1"/>
          </p:cNvSpPr>
          <p:nvPr>
            <p:ph idx="1"/>
          </p:nvPr>
        </p:nvSpPr>
        <p:spPr/>
        <p:txBody>
          <a:bodyPr/>
          <a:lstStyle/>
          <a:p>
            <a:r>
              <a:rPr lang="en-US" dirty="0" err="1"/>
              <a:t>int</a:t>
            </a:r>
            <a:r>
              <a:rPr lang="en-US" dirty="0"/>
              <a:t> A;</a:t>
            </a:r>
          </a:p>
          <a:p>
            <a:r>
              <a:rPr lang="en-US" dirty="0"/>
              <a:t>A=10;</a:t>
            </a:r>
          </a:p>
          <a:p>
            <a:endParaRPr lang="en-US" dirty="0"/>
          </a:p>
          <a:p>
            <a:r>
              <a:rPr lang="en-US" dirty="0"/>
              <a:t>char B;</a:t>
            </a:r>
          </a:p>
          <a:p>
            <a:r>
              <a:rPr lang="en-US" dirty="0"/>
              <a:t>B=57;</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Variable/Identifier Naming</a:t>
            </a:r>
          </a:p>
        </p:txBody>
      </p:sp>
      <p:sp>
        <p:nvSpPr>
          <p:cNvPr id="2" name="Content Placeholder 1"/>
          <p:cNvSpPr>
            <a:spLocks noGrp="1"/>
          </p:cNvSpPr>
          <p:nvPr>
            <p:ph idx="1"/>
          </p:nvPr>
        </p:nvSpPr>
        <p:spPr>
          <a:xfrm>
            <a:off x="457200" y="1905000"/>
            <a:ext cx="8229600" cy="4572000"/>
          </a:xfrm>
        </p:spPr>
        <p:txBody>
          <a:bodyPr>
            <a:normAutofit fontScale="92500" lnSpcReduction="10000"/>
          </a:bodyPr>
          <a:lstStyle/>
          <a:p>
            <a:r>
              <a:rPr lang="en-US" dirty="0"/>
              <a:t>Java keywords cant be used as variable names</a:t>
            </a:r>
          </a:p>
          <a:p>
            <a:r>
              <a:rPr lang="en-US" dirty="0"/>
              <a:t>Variable names are case sensitive</a:t>
            </a:r>
          </a:p>
          <a:p>
            <a:r>
              <a:rPr lang="en-US" dirty="0"/>
              <a:t>All identifiers should begin with a letter (A to Z or a to z), currency character ($),underscore (_)</a:t>
            </a:r>
          </a:p>
          <a:p>
            <a:r>
              <a:rPr lang="en-US" dirty="0"/>
              <a:t>Subsequent characters may be letters, digits, dollar signs, or underscore characters.</a:t>
            </a:r>
          </a:p>
          <a:p>
            <a:pPr lvl="1"/>
            <a:r>
              <a:rPr lang="en-US" dirty="0"/>
              <a:t>legal identifiers: </a:t>
            </a:r>
          </a:p>
          <a:p>
            <a:pPr lvl="2"/>
            <a:r>
              <a:rPr lang="en-US" dirty="0"/>
              <a:t>age, $salary, _value, __1_value</a:t>
            </a:r>
          </a:p>
          <a:p>
            <a:pPr lvl="1"/>
            <a:r>
              <a:rPr lang="en-US" dirty="0" err="1"/>
              <a:t>Iillegal</a:t>
            </a:r>
            <a:r>
              <a:rPr lang="en-US" dirty="0"/>
              <a:t> identifiers: </a:t>
            </a:r>
          </a:p>
          <a:p>
            <a:pPr lvl="2"/>
            <a:r>
              <a:rPr lang="en-US" dirty="0"/>
              <a:t>123abc, -salary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t>Variable declaration</a:t>
            </a:r>
          </a:p>
        </p:txBody>
      </p:sp>
      <p:sp>
        <p:nvSpPr>
          <p:cNvPr id="3" name="Content Placeholder 2"/>
          <p:cNvSpPr>
            <a:spLocks noGrp="1"/>
          </p:cNvSpPr>
          <p:nvPr>
            <p:ph idx="1"/>
          </p:nvPr>
        </p:nvSpPr>
        <p:spPr>
          <a:xfrm>
            <a:off x="477982" y="1295401"/>
            <a:ext cx="8229600" cy="2362199"/>
          </a:xfrm>
        </p:spPr>
        <p:txBody>
          <a:bodyPr>
            <a:normAutofit fontScale="92500"/>
          </a:bodyPr>
          <a:lstStyle/>
          <a:p>
            <a:r>
              <a:rPr lang="en-US" dirty="0"/>
              <a:t>Informing the compiler about the variables that a program is going to use is variable declaration</a:t>
            </a:r>
          </a:p>
          <a:p>
            <a:r>
              <a:rPr lang="en-US" dirty="0"/>
              <a:t>Declaration inform three things </a:t>
            </a:r>
          </a:p>
          <a:p>
            <a:pPr lvl="1"/>
            <a:r>
              <a:rPr lang="en-US" dirty="0"/>
              <a:t>Variable name, Data type and access level</a:t>
            </a:r>
          </a:p>
          <a:p>
            <a:pPr marL="457200" lvl="1" indent="0">
              <a:buNone/>
            </a:pPr>
            <a:endParaRPr lang="en-US" dirty="0"/>
          </a:p>
        </p:txBody>
      </p:sp>
      <p:sp>
        <p:nvSpPr>
          <p:cNvPr id="4" name="Content Placeholder 1"/>
          <p:cNvSpPr txBox="1">
            <a:spLocks/>
          </p:cNvSpPr>
          <p:nvPr/>
        </p:nvSpPr>
        <p:spPr>
          <a:xfrm>
            <a:off x="477982" y="3429000"/>
            <a:ext cx="8229600" cy="12954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i="1" dirty="0"/>
              <a:t>Syntax</a:t>
            </a:r>
          </a:p>
          <a:p>
            <a:pPr>
              <a:defRPr/>
            </a:pPr>
            <a:r>
              <a:rPr lang="en-US" i="1" dirty="0"/>
              <a:t>Type identifier;</a:t>
            </a:r>
          </a:p>
          <a:p>
            <a:pPr>
              <a:defRPr/>
            </a:pPr>
            <a:r>
              <a:rPr lang="en-US" i="1" dirty="0" err="1">
                <a:solidFill>
                  <a:srgbClr val="FF0000"/>
                </a:solidFill>
              </a:rPr>
              <a:t>Access_modifier</a:t>
            </a:r>
            <a:r>
              <a:rPr lang="en-US" i="1" dirty="0">
                <a:solidFill>
                  <a:srgbClr val="FF0000"/>
                </a:solidFill>
              </a:rPr>
              <a:t> </a:t>
            </a:r>
            <a:r>
              <a:rPr lang="en-US" i="1" dirty="0"/>
              <a:t>Type identifier;</a:t>
            </a:r>
          </a:p>
        </p:txBody>
      </p:sp>
      <p:sp>
        <p:nvSpPr>
          <p:cNvPr id="5" name="Content Placeholder 1"/>
          <p:cNvSpPr txBox="1">
            <a:spLocks/>
          </p:cNvSpPr>
          <p:nvPr/>
        </p:nvSpPr>
        <p:spPr>
          <a:xfrm>
            <a:off x="471055" y="4800600"/>
            <a:ext cx="8229600" cy="19050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i="1" dirty="0"/>
              <a:t>Example</a:t>
            </a:r>
          </a:p>
          <a:p>
            <a:pPr marL="0" indent="0">
              <a:buNone/>
            </a:pPr>
            <a:r>
              <a:rPr lang="en-US" dirty="0" err="1"/>
              <a:t>int</a:t>
            </a:r>
            <a:r>
              <a:rPr lang="en-US" dirty="0"/>
              <a:t> a;</a:t>
            </a:r>
          </a:p>
          <a:p>
            <a:pPr marL="0" indent="0">
              <a:buNone/>
            </a:pPr>
            <a:r>
              <a:rPr lang="en-US" dirty="0" err="1"/>
              <a:t>int</a:t>
            </a:r>
            <a:r>
              <a:rPr lang="en-US" dirty="0"/>
              <a:t> a, b, c; // Declares.</a:t>
            </a:r>
          </a:p>
          <a:p>
            <a:pPr marL="0" indent="0">
              <a:buNone/>
            </a:pPr>
            <a:r>
              <a:rPr lang="en-US" dirty="0"/>
              <a:t>private </a:t>
            </a:r>
            <a:r>
              <a:rPr lang="en-US" dirty="0" err="1"/>
              <a:t>int</a:t>
            </a:r>
            <a:r>
              <a:rPr lang="en-US" dirty="0"/>
              <a:t> a; </a:t>
            </a:r>
          </a:p>
        </p:txBody>
      </p:sp>
    </p:spTree>
    <p:extLst>
      <p:ext uri="{BB962C8B-B14F-4D97-AF65-F5344CB8AC3E}">
        <p14:creationId xmlns:p14="http://schemas.microsoft.com/office/powerpoint/2010/main" val="2292033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Variable initialization</a:t>
            </a:r>
          </a:p>
        </p:txBody>
      </p:sp>
      <p:sp>
        <p:nvSpPr>
          <p:cNvPr id="3" name="Content Placeholder 2"/>
          <p:cNvSpPr>
            <a:spLocks noGrp="1"/>
          </p:cNvSpPr>
          <p:nvPr>
            <p:ph idx="1"/>
          </p:nvPr>
        </p:nvSpPr>
        <p:spPr/>
        <p:txBody>
          <a:bodyPr/>
          <a:lstStyle/>
          <a:p>
            <a:r>
              <a:rPr lang="en-US" dirty="0"/>
              <a:t>Initialization</a:t>
            </a:r>
          </a:p>
          <a:p>
            <a:pPr lvl="1"/>
            <a:r>
              <a:rPr lang="en-US" dirty="0"/>
              <a:t>Setting an initial value to a variable</a:t>
            </a:r>
          </a:p>
          <a:p>
            <a:pPr marL="457200" lvl="1" indent="0">
              <a:buNone/>
            </a:pPr>
            <a:endParaRPr lang="en-US" dirty="0"/>
          </a:p>
        </p:txBody>
      </p:sp>
      <p:sp>
        <p:nvSpPr>
          <p:cNvPr id="4" name="Content Placeholder 1"/>
          <p:cNvSpPr txBox="1">
            <a:spLocks/>
          </p:cNvSpPr>
          <p:nvPr/>
        </p:nvSpPr>
        <p:spPr>
          <a:xfrm>
            <a:off x="477982" y="3048000"/>
            <a:ext cx="8229600" cy="12954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i="1" dirty="0"/>
              <a:t>Syntax</a:t>
            </a:r>
          </a:p>
          <a:p>
            <a:pPr>
              <a:defRPr/>
            </a:pPr>
            <a:r>
              <a:rPr lang="en-US" i="1" dirty="0"/>
              <a:t>Type identifier=initial value;</a:t>
            </a:r>
          </a:p>
          <a:p>
            <a:pPr>
              <a:defRPr/>
            </a:pPr>
            <a:r>
              <a:rPr lang="en-US" i="1" dirty="0" err="1"/>
              <a:t>Access_modifier</a:t>
            </a:r>
            <a:r>
              <a:rPr lang="en-US" i="1" dirty="0"/>
              <a:t> Type identifier=initial value;</a:t>
            </a:r>
          </a:p>
          <a:p>
            <a:pPr marL="0" indent="0">
              <a:buNone/>
              <a:defRPr/>
            </a:pPr>
            <a:endParaRPr lang="en-US" i="1" dirty="0"/>
          </a:p>
        </p:txBody>
      </p:sp>
      <p:sp>
        <p:nvSpPr>
          <p:cNvPr id="5" name="Content Placeholder 1"/>
          <p:cNvSpPr txBox="1">
            <a:spLocks/>
          </p:cNvSpPr>
          <p:nvPr/>
        </p:nvSpPr>
        <p:spPr>
          <a:xfrm>
            <a:off x="491837" y="4533900"/>
            <a:ext cx="8229600" cy="15621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i="1" dirty="0"/>
              <a:t>Example</a:t>
            </a:r>
          </a:p>
          <a:p>
            <a:pPr marL="0" indent="0">
              <a:buNone/>
            </a:pPr>
            <a:r>
              <a:rPr lang="en-US" dirty="0" err="1"/>
              <a:t>int</a:t>
            </a:r>
            <a:r>
              <a:rPr lang="en-US" dirty="0"/>
              <a:t> a = 10, b = 10; // initialization </a:t>
            </a:r>
          </a:p>
          <a:p>
            <a:pPr marL="0" indent="0">
              <a:buNone/>
            </a:pPr>
            <a:r>
              <a:rPr lang="en-US" dirty="0"/>
              <a:t>double pi = 3.14159; </a:t>
            </a:r>
          </a:p>
          <a:p>
            <a:pPr marL="0" indent="0">
              <a:buNone/>
            </a:pPr>
            <a:r>
              <a:rPr lang="en-US" dirty="0"/>
              <a:t>Public double pi = 3.14159; </a:t>
            </a:r>
          </a:p>
          <a:p>
            <a:pPr marL="0" indent="0">
              <a:buNone/>
            </a:pPr>
            <a:endParaRPr lang="en-US" dirty="0"/>
          </a:p>
        </p:txBody>
      </p:sp>
    </p:spTree>
    <p:extLst>
      <p:ext uri="{BB962C8B-B14F-4D97-AF65-F5344CB8AC3E}">
        <p14:creationId xmlns:p14="http://schemas.microsoft.com/office/powerpoint/2010/main" val="589928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1E380E-AE09-4258-B781-2B6526ADED5B}"/>
              </a:ext>
            </a:extLst>
          </p:cNvPr>
          <p:cNvSpPr>
            <a:spLocks noGrp="1"/>
          </p:cNvSpPr>
          <p:nvPr>
            <p:ph type="title"/>
          </p:nvPr>
        </p:nvSpPr>
        <p:spPr/>
        <p:txBody>
          <a:bodyPr>
            <a:normAutofit fontScale="90000"/>
          </a:bodyPr>
          <a:lstStyle/>
          <a:p>
            <a:r>
              <a:rPr lang="en-US" dirty="0"/>
              <a:t>Literal</a:t>
            </a:r>
            <a:br>
              <a:rPr lang="en-US" dirty="0"/>
            </a:br>
            <a:endParaRPr lang="en-US" dirty="0"/>
          </a:p>
        </p:txBody>
      </p:sp>
      <p:sp>
        <p:nvSpPr>
          <p:cNvPr id="3" name="Content Placeholder 2">
            <a:extLst>
              <a:ext uri="{FF2B5EF4-FFF2-40B4-BE49-F238E27FC236}">
                <a16:creationId xmlns:a16="http://schemas.microsoft.com/office/drawing/2014/main" xmlns="" id="{BB417120-F576-4399-A8E9-9DD4B478B69B}"/>
              </a:ext>
            </a:extLst>
          </p:cNvPr>
          <p:cNvSpPr>
            <a:spLocks noGrp="1"/>
          </p:cNvSpPr>
          <p:nvPr>
            <p:ph idx="1"/>
          </p:nvPr>
        </p:nvSpPr>
        <p:spPr/>
        <p:txBody>
          <a:bodyPr/>
          <a:lstStyle/>
          <a:p>
            <a:r>
              <a:rPr lang="en-US" dirty="0"/>
              <a:t>The value stored in a variable</a:t>
            </a:r>
          </a:p>
        </p:txBody>
      </p:sp>
    </p:spTree>
    <p:extLst>
      <p:ext uri="{BB962C8B-B14F-4D97-AF65-F5344CB8AC3E}">
        <p14:creationId xmlns:p14="http://schemas.microsoft.com/office/powerpoint/2010/main" val="2436294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in calculations</a:t>
            </a:r>
          </a:p>
        </p:txBody>
      </p:sp>
      <p:sp>
        <p:nvSpPr>
          <p:cNvPr id="4" name="Rectangle 3"/>
          <p:cNvSpPr/>
          <p:nvPr/>
        </p:nvSpPr>
        <p:spPr>
          <a:xfrm>
            <a:off x="533400" y="2667000"/>
            <a:ext cx="8077200" cy="3733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2800" dirty="0"/>
              <a:t>class </a:t>
            </a:r>
            <a:r>
              <a:rPr lang="en-US" sz="2800" dirty="0" err="1"/>
              <a:t>TestVar</a:t>
            </a:r>
            <a:endParaRPr lang="en-US" sz="2800" dirty="0"/>
          </a:p>
          <a:p>
            <a:r>
              <a:rPr lang="en-US" sz="2800" dirty="0"/>
              <a:t>{</a:t>
            </a:r>
          </a:p>
          <a:p>
            <a:r>
              <a:rPr lang="en-US" sz="2800" dirty="0"/>
              <a:t>	public static void main(String[] </a:t>
            </a:r>
            <a:r>
              <a:rPr lang="en-US" sz="2800" dirty="0" err="1"/>
              <a:t>args</a:t>
            </a:r>
            <a:r>
              <a:rPr lang="en-US" sz="2800" dirty="0"/>
              <a:t>)</a:t>
            </a:r>
          </a:p>
          <a:p>
            <a:r>
              <a:rPr lang="en-US" sz="2800" dirty="0"/>
              <a:t>	{</a:t>
            </a:r>
          </a:p>
          <a:p>
            <a:r>
              <a:rPr lang="en-US" sz="2800" dirty="0"/>
              <a:t>	</a:t>
            </a:r>
            <a:r>
              <a:rPr lang="en-US" sz="2800" dirty="0" err="1"/>
              <a:t>int</a:t>
            </a:r>
            <a:r>
              <a:rPr lang="en-US" sz="2800" dirty="0"/>
              <a:t> a=2,b=4,c;</a:t>
            </a:r>
          </a:p>
          <a:p>
            <a:r>
              <a:rPr lang="en-US" sz="2800" dirty="0"/>
              <a:t>	c=</a:t>
            </a:r>
            <a:r>
              <a:rPr lang="en-US" sz="2800" dirty="0" err="1"/>
              <a:t>a+b</a:t>
            </a:r>
            <a:r>
              <a:rPr lang="en-US" sz="2800" dirty="0"/>
              <a:t>;</a:t>
            </a:r>
          </a:p>
          <a:p>
            <a:r>
              <a:rPr lang="en-US" sz="2800" dirty="0"/>
              <a:t>	</a:t>
            </a:r>
            <a:r>
              <a:rPr lang="en-US" sz="2800" dirty="0" err="1"/>
              <a:t>System.out.println</a:t>
            </a:r>
            <a:r>
              <a:rPr lang="en-US" sz="2800" dirty="0"/>
              <a:t>("Total is : "+ c); </a:t>
            </a:r>
          </a:p>
          <a:p>
            <a:r>
              <a:rPr lang="en-US" sz="2800" dirty="0"/>
              <a:t>	}</a:t>
            </a:r>
          </a:p>
          <a:p>
            <a:r>
              <a:rPr lang="en-US" sz="2800" dirty="0"/>
              <a:t>}</a:t>
            </a:r>
          </a:p>
        </p:txBody>
      </p:sp>
    </p:spTree>
    <p:extLst>
      <p:ext uri="{BB962C8B-B14F-4D97-AF65-F5344CB8AC3E}">
        <p14:creationId xmlns:p14="http://schemas.microsoft.com/office/powerpoint/2010/main" val="1565652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Types of Variables</a:t>
            </a:r>
          </a:p>
        </p:txBody>
      </p:sp>
      <p:sp>
        <p:nvSpPr>
          <p:cNvPr id="2" name="Content Placeholder 1"/>
          <p:cNvSpPr>
            <a:spLocks noGrp="1"/>
          </p:cNvSpPr>
          <p:nvPr>
            <p:ph idx="1"/>
          </p:nvPr>
        </p:nvSpPr>
        <p:spPr>
          <a:xfrm>
            <a:off x="457200" y="1524000"/>
            <a:ext cx="8229600" cy="4724400"/>
          </a:xfrm>
        </p:spPr>
        <p:txBody>
          <a:bodyPr>
            <a:noAutofit/>
          </a:bodyPr>
          <a:lstStyle/>
          <a:p>
            <a:r>
              <a:rPr lang="en-US" sz="2200" b="1" dirty="0"/>
              <a:t>Local Variable</a:t>
            </a:r>
          </a:p>
          <a:p>
            <a:pPr lvl="1"/>
            <a:r>
              <a:rPr lang="en-US" sz="2200" dirty="0"/>
              <a:t>A variable that is declared inside the method is called local variable.</a:t>
            </a:r>
          </a:p>
          <a:p>
            <a:r>
              <a:rPr lang="en-US" sz="2200" b="1" dirty="0"/>
              <a:t>Instance Variable</a:t>
            </a:r>
          </a:p>
          <a:p>
            <a:pPr lvl="1" algn="just"/>
            <a:r>
              <a:rPr lang="en-US" sz="2200" dirty="0"/>
              <a:t>A variable that is declared inside the class but outside the method is called instance variable . It is not declared as static. So values of </a:t>
            </a:r>
            <a:r>
              <a:rPr lang="en-US" sz="2200" b="1" dirty="0"/>
              <a:t>Instance Variable </a:t>
            </a:r>
            <a:r>
              <a:rPr lang="en-US" sz="2200" dirty="0"/>
              <a:t>are unique to each </a:t>
            </a:r>
            <a:r>
              <a:rPr lang="en-US" sz="2200" i="1" dirty="0"/>
              <a:t>instance</a:t>
            </a:r>
            <a:r>
              <a:rPr lang="en-US" sz="2200" dirty="0"/>
              <a:t> of a class</a:t>
            </a:r>
          </a:p>
          <a:p>
            <a:r>
              <a:rPr lang="en-US" sz="2200" b="1" dirty="0"/>
              <a:t>Static variable</a:t>
            </a:r>
          </a:p>
          <a:p>
            <a:pPr lvl="1" algn="just"/>
            <a:r>
              <a:rPr lang="en-US" sz="2200" dirty="0"/>
              <a:t>A variable that is declared as static is called static variable. It cannot be local. There is exactly one copy of this variable, regardless of how many times the class has been instantiated</a:t>
            </a:r>
          </a:p>
          <a:p>
            <a:r>
              <a:rPr lang="en-US" sz="2200" b="1" dirty="0"/>
              <a:t>Parameters</a:t>
            </a:r>
            <a:r>
              <a:rPr lang="en-US" sz="2200" dirty="0"/>
              <a:t> </a:t>
            </a:r>
          </a:p>
          <a:p>
            <a:pPr lvl="1"/>
            <a:r>
              <a:rPr lang="en-US" sz="2200" dirty="0"/>
              <a:t>Variables which pass values with method calls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conversion / Type casting </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Changing a value from one data type to another type is known as data type conversion</a:t>
            </a:r>
          </a:p>
          <a:p>
            <a:pPr marL="0" indent="0" algn="just">
              <a:buNone/>
            </a:pPr>
            <a:endParaRPr lang="en-US" dirty="0"/>
          </a:p>
          <a:p>
            <a:pPr algn="just"/>
            <a:r>
              <a:rPr lang="en-US" dirty="0"/>
              <a:t>Implicit conversion </a:t>
            </a:r>
          </a:p>
          <a:p>
            <a:pPr lvl="1" algn="just"/>
            <a:r>
              <a:rPr lang="en-US" dirty="0"/>
              <a:t>Automatic conversion by JVM</a:t>
            </a:r>
          </a:p>
          <a:p>
            <a:pPr marL="457200" lvl="1" indent="0" algn="just">
              <a:buNone/>
            </a:pPr>
            <a:r>
              <a:rPr lang="en-US" dirty="0"/>
              <a:t> </a:t>
            </a:r>
          </a:p>
          <a:p>
            <a:pPr algn="just"/>
            <a:r>
              <a:rPr lang="en-US" dirty="0"/>
              <a:t>Explicit conversion</a:t>
            </a:r>
          </a:p>
          <a:p>
            <a:pPr lvl="1" algn="just"/>
            <a:r>
              <a:rPr lang="en-US" dirty="0"/>
              <a:t>Not automatically done by JVM</a:t>
            </a:r>
          </a:p>
          <a:p>
            <a:pPr lvl="1" algn="just"/>
            <a:r>
              <a:rPr lang="en-US" dirty="0"/>
              <a:t>Programmer need to specify the target type in parentheses</a:t>
            </a:r>
          </a:p>
          <a:p>
            <a:pPr marL="0" indent="0">
              <a:buNone/>
            </a:pPr>
            <a:r>
              <a:rPr lang="en-US" dirty="0"/>
              <a:t/>
            </a:r>
            <a:br>
              <a:rPr lang="en-US" dirty="0"/>
            </a:br>
            <a:endParaRPr lang="en-US" dirty="0"/>
          </a:p>
        </p:txBody>
      </p:sp>
    </p:spTree>
    <p:extLst>
      <p:ext uri="{BB962C8B-B14F-4D97-AF65-F5344CB8AC3E}">
        <p14:creationId xmlns:p14="http://schemas.microsoft.com/office/powerpoint/2010/main" val="2801299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Widening Conversion</a:t>
            </a:r>
          </a:p>
        </p:txBody>
      </p:sp>
      <p:sp>
        <p:nvSpPr>
          <p:cNvPr id="3" name="Content Placeholder 2"/>
          <p:cNvSpPr>
            <a:spLocks noGrp="1"/>
          </p:cNvSpPr>
          <p:nvPr>
            <p:ph idx="1"/>
          </p:nvPr>
        </p:nvSpPr>
        <p:spPr/>
        <p:txBody>
          <a:bodyPr>
            <a:normAutofit fontScale="92500" lnSpcReduction="10000"/>
          </a:bodyPr>
          <a:lstStyle/>
          <a:p>
            <a:r>
              <a:rPr lang="en-US" dirty="0"/>
              <a:t>Value of lower size data type converted to a value of a higher size data type without loss of information</a:t>
            </a:r>
          </a:p>
          <a:p>
            <a:r>
              <a:rPr lang="en-US" dirty="0"/>
              <a:t>This is done implicitly by the JVM and also known as implicit casting</a:t>
            </a:r>
          </a:p>
          <a:p>
            <a:pPr marL="0" indent="0">
              <a:buNone/>
            </a:pPr>
            <a:r>
              <a:rPr lang="en-US" dirty="0"/>
              <a:t/>
            </a:r>
            <a:br>
              <a:rPr lang="en-US" dirty="0"/>
            </a:br>
            <a:r>
              <a:rPr lang="en-US" dirty="0"/>
              <a:t/>
            </a:r>
            <a:br>
              <a:rPr lang="en-US" dirty="0"/>
            </a:br>
            <a:r>
              <a:rPr lang="en-US" dirty="0"/>
              <a:t/>
            </a:r>
            <a:br>
              <a:rPr lang="en-US" dirty="0"/>
            </a:br>
            <a:endParaRPr lang="en-US" dirty="0"/>
          </a:p>
        </p:txBody>
      </p:sp>
      <p:sp>
        <p:nvSpPr>
          <p:cNvPr id="4" name="Rectangle 3"/>
          <p:cNvSpPr/>
          <p:nvPr/>
        </p:nvSpPr>
        <p:spPr>
          <a:xfrm>
            <a:off x="457200" y="4191000"/>
            <a:ext cx="8229600" cy="2438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2800" dirty="0" err="1"/>
              <a:t>int</a:t>
            </a:r>
            <a:r>
              <a:rPr lang="en-US" sz="2800" dirty="0"/>
              <a:t> a = 100; </a:t>
            </a:r>
          </a:p>
          <a:p>
            <a:r>
              <a:rPr lang="en-US" sz="2800" dirty="0"/>
              <a:t>double b = a; </a:t>
            </a:r>
          </a:p>
          <a:p>
            <a:r>
              <a:rPr lang="en-US" sz="2800" dirty="0" err="1"/>
              <a:t>System.out.println</a:t>
            </a:r>
            <a:r>
              <a:rPr lang="en-US" sz="2800" dirty="0"/>
              <a:t>(b); </a:t>
            </a:r>
          </a:p>
          <a:p>
            <a:r>
              <a:rPr lang="en-US" sz="2800" dirty="0"/>
              <a:t>//integer (4 Byte) converted into double (8 Byte)</a:t>
            </a:r>
          </a:p>
        </p:txBody>
      </p:sp>
    </p:spTree>
    <p:extLst>
      <p:ext uri="{BB962C8B-B14F-4D97-AF65-F5344CB8AC3E}">
        <p14:creationId xmlns:p14="http://schemas.microsoft.com/office/powerpoint/2010/main" val="1176226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Widening Conversion</a:t>
            </a:r>
          </a:p>
        </p:txBody>
      </p:sp>
      <p:sp>
        <p:nvSpPr>
          <p:cNvPr id="3" name="Content Placeholder 2"/>
          <p:cNvSpPr>
            <a:spLocks noGrp="1"/>
          </p:cNvSpPr>
          <p:nvPr>
            <p:ph idx="1"/>
          </p:nvPr>
        </p:nvSpPr>
        <p:spPr/>
        <p:txBody>
          <a:bodyPr>
            <a:normAutofit fontScale="92500" lnSpcReduction="20000"/>
          </a:bodyPr>
          <a:lstStyle/>
          <a:p>
            <a:r>
              <a:rPr lang="en-US" dirty="0"/>
              <a:t>byte can be converted to short, </a:t>
            </a:r>
            <a:r>
              <a:rPr lang="en-US" dirty="0" err="1"/>
              <a:t>int</a:t>
            </a:r>
            <a:r>
              <a:rPr lang="en-US" dirty="0"/>
              <a:t>, long, float, or double</a:t>
            </a:r>
          </a:p>
          <a:p>
            <a:r>
              <a:rPr lang="en-US" dirty="0"/>
              <a:t>s</a:t>
            </a:r>
            <a:r>
              <a:rPr lang="en-US"/>
              <a:t>hort </a:t>
            </a:r>
            <a:r>
              <a:rPr lang="en-US" dirty="0"/>
              <a:t>can be converted to int, long, float, or double</a:t>
            </a:r>
          </a:p>
          <a:p>
            <a:r>
              <a:rPr lang="en-US" dirty="0"/>
              <a:t>char can be converted to </a:t>
            </a:r>
            <a:r>
              <a:rPr lang="en-US" dirty="0" err="1"/>
              <a:t>int</a:t>
            </a:r>
            <a:r>
              <a:rPr lang="en-US" dirty="0"/>
              <a:t>, long, float, or double</a:t>
            </a:r>
          </a:p>
          <a:p>
            <a:r>
              <a:rPr lang="en-US" dirty="0"/>
              <a:t>int can be converted to long, float, or double</a:t>
            </a:r>
          </a:p>
          <a:p>
            <a:r>
              <a:rPr lang="en-US" dirty="0"/>
              <a:t>long can be converted to float or double</a:t>
            </a:r>
          </a:p>
          <a:p>
            <a:r>
              <a:rPr lang="en-US" dirty="0"/>
              <a:t>float can be converted to double</a:t>
            </a:r>
          </a:p>
        </p:txBody>
      </p:sp>
    </p:spTree>
    <p:extLst>
      <p:ext uri="{BB962C8B-B14F-4D97-AF65-F5344CB8AC3E}">
        <p14:creationId xmlns:p14="http://schemas.microsoft.com/office/powerpoint/2010/main" val="1399189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Narrowing Conversion</a:t>
            </a:r>
          </a:p>
        </p:txBody>
      </p:sp>
      <p:sp>
        <p:nvSpPr>
          <p:cNvPr id="3" name="Content Placeholder 2"/>
          <p:cNvSpPr>
            <a:spLocks noGrp="1"/>
          </p:cNvSpPr>
          <p:nvPr>
            <p:ph idx="1"/>
          </p:nvPr>
        </p:nvSpPr>
        <p:spPr>
          <a:xfrm>
            <a:off x="457200" y="1600200"/>
            <a:ext cx="8229600" cy="4221163"/>
          </a:xfrm>
        </p:spPr>
        <p:txBody>
          <a:bodyPr>
            <a:normAutofit/>
          </a:bodyPr>
          <a:lstStyle/>
          <a:p>
            <a:r>
              <a:rPr lang="en-US" dirty="0"/>
              <a:t>value of higher size data type converted to a value of a lower size data type which can result in loss of information</a:t>
            </a:r>
          </a:p>
          <a:p>
            <a:r>
              <a:rPr lang="en-US" dirty="0"/>
              <a:t>This is not done implicitly by the JVM and requires explicit casting.</a:t>
            </a:r>
          </a:p>
        </p:txBody>
      </p:sp>
      <p:sp>
        <p:nvSpPr>
          <p:cNvPr id="4" name="Rectangle 3"/>
          <p:cNvSpPr/>
          <p:nvPr/>
        </p:nvSpPr>
        <p:spPr>
          <a:xfrm>
            <a:off x="457200" y="4191000"/>
            <a:ext cx="8229600" cy="198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2800" dirty="0"/>
              <a:t>double a = 100.7; </a:t>
            </a:r>
          </a:p>
          <a:p>
            <a:r>
              <a:rPr lang="en-US" sz="2800" dirty="0" err="1"/>
              <a:t>int</a:t>
            </a:r>
            <a:r>
              <a:rPr lang="en-US" sz="2800" dirty="0"/>
              <a:t> b = (</a:t>
            </a:r>
            <a:r>
              <a:rPr lang="en-US" sz="2800" dirty="0" err="1"/>
              <a:t>int</a:t>
            </a:r>
            <a:r>
              <a:rPr lang="en-US" sz="2800" dirty="0"/>
              <a:t>) a; </a:t>
            </a:r>
          </a:p>
          <a:p>
            <a:r>
              <a:rPr lang="en-US" sz="2800" dirty="0" err="1"/>
              <a:t>System.out.println</a:t>
            </a:r>
            <a:r>
              <a:rPr lang="en-US" sz="2800" dirty="0"/>
              <a:t>(b);</a:t>
            </a:r>
            <a:br>
              <a:rPr lang="en-US" sz="2800" dirty="0"/>
            </a:br>
            <a:endParaRPr lang="en-US" sz="2800" dirty="0"/>
          </a:p>
        </p:txBody>
      </p:sp>
    </p:spTree>
    <p:extLst>
      <p:ext uri="{BB962C8B-B14F-4D97-AF65-F5344CB8AC3E}">
        <p14:creationId xmlns:p14="http://schemas.microsoft.com/office/powerpoint/2010/main" val="291033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Narrowing Conversion</a:t>
            </a:r>
          </a:p>
        </p:txBody>
      </p:sp>
      <p:sp>
        <p:nvSpPr>
          <p:cNvPr id="3" name="Content Placeholder 2"/>
          <p:cNvSpPr>
            <a:spLocks noGrp="1"/>
          </p:cNvSpPr>
          <p:nvPr>
            <p:ph idx="1"/>
          </p:nvPr>
        </p:nvSpPr>
        <p:spPr/>
        <p:txBody>
          <a:bodyPr>
            <a:normAutofit lnSpcReduction="10000"/>
          </a:bodyPr>
          <a:lstStyle/>
          <a:p>
            <a:r>
              <a:rPr lang="en-US" dirty="0"/>
              <a:t>short can be converted to byte or char</a:t>
            </a:r>
          </a:p>
          <a:p>
            <a:r>
              <a:rPr lang="en-US" dirty="0"/>
              <a:t>char can be converted to byte or short</a:t>
            </a:r>
          </a:p>
          <a:p>
            <a:r>
              <a:rPr lang="en-US" dirty="0" err="1"/>
              <a:t>int</a:t>
            </a:r>
            <a:r>
              <a:rPr lang="en-US" dirty="0"/>
              <a:t> can be converted to byte, short, or char</a:t>
            </a:r>
          </a:p>
          <a:p>
            <a:r>
              <a:rPr lang="en-US" dirty="0"/>
              <a:t>long can be converted to byte, short, or char</a:t>
            </a:r>
          </a:p>
          <a:p>
            <a:r>
              <a:rPr lang="en-US" dirty="0"/>
              <a:t>float can be converted to byte, short, char, </a:t>
            </a:r>
            <a:r>
              <a:rPr lang="en-US" dirty="0" err="1"/>
              <a:t>int</a:t>
            </a:r>
            <a:r>
              <a:rPr lang="en-US" dirty="0"/>
              <a:t>, or long</a:t>
            </a:r>
          </a:p>
          <a:p>
            <a:r>
              <a:rPr lang="en-US" dirty="0"/>
              <a:t>double can be converted to byte, short, char, </a:t>
            </a:r>
            <a:r>
              <a:rPr lang="en-US" dirty="0" err="1"/>
              <a:t>int</a:t>
            </a:r>
            <a:r>
              <a:rPr lang="en-US" dirty="0"/>
              <a:t>, long, or float</a:t>
            </a:r>
          </a:p>
        </p:txBody>
      </p:sp>
    </p:spTree>
    <p:extLst>
      <p:ext uri="{BB962C8B-B14F-4D97-AF65-F5344CB8AC3E}">
        <p14:creationId xmlns:p14="http://schemas.microsoft.com/office/powerpoint/2010/main" val="3505747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0" dirty="0">
                <a:effectLst/>
              </a:rPr>
              <a:t>Character functions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14584685"/>
              </p:ext>
            </p:extLst>
          </p:nvPr>
        </p:nvGraphicFramePr>
        <p:xfrm>
          <a:off x="457200" y="1828800"/>
          <a:ext cx="8077200" cy="4750614"/>
        </p:xfrm>
        <a:graphic>
          <a:graphicData uri="http://schemas.openxmlformats.org/drawingml/2006/table">
            <a:tbl>
              <a:tblPr/>
              <a:tblGrid>
                <a:gridCol w="762000">
                  <a:extLst>
                    <a:ext uri="{9D8B030D-6E8A-4147-A177-3AD203B41FA5}">
                      <a16:colId xmlns:a16="http://schemas.microsoft.com/office/drawing/2014/main" xmlns="" val="20000"/>
                    </a:ext>
                  </a:extLst>
                </a:gridCol>
                <a:gridCol w="7315200">
                  <a:extLst>
                    <a:ext uri="{9D8B030D-6E8A-4147-A177-3AD203B41FA5}">
                      <a16:colId xmlns:a16="http://schemas.microsoft.com/office/drawing/2014/main" xmlns="" val="20001"/>
                    </a:ext>
                  </a:extLst>
                </a:gridCol>
              </a:tblGrid>
              <a:tr h="271526">
                <a:tc>
                  <a:txBody>
                    <a:bodyPr/>
                    <a:lstStyle/>
                    <a:p>
                      <a:pPr algn="l"/>
                      <a:r>
                        <a:rPr lang="en-US" sz="1600" dirty="0"/>
                        <a:t>SN</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EEEEEE"/>
                    </a:solidFill>
                  </a:tcPr>
                </a:tc>
                <a:tc>
                  <a:txBody>
                    <a:bodyPr/>
                    <a:lstStyle/>
                    <a:p>
                      <a:pPr algn="l"/>
                      <a:r>
                        <a:rPr lang="en-US" sz="1600" dirty="0"/>
                        <a:t>Methods with Description</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502885">
                <a:tc>
                  <a:txBody>
                    <a:bodyPr/>
                    <a:lstStyle/>
                    <a:p>
                      <a:r>
                        <a:rPr lang="en-US" sz="1600"/>
                        <a:t>1</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isLetter</a:t>
                      </a:r>
                      <a:r>
                        <a:rPr lang="en-US" sz="1600" u="none" strike="noStrike" dirty="0">
                          <a:solidFill>
                            <a:srgbClr val="900B09"/>
                          </a:solidFill>
                        </a:rPr>
                        <a:t>()</a:t>
                      </a:r>
                      <a:r>
                        <a:rPr lang="en-US" sz="1600" dirty="0"/>
                        <a:t/>
                      </a:r>
                      <a:br>
                        <a:rPr lang="en-US" sz="1600" dirty="0"/>
                      </a:br>
                      <a:r>
                        <a:rPr lang="en-US" sz="1600" dirty="0"/>
                        <a:t>Determines whether the specified char value is a letter.</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1"/>
                  </a:ext>
                </a:extLst>
              </a:tr>
              <a:tr h="502885">
                <a:tc>
                  <a:txBody>
                    <a:bodyPr/>
                    <a:lstStyle/>
                    <a:p>
                      <a:r>
                        <a:rPr lang="en-US" sz="1600"/>
                        <a:t>2</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isDigit</a:t>
                      </a:r>
                      <a:r>
                        <a:rPr lang="en-US" sz="1600" u="none" strike="noStrike" dirty="0">
                          <a:solidFill>
                            <a:srgbClr val="900B09"/>
                          </a:solidFill>
                        </a:rPr>
                        <a:t>()</a:t>
                      </a:r>
                      <a:r>
                        <a:rPr lang="en-US" sz="1600" dirty="0"/>
                        <a:t/>
                      </a:r>
                      <a:br>
                        <a:rPr lang="en-US" sz="1600" dirty="0"/>
                      </a:br>
                      <a:r>
                        <a:rPr lang="en-US" sz="1600" dirty="0"/>
                        <a:t>Determines whether the specified char value is a digit.</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2"/>
                  </a:ext>
                </a:extLst>
              </a:tr>
              <a:tr h="502885">
                <a:tc>
                  <a:txBody>
                    <a:bodyPr/>
                    <a:lstStyle/>
                    <a:p>
                      <a:r>
                        <a:rPr lang="en-US" sz="1600"/>
                        <a:t>3</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isWhitespace</a:t>
                      </a:r>
                      <a:r>
                        <a:rPr lang="en-US" sz="1600" u="none" strike="noStrike" dirty="0">
                          <a:solidFill>
                            <a:srgbClr val="900B09"/>
                          </a:solidFill>
                        </a:rPr>
                        <a:t>()</a:t>
                      </a:r>
                      <a:r>
                        <a:rPr lang="en-US" sz="1600" dirty="0"/>
                        <a:t/>
                      </a:r>
                      <a:br>
                        <a:rPr lang="en-US" sz="1600" dirty="0"/>
                      </a:br>
                      <a:r>
                        <a:rPr lang="en-US" sz="1600" dirty="0"/>
                        <a:t>Determines whether the specified char value is white space.</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3"/>
                  </a:ext>
                </a:extLst>
              </a:tr>
              <a:tr h="502885">
                <a:tc>
                  <a:txBody>
                    <a:bodyPr/>
                    <a:lstStyle/>
                    <a:p>
                      <a:r>
                        <a:rPr lang="en-US" sz="1600"/>
                        <a:t>4</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isUpperCase</a:t>
                      </a:r>
                      <a:r>
                        <a:rPr lang="en-US" sz="1600" u="none" strike="noStrike" dirty="0">
                          <a:solidFill>
                            <a:srgbClr val="900B09"/>
                          </a:solidFill>
                        </a:rPr>
                        <a:t>()</a:t>
                      </a:r>
                      <a:r>
                        <a:rPr lang="en-US" sz="1600" dirty="0"/>
                        <a:t/>
                      </a:r>
                      <a:br>
                        <a:rPr lang="en-US" sz="1600" dirty="0"/>
                      </a:br>
                      <a:r>
                        <a:rPr lang="en-US" sz="1600" dirty="0"/>
                        <a:t>Determines whether the specified char value is uppercase.</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4"/>
                  </a:ext>
                </a:extLst>
              </a:tr>
              <a:tr h="502885">
                <a:tc>
                  <a:txBody>
                    <a:bodyPr/>
                    <a:lstStyle/>
                    <a:p>
                      <a:r>
                        <a:rPr lang="en-US" sz="1600"/>
                        <a:t>5</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isLowerCase</a:t>
                      </a:r>
                      <a:r>
                        <a:rPr lang="en-US" sz="1600" u="none" strike="noStrike" dirty="0">
                          <a:solidFill>
                            <a:srgbClr val="900B09"/>
                          </a:solidFill>
                        </a:rPr>
                        <a:t>()</a:t>
                      </a:r>
                      <a:r>
                        <a:rPr lang="en-US" sz="1600" dirty="0"/>
                        <a:t/>
                      </a:r>
                      <a:br>
                        <a:rPr lang="en-US" sz="1600" dirty="0"/>
                      </a:br>
                      <a:r>
                        <a:rPr lang="en-US" sz="1600" dirty="0"/>
                        <a:t>Determines whether the specified char value is lowercase.</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5"/>
                  </a:ext>
                </a:extLst>
              </a:tr>
              <a:tr h="502885">
                <a:tc>
                  <a:txBody>
                    <a:bodyPr/>
                    <a:lstStyle/>
                    <a:p>
                      <a:r>
                        <a:rPr lang="en-US" sz="1600"/>
                        <a:t>6</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toUpperCase</a:t>
                      </a:r>
                      <a:r>
                        <a:rPr lang="en-US" sz="1600" u="none" strike="noStrike" dirty="0">
                          <a:solidFill>
                            <a:srgbClr val="900B09"/>
                          </a:solidFill>
                        </a:rPr>
                        <a:t>()</a:t>
                      </a:r>
                      <a:r>
                        <a:rPr lang="en-US" sz="1600" dirty="0"/>
                        <a:t/>
                      </a:r>
                      <a:br>
                        <a:rPr lang="en-US" sz="1600" dirty="0"/>
                      </a:br>
                      <a:r>
                        <a:rPr lang="en-US" sz="1600" dirty="0"/>
                        <a:t>Returns the uppercase form of the specified char value.</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6"/>
                  </a:ext>
                </a:extLst>
              </a:tr>
              <a:tr h="502885">
                <a:tc>
                  <a:txBody>
                    <a:bodyPr/>
                    <a:lstStyle/>
                    <a:p>
                      <a:r>
                        <a:rPr lang="en-US" sz="1600"/>
                        <a:t>7</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toLowerCase</a:t>
                      </a:r>
                      <a:r>
                        <a:rPr lang="en-US" sz="1600" u="none" strike="noStrike" dirty="0">
                          <a:solidFill>
                            <a:srgbClr val="900B09"/>
                          </a:solidFill>
                        </a:rPr>
                        <a:t>()</a:t>
                      </a:r>
                      <a:r>
                        <a:rPr lang="en-US" sz="1600" dirty="0"/>
                        <a:t/>
                      </a:r>
                      <a:br>
                        <a:rPr lang="en-US" sz="1600" dirty="0"/>
                      </a:br>
                      <a:r>
                        <a:rPr lang="en-US" sz="1600" dirty="0"/>
                        <a:t>Returns the lowercase form of the specified char value.</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7"/>
                  </a:ext>
                </a:extLst>
              </a:tr>
              <a:tr h="734244">
                <a:tc>
                  <a:txBody>
                    <a:bodyPr/>
                    <a:lstStyle/>
                    <a:p>
                      <a:r>
                        <a:rPr lang="en-US" sz="1600" dirty="0"/>
                        <a:t>8</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u="none" strike="noStrike" dirty="0" err="1">
                          <a:solidFill>
                            <a:srgbClr val="900B09"/>
                          </a:solidFill>
                        </a:rPr>
                        <a:t>toString</a:t>
                      </a:r>
                      <a:r>
                        <a:rPr lang="en-US" sz="1600" u="none" strike="noStrike" dirty="0">
                          <a:solidFill>
                            <a:srgbClr val="900B09"/>
                          </a:solidFill>
                        </a:rPr>
                        <a:t>()</a:t>
                      </a:r>
                      <a:r>
                        <a:rPr lang="en-US" sz="1600" dirty="0"/>
                        <a:t/>
                      </a:r>
                      <a:br>
                        <a:rPr lang="en-US" sz="1600" dirty="0"/>
                      </a:br>
                      <a:r>
                        <a:rPr lang="en-US" sz="1600" dirty="0"/>
                        <a:t>Returns a String object representing the specified character value that is, a one-character string.</a:t>
                      </a:r>
                    </a:p>
                  </a:txBody>
                  <a:tcPr marL="20083" marR="20083" marT="20083" marB="20083">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354053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3F95FE-9CCE-5E0F-2AAA-A6B81A2F80DF}"/>
              </a:ext>
            </a:extLst>
          </p:cNvPr>
          <p:cNvSpPr>
            <a:spLocks noGrp="1"/>
          </p:cNvSpPr>
          <p:nvPr>
            <p:ph type="title"/>
          </p:nvPr>
        </p:nvSpPr>
        <p:spPr/>
        <p:txBody>
          <a:bodyPr/>
          <a:lstStyle/>
          <a:p>
            <a:r>
              <a:rPr lang="en-US" dirty="0"/>
              <a:t>Numeric functions</a:t>
            </a:r>
          </a:p>
        </p:txBody>
      </p:sp>
      <p:graphicFrame>
        <p:nvGraphicFramePr>
          <p:cNvPr id="4" name="Content Placeholder 3">
            <a:extLst>
              <a:ext uri="{FF2B5EF4-FFF2-40B4-BE49-F238E27FC236}">
                <a16:creationId xmlns:a16="http://schemas.microsoft.com/office/drawing/2014/main" xmlns="" id="{FADAC26E-193A-7F2B-EEC5-DC2C19A67EE5}"/>
              </a:ext>
            </a:extLst>
          </p:cNvPr>
          <p:cNvGraphicFramePr>
            <a:graphicFrameLocks noGrp="1"/>
          </p:cNvGraphicFramePr>
          <p:nvPr>
            <p:ph idx="1"/>
            <p:extLst>
              <p:ext uri="{D42A27DB-BD31-4B8C-83A1-F6EECF244321}">
                <p14:modId xmlns:p14="http://schemas.microsoft.com/office/powerpoint/2010/main" val="3492235711"/>
              </p:ext>
            </p:extLst>
          </p:nvPr>
        </p:nvGraphicFramePr>
        <p:xfrm>
          <a:off x="457200" y="1752600"/>
          <a:ext cx="8229600" cy="4743190"/>
        </p:xfrm>
        <a:graphic>
          <a:graphicData uri="http://schemas.openxmlformats.org/drawingml/2006/table">
            <a:tbl>
              <a:tblPr/>
              <a:tblGrid>
                <a:gridCol w="685800">
                  <a:extLst>
                    <a:ext uri="{9D8B030D-6E8A-4147-A177-3AD203B41FA5}">
                      <a16:colId xmlns:a16="http://schemas.microsoft.com/office/drawing/2014/main" xmlns="" val="1252896295"/>
                    </a:ext>
                  </a:extLst>
                </a:gridCol>
                <a:gridCol w="7543800">
                  <a:extLst>
                    <a:ext uri="{9D8B030D-6E8A-4147-A177-3AD203B41FA5}">
                      <a16:colId xmlns:a16="http://schemas.microsoft.com/office/drawing/2014/main" xmlns="" val="1156592845"/>
                    </a:ext>
                  </a:extLst>
                </a:gridCol>
              </a:tblGrid>
              <a:tr h="115042">
                <a:tc>
                  <a:txBody>
                    <a:bodyPr/>
                    <a:lstStyle/>
                    <a:p>
                      <a:pPr algn="ctr" fontAlgn="t"/>
                      <a:r>
                        <a:rPr lang="en-US" sz="1600">
                          <a:effectLst/>
                        </a:rPr>
                        <a:t>Sr.No</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l"/>
                      <a:r>
                        <a:rPr lang="en-US" sz="1600" dirty="0"/>
                        <a:t>Methods with Description</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3377315819"/>
                  </a:ext>
                </a:extLst>
              </a:tr>
              <a:tr h="433620">
                <a:tc>
                  <a:txBody>
                    <a:bodyPr/>
                    <a:lstStyle/>
                    <a:p>
                      <a:pPr fontAlgn="t"/>
                      <a:r>
                        <a:rPr lang="en-US" sz="1600">
                          <a:effectLst/>
                        </a:rPr>
                        <a:t>1</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b="1" dirty="0">
                          <a:effectLst/>
                        </a:rPr>
                        <a:t>abs()</a:t>
                      </a:r>
                      <a:r>
                        <a:rPr lang="en-US" sz="1600" dirty="0">
                          <a:effectLst/>
                        </a:rPr>
                        <a:t/>
                      </a:r>
                      <a:br>
                        <a:rPr lang="en-US" sz="1600" dirty="0">
                          <a:effectLst/>
                        </a:rPr>
                      </a:br>
                      <a:r>
                        <a:rPr lang="en-US" sz="1600" dirty="0">
                          <a:effectLst/>
                        </a:rPr>
                        <a:t>This method returns the absolute value of a double value.</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643149429"/>
                  </a:ext>
                </a:extLst>
              </a:tr>
              <a:tr h="433620">
                <a:tc>
                  <a:txBody>
                    <a:bodyPr/>
                    <a:lstStyle/>
                    <a:p>
                      <a:pPr fontAlgn="t"/>
                      <a:r>
                        <a:rPr lang="en-US" sz="1600" dirty="0">
                          <a:effectLst/>
                        </a:rPr>
                        <a:t>2</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b="1" i="0" kern="1200" dirty="0" err="1">
                          <a:solidFill>
                            <a:schemeClr val="tx1"/>
                          </a:solidFill>
                          <a:effectLst/>
                          <a:latin typeface="+mn-lt"/>
                          <a:ea typeface="+mn-ea"/>
                          <a:cs typeface="+mn-cs"/>
                        </a:rPr>
                        <a:t>cbrt</a:t>
                      </a:r>
                      <a:r>
                        <a:rPr lang="en-US" sz="1600" b="1" i="0" kern="1200" dirty="0">
                          <a:solidFill>
                            <a:schemeClr val="tx1"/>
                          </a:solidFill>
                          <a:effectLst/>
                          <a:latin typeface="+mn-lt"/>
                          <a:ea typeface="+mn-ea"/>
                          <a:cs typeface="+mn-cs"/>
                        </a:rPr>
                        <a:t>()</a:t>
                      </a:r>
                      <a:r>
                        <a:rPr lang="en-US" sz="1600" dirty="0"/>
                        <a:t/>
                      </a:r>
                      <a:br>
                        <a:rPr lang="en-US" sz="1600" dirty="0"/>
                      </a:br>
                      <a:r>
                        <a:rPr lang="en-US" sz="1600" b="0" i="0" kern="1200" dirty="0">
                          <a:solidFill>
                            <a:schemeClr val="tx1"/>
                          </a:solidFill>
                          <a:effectLst/>
                          <a:latin typeface="+mn-lt"/>
                          <a:ea typeface="+mn-ea"/>
                          <a:cs typeface="+mn-cs"/>
                        </a:rPr>
                        <a:t>This method returns the cube root of a double value.</a:t>
                      </a:r>
                      <a:endParaRPr lang="en-US" sz="1600" dirty="0">
                        <a:effectLst/>
                      </a:endParaRP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3001100681"/>
                  </a:ext>
                </a:extLst>
              </a:tr>
              <a:tr h="433620">
                <a:tc>
                  <a:txBody>
                    <a:bodyPr/>
                    <a:lstStyle/>
                    <a:p>
                      <a:pPr fontAlgn="t"/>
                      <a:r>
                        <a:rPr lang="en-US" sz="1600" dirty="0">
                          <a:effectLst/>
                        </a:rPr>
                        <a:t>3</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Sqrt()</a:t>
                      </a:r>
                    </a:p>
                    <a:p>
                      <a:pPr fontAlgn="t"/>
                      <a:r>
                        <a:rPr lang="en-US" sz="1600" dirty="0">
                          <a:effectLst/>
                        </a:rPr>
                        <a:t>Return the square root</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2364508157"/>
                  </a:ext>
                </a:extLst>
              </a:tr>
              <a:tr h="433620">
                <a:tc>
                  <a:txBody>
                    <a:bodyPr/>
                    <a:lstStyle/>
                    <a:p>
                      <a:pPr fontAlgn="t"/>
                      <a:r>
                        <a:rPr lang="en-US" sz="1600" dirty="0">
                          <a:effectLst/>
                        </a:rPr>
                        <a:t>4</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pow(</a:t>
                      </a:r>
                      <a:r>
                        <a:rPr lang="en-US" sz="1600" dirty="0" err="1">
                          <a:effectLst/>
                        </a:rPr>
                        <a:t>x,y</a:t>
                      </a:r>
                      <a:r>
                        <a:rPr lang="en-US" sz="1600" dirty="0">
                          <a:effectLst/>
                        </a:rPr>
                        <a:t>)</a:t>
                      </a:r>
                    </a:p>
                    <a:p>
                      <a:pPr fontAlgn="t"/>
                      <a:r>
                        <a:rPr lang="en-US" sz="1600" dirty="0">
                          <a:effectLst/>
                        </a:rPr>
                        <a:t>Return the power</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3947999501"/>
                  </a:ext>
                </a:extLst>
              </a:tr>
              <a:tr h="592910">
                <a:tc>
                  <a:txBody>
                    <a:bodyPr/>
                    <a:lstStyle/>
                    <a:p>
                      <a:pPr fontAlgn="t"/>
                      <a:r>
                        <a:rPr lang="en-US" sz="1600" dirty="0">
                          <a:effectLst/>
                        </a:rPr>
                        <a:t>5</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min(</a:t>
                      </a:r>
                      <a:r>
                        <a:rPr lang="en-US" sz="1600" dirty="0" err="1">
                          <a:effectLst/>
                        </a:rPr>
                        <a:t>x,y</a:t>
                      </a:r>
                      <a:r>
                        <a:rPr lang="en-US" sz="1600" dirty="0">
                          <a:effectLst/>
                        </a:rPr>
                        <a:t>)</a:t>
                      </a:r>
                    </a:p>
                    <a:p>
                      <a:pPr fontAlgn="t"/>
                      <a:r>
                        <a:rPr lang="en-US" sz="1600" dirty="0">
                          <a:effectLst/>
                        </a:rPr>
                        <a:t>Return the minimum</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1097200113"/>
                  </a:ext>
                </a:extLst>
              </a:tr>
              <a:tr h="592910">
                <a:tc>
                  <a:txBody>
                    <a:bodyPr/>
                    <a:lstStyle/>
                    <a:p>
                      <a:pPr fontAlgn="t"/>
                      <a:r>
                        <a:rPr lang="en-US" sz="1600" dirty="0">
                          <a:effectLst/>
                        </a:rPr>
                        <a:t>6</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max(</a:t>
                      </a:r>
                      <a:r>
                        <a:rPr lang="en-US" sz="1600" dirty="0" err="1">
                          <a:effectLst/>
                        </a:rPr>
                        <a:t>x,y</a:t>
                      </a:r>
                      <a:r>
                        <a:rPr lang="en-US" sz="1600" dirty="0">
                          <a:effectLst/>
                        </a:rPr>
                        <a:t>)</a:t>
                      </a:r>
                    </a:p>
                    <a:p>
                      <a:pPr fontAlgn="t"/>
                      <a:r>
                        <a:rPr lang="en-US" sz="1600" dirty="0">
                          <a:effectLst/>
                        </a:rPr>
                        <a:t>Return the maximum</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1740324282"/>
                  </a:ext>
                </a:extLst>
              </a:tr>
              <a:tr h="592910">
                <a:tc>
                  <a:txBody>
                    <a:bodyPr/>
                    <a:lstStyle/>
                    <a:p>
                      <a:pPr fontAlgn="t"/>
                      <a:r>
                        <a:rPr lang="en-US" sz="1600" dirty="0">
                          <a:effectLst/>
                        </a:rPr>
                        <a:t>7</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ceil(x)</a:t>
                      </a:r>
                    </a:p>
                    <a:p>
                      <a:pPr fontAlgn="t"/>
                      <a:r>
                        <a:rPr lang="en-US" sz="1600" dirty="0">
                          <a:effectLst/>
                        </a:rPr>
                        <a:t>Returns the double value that is greater than or equal to the nearest integer</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1438080645"/>
                  </a:ext>
                </a:extLst>
              </a:tr>
              <a:tr h="592910">
                <a:tc>
                  <a:txBody>
                    <a:bodyPr/>
                    <a:lstStyle/>
                    <a:p>
                      <a:pPr fontAlgn="t"/>
                      <a:r>
                        <a:rPr lang="en-US" sz="1600" dirty="0">
                          <a:effectLst/>
                        </a:rPr>
                        <a:t>8</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dirty="0">
                          <a:effectLst/>
                        </a:rPr>
                        <a:t>Floor(x)</a:t>
                      </a:r>
                    </a:p>
                    <a:p>
                      <a:pPr fontAlgn="t"/>
                      <a:r>
                        <a:rPr lang="en-US" sz="1600" dirty="0">
                          <a:effectLst/>
                        </a:rPr>
                        <a:t>Returns the double value that is smaller than or equal to the nearest integer</a:t>
                      </a:r>
                    </a:p>
                  </a:txBody>
                  <a:tcPr marL="17699" marR="17699" marT="17699" marB="176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2991091318"/>
                  </a:ext>
                </a:extLst>
              </a:tr>
            </a:tbl>
          </a:graphicData>
        </a:graphic>
      </p:graphicFrame>
    </p:spTree>
    <p:extLst>
      <p:ext uri="{BB962C8B-B14F-4D97-AF65-F5344CB8AC3E}">
        <p14:creationId xmlns:p14="http://schemas.microsoft.com/office/powerpoint/2010/main" val="886897680"/>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1075</TotalTime>
  <Words>843</Words>
  <Application>Microsoft Office PowerPoint</Application>
  <PresentationFormat>On-screen Show (4:3)</PresentationFormat>
  <Paragraphs>176</Paragraphs>
  <Slides>21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HNDIT</vt:lpstr>
      <vt:lpstr>HNDIT2012 Fundamentals of Computer Programming</vt:lpstr>
      <vt:lpstr>Terminology </vt:lpstr>
      <vt:lpstr>Variable</vt:lpstr>
      <vt:lpstr>Data type </vt:lpstr>
      <vt:lpstr>PowerPoint Presentation</vt:lpstr>
      <vt:lpstr>Primitive data types</vt:lpstr>
      <vt:lpstr>Primitive data types</vt:lpstr>
      <vt:lpstr>Creating and Accessing Variables</vt:lpstr>
      <vt:lpstr>Variable/Identifier Naming</vt:lpstr>
      <vt:lpstr>Variable declaration</vt:lpstr>
      <vt:lpstr>Variable initialization</vt:lpstr>
      <vt:lpstr>Literal </vt:lpstr>
      <vt:lpstr>Variables in calculations</vt:lpstr>
      <vt:lpstr>Types of Variables</vt:lpstr>
      <vt:lpstr>Type conversion / Type casting </vt:lpstr>
      <vt:lpstr>Widening Conversion</vt:lpstr>
      <vt:lpstr>Widening Conversion</vt:lpstr>
      <vt:lpstr>Narrowing Conversion</vt:lpstr>
      <vt:lpstr>Narrowing Conversion</vt:lpstr>
      <vt:lpstr>Character functions</vt:lpstr>
      <vt:lpstr>Numeric functions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Janaka</dc:creator>
  <cp:lastModifiedBy>USER</cp:lastModifiedBy>
  <cp:revision>258</cp:revision>
  <dcterms:created xsi:type="dcterms:W3CDTF">2006-08-16T00:00:00Z</dcterms:created>
  <dcterms:modified xsi:type="dcterms:W3CDTF">2024-03-18T11:50:39Z</dcterms:modified>
</cp:coreProperties>
</file>