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aleway"/>
      <p:regular r:id="rId16"/>
      <p:bold r:id="rId17"/>
      <p:italic r:id="rId18"/>
      <p:boldItalic r:id="rId19"/>
    </p:embeddedFont>
    <p:embeddedFont>
      <p:font typeface="Nunito"/>
      <p:regular r:id="rId20"/>
      <p:bold r:id="rId21"/>
      <p:italic r:id="rId22"/>
      <p:boldItalic r:id="rId23"/>
    </p:embeddedFont>
    <p:embeddedFont>
      <p:font typeface="La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regular.fntdata"/><Relationship Id="rId22" Type="http://schemas.openxmlformats.org/officeDocument/2006/relationships/font" Target="fonts/Nunito-italic.fntdata"/><Relationship Id="rId21" Type="http://schemas.openxmlformats.org/officeDocument/2006/relationships/font" Target="fonts/Nunito-bold.fntdata"/><Relationship Id="rId24" Type="http://schemas.openxmlformats.org/officeDocument/2006/relationships/font" Target="fonts/Lato-regular.fntdata"/><Relationship Id="rId23" Type="http://schemas.openxmlformats.org/officeDocument/2006/relationships/font" Target="fonts/Nuni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italic.fntdata"/><Relationship Id="rId25" Type="http://schemas.openxmlformats.org/officeDocument/2006/relationships/font" Target="fonts/Lato-bold.fntdata"/><Relationship Id="rId27"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bold.fntdata"/><Relationship Id="rId16" Type="http://schemas.openxmlformats.org/officeDocument/2006/relationships/font" Target="fonts/Raleway-regular.fntdata"/><Relationship Id="rId19" Type="http://schemas.openxmlformats.org/officeDocument/2006/relationships/font" Target="fonts/Raleway-boldItalic.fntdata"/><Relationship Id="rId18" Type="http://schemas.openxmlformats.org/officeDocument/2006/relationships/font" Target="fonts/Raleway-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6a117d3ff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6a117d3ff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7098e27d8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7098e27d8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t/>
            </a:r>
            <a:endParaRPr sz="1800">
              <a:solidFill>
                <a:srgbClr val="595959"/>
              </a:solidFill>
              <a:latin typeface="Lato"/>
              <a:ea typeface="Lato"/>
              <a:cs typeface="Lato"/>
              <a:sym typeface="Lato"/>
            </a:endParaRPr>
          </a:p>
          <a:p>
            <a:pPr indent="-342900" lvl="0" marL="457200" rtl="0" algn="l">
              <a:lnSpc>
                <a:spcPct val="115000"/>
              </a:lnSpc>
              <a:spcBef>
                <a:spcPts val="1200"/>
              </a:spcBef>
              <a:spcAft>
                <a:spcPts val="0"/>
              </a:spcAft>
              <a:buClr>
                <a:srgbClr val="595959"/>
              </a:buClr>
              <a:buSzPts val="1800"/>
              <a:buFont typeface="Lato"/>
              <a:buChar char="-"/>
            </a:pPr>
            <a:r>
              <a:rPr lang="en" sz="1800">
                <a:solidFill>
                  <a:srgbClr val="595959"/>
                </a:solidFill>
                <a:latin typeface="Lato"/>
                <a:ea typeface="Lato"/>
                <a:cs typeface="Lato"/>
                <a:sym typeface="Lato"/>
              </a:rPr>
              <a:t>In the absence of SIT, there is a risk that modifications or updates made to one component could cause unexpected problems in another component or even crash the entire system. Additionally, SIT helps reduce the cost and time associated with debugging and troubleshooting problems related to integration issues.</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SIT also helps identify potential security risks in a system by testing how different components interact with each other, as well as how they respond to external inputs such as user input or data from other systems. By conducting thorough SIT tests, organizations can ensure that their systems are secure and free from vulnerabilities before they go live.</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7098e27d8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7098e27d8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t/>
            </a:r>
            <a:endParaRPr sz="1800">
              <a:solidFill>
                <a:srgbClr val="595959"/>
              </a:solidFill>
              <a:latin typeface="Lato"/>
              <a:ea typeface="Lato"/>
              <a:cs typeface="Lato"/>
              <a:sym typeface="Lato"/>
            </a:endParaRPr>
          </a:p>
          <a:p>
            <a:pPr indent="-342900" lvl="0" marL="457200" rtl="0" algn="l">
              <a:lnSpc>
                <a:spcPct val="115000"/>
              </a:lnSpc>
              <a:spcBef>
                <a:spcPts val="1200"/>
              </a:spcBef>
              <a:spcAft>
                <a:spcPts val="0"/>
              </a:spcAft>
              <a:buClr>
                <a:srgbClr val="595959"/>
              </a:buClr>
              <a:buSzPts val="1800"/>
              <a:buFont typeface="Lato"/>
              <a:buChar char="-"/>
            </a:pPr>
            <a:r>
              <a:rPr lang="en" sz="1800">
                <a:solidFill>
                  <a:srgbClr val="595959"/>
                </a:solidFill>
                <a:latin typeface="Lato"/>
                <a:ea typeface="Lato"/>
                <a:cs typeface="Lato"/>
                <a:sym typeface="Lato"/>
              </a:rPr>
              <a:t>In the absence of SIT, there is a risk that modifications or updates made to one component could cause unexpected problems in another component or even crash the entire system. Additionally, SIT helps reduce the cost and time associated with debugging and troubleshooting problems related to integration issues.</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SIT also helps identify potential security risks in a system by testing how different components interact with each other, as well as how they respond to external inputs such as user input or data from other systems. By conducting thorough SIT tests, organizations can ensure that their systems are secure and free from vulnerabilities before they go live.</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7098e27d8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7098e27d8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t/>
            </a:r>
            <a:endParaRPr sz="1800">
              <a:solidFill>
                <a:srgbClr val="595959"/>
              </a:solidFill>
              <a:latin typeface="Lato"/>
              <a:ea typeface="Lato"/>
              <a:cs typeface="Lato"/>
              <a:sym typeface="Lato"/>
            </a:endParaRPr>
          </a:p>
          <a:p>
            <a:pPr indent="-342900" lvl="0" marL="457200" rtl="0" algn="l">
              <a:lnSpc>
                <a:spcPct val="115000"/>
              </a:lnSpc>
              <a:spcBef>
                <a:spcPts val="1200"/>
              </a:spcBef>
              <a:spcAft>
                <a:spcPts val="0"/>
              </a:spcAft>
              <a:buClr>
                <a:srgbClr val="595959"/>
              </a:buClr>
              <a:buSzPts val="1800"/>
              <a:buFont typeface="Lato"/>
              <a:buChar char="-"/>
            </a:pPr>
            <a:r>
              <a:rPr lang="en" sz="1800">
                <a:solidFill>
                  <a:srgbClr val="595959"/>
                </a:solidFill>
                <a:latin typeface="Lato"/>
                <a:ea typeface="Lato"/>
                <a:cs typeface="Lato"/>
                <a:sym typeface="Lato"/>
              </a:rPr>
              <a:t>In the absence of SIT, there is a risk that modifications or updates made to one component could cause unexpected problems in another component or even crash the entire system. Additionally, SIT helps reduce the cost and time associated with debugging and troubleshooting problems related to integration issues.</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SIT also helps identify potential security risks in a system by testing how different components interact with each other, as well as how they respond to external inputs such as user input or data from other systems. By conducting thorough SIT tests, organizations can ensure that their systems are secure and free from vulnerabilities before they go live.</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7098e27d8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7098e27d8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t/>
            </a:r>
            <a:endParaRPr sz="1800">
              <a:solidFill>
                <a:srgbClr val="595959"/>
              </a:solidFill>
              <a:latin typeface="Lato"/>
              <a:ea typeface="Lato"/>
              <a:cs typeface="Lato"/>
              <a:sym typeface="Lato"/>
            </a:endParaRPr>
          </a:p>
          <a:p>
            <a:pPr indent="-342900" lvl="0" marL="457200" rtl="0" algn="l">
              <a:lnSpc>
                <a:spcPct val="115000"/>
              </a:lnSpc>
              <a:spcBef>
                <a:spcPts val="1200"/>
              </a:spcBef>
              <a:spcAft>
                <a:spcPts val="0"/>
              </a:spcAft>
              <a:buClr>
                <a:srgbClr val="595959"/>
              </a:buClr>
              <a:buSzPts val="1800"/>
              <a:buFont typeface="Lato"/>
              <a:buChar char="-"/>
            </a:pPr>
            <a:r>
              <a:rPr lang="en" sz="1800">
                <a:solidFill>
                  <a:srgbClr val="595959"/>
                </a:solidFill>
                <a:latin typeface="Lato"/>
                <a:ea typeface="Lato"/>
                <a:cs typeface="Lato"/>
                <a:sym typeface="Lato"/>
              </a:rPr>
              <a:t>In the absence of SIT, there is a risk that modifications or updates made to one component could cause unexpected problems in another component or even crash the entire system. Additionally, SIT helps reduce the cost and time associated with debugging and troubleshooting problems related to integration issues.</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SIT also helps identify potential security risks in a system by testing how different components interact with each other, as well as how they respond to external inputs such as user input or data from other systems. By conducting thorough SIT tests, organizations can ensure that their systems are secure and free from vulnerabilities before they go live.</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7098e27d8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7098e27d8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t/>
            </a:r>
            <a:endParaRPr sz="1800">
              <a:solidFill>
                <a:srgbClr val="595959"/>
              </a:solidFill>
              <a:latin typeface="Lato"/>
              <a:ea typeface="Lato"/>
              <a:cs typeface="Lato"/>
              <a:sym typeface="Lato"/>
            </a:endParaRPr>
          </a:p>
          <a:p>
            <a:pPr indent="-342900" lvl="0" marL="457200" rtl="0" algn="l">
              <a:lnSpc>
                <a:spcPct val="115000"/>
              </a:lnSpc>
              <a:spcBef>
                <a:spcPts val="1200"/>
              </a:spcBef>
              <a:spcAft>
                <a:spcPts val="0"/>
              </a:spcAft>
              <a:buClr>
                <a:srgbClr val="595959"/>
              </a:buClr>
              <a:buSzPts val="1800"/>
              <a:buFont typeface="Lato"/>
              <a:buChar char="-"/>
            </a:pPr>
            <a:r>
              <a:rPr lang="en" sz="1800">
                <a:solidFill>
                  <a:srgbClr val="595959"/>
                </a:solidFill>
                <a:latin typeface="Lato"/>
                <a:ea typeface="Lato"/>
                <a:cs typeface="Lato"/>
                <a:sym typeface="Lato"/>
              </a:rPr>
              <a:t>In the absence of SIT, there is a risk that modifications or updates made to one component could cause unexpected problems in another component or even crash the entire system. Additionally, SIT helps reduce the cost and time associated with debugging and troubleshooting problems related to integration issues.</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SIT also helps identify potential security risks in a system by testing how different components interact with each other, as well as how they respond to external inputs such as user input or data from other systems. By conducting thorough SIT tests, organizations can ensure that their systems are secure and free from vulnerabilities before they go live.</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7098e27d87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7098e27d87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t/>
            </a:r>
            <a:endParaRPr sz="1800">
              <a:solidFill>
                <a:srgbClr val="595959"/>
              </a:solidFill>
              <a:latin typeface="Lato"/>
              <a:ea typeface="Lato"/>
              <a:cs typeface="Lato"/>
              <a:sym typeface="Lato"/>
            </a:endParaRPr>
          </a:p>
          <a:p>
            <a:pPr indent="-342900" lvl="0" marL="457200" rtl="0" algn="l">
              <a:lnSpc>
                <a:spcPct val="115000"/>
              </a:lnSpc>
              <a:spcBef>
                <a:spcPts val="1200"/>
              </a:spcBef>
              <a:spcAft>
                <a:spcPts val="0"/>
              </a:spcAft>
              <a:buClr>
                <a:srgbClr val="595959"/>
              </a:buClr>
              <a:buSzPts val="1800"/>
              <a:buFont typeface="Lato"/>
              <a:buChar char="-"/>
            </a:pPr>
            <a:r>
              <a:rPr lang="en" sz="1800">
                <a:solidFill>
                  <a:srgbClr val="595959"/>
                </a:solidFill>
                <a:latin typeface="Lato"/>
                <a:ea typeface="Lato"/>
                <a:cs typeface="Lato"/>
                <a:sym typeface="Lato"/>
              </a:rPr>
              <a:t>In the absence of SIT, there is a risk that modifications or updates made to one component could cause unexpected problems in another component or even crash the entire system. Additionally, SIT helps reduce the cost and time associated with debugging and troubleshooting problems related to integration issues.</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SIT also helps identify potential security risks in a system by testing how different components interact with each other, as well as how they respond to external inputs such as user input or data from other systems. By conducting thorough SIT tests, organizations can ensure that their systems are secure and free from vulnerabilities before they go live.</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7098e27d87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7098e27d87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4325" lvl="0" marL="4572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Data state within the integration layer:</a:t>
            </a:r>
            <a:r>
              <a:rPr lang="en" sz="1350">
                <a:solidFill>
                  <a:srgbClr val="273239"/>
                </a:solidFill>
                <a:highlight>
                  <a:srgbClr val="FFFFFF"/>
                </a:highlight>
                <a:latin typeface="Nunito"/>
                <a:ea typeface="Nunito"/>
                <a:cs typeface="Nunito"/>
                <a:sym typeface="Nunito"/>
              </a:rPr>
              <a:t> Integration layer is the medium used for data transformation. Different web services are involved in this layer which is used as medium for data sending and receiving. There are several check-points where the validation of data is checked and there are several protocols used in it. Middleware is also used as medium for transformation which allows the data mapping against the cross-checking.</a:t>
            </a:r>
            <a:endParaRPr sz="1350">
              <a:solidFill>
                <a:srgbClr val="273239"/>
              </a:solidFill>
              <a:highlight>
                <a:srgbClr val="FFFFFF"/>
              </a:highlight>
              <a:latin typeface="Nunito"/>
              <a:ea typeface="Nunito"/>
              <a:cs typeface="Nunito"/>
              <a:sym typeface="Nunito"/>
            </a:endParaRPr>
          </a:p>
          <a:p>
            <a:pPr indent="-314325" lvl="0" marL="4572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Data state within the database layer:</a:t>
            </a:r>
            <a:r>
              <a:rPr lang="en" sz="1350">
                <a:solidFill>
                  <a:srgbClr val="273239"/>
                </a:solidFill>
                <a:highlight>
                  <a:srgbClr val="FFFFFF"/>
                </a:highlight>
                <a:latin typeface="Nunito"/>
                <a:ea typeface="Nunito"/>
                <a:cs typeface="Nunito"/>
                <a:sym typeface="Nunito"/>
              </a:rPr>
              <a:t> Database layer consists of several steps involved in it. It checks whether the data is transformed from integration layer to database layer. Data properties are checked and data validation process is performed. Mainly SQL is used for data storing and data manipulation process.</a:t>
            </a:r>
            <a:endParaRPr sz="1350">
              <a:solidFill>
                <a:srgbClr val="273239"/>
              </a:solidFill>
              <a:highlight>
                <a:srgbClr val="FFFFFF"/>
              </a:highlight>
              <a:latin typeface="Nunito"/>
              <a:ea typeface="Nunito"/>
              <a:cs typeface="Nunito"/>
              <a:sym typeface="Nunito"/>
            </a:endParaRPr>
          </a:p>
          <a:p>
            <a:pPr indent="-314325" lvl="0" marL="4572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Data state within the application layer:</a:t>
            </a:r>
            <a:r>
              <a:rPr lang="en" sz="1350">
                <a:solidFill>
                  <a:srgbClr val="273239"/>
                </a:solidFill>
                <a:highlight>
                  <a:srgbClr val="FFFFFF"/>
                </a:highlight>
                <a:latin typeface="Nunito"/>
                <a:ea typeface="Nunito"/>
                <a:cs typeface="Nunito"/>
                <a:sym typeface="Nunito"/>
              </a:rPr>
              <a:t> Application layer is used to create a data map for databases and check its interaction with user interface. Data properties are also checked in it.</a:t>
            </a:r>
            <a:endParaRPr sz="1350">
              <a:solidFill>
                <a:srgbClr val="273239"/>
              </a:solidFill>
              <a:highlight>
                <a:srgbClr val="FFFFFF"/>
              </a:highlight>
              <a:latin typeface="Nunito"/>
              <a:ea typeface="Nunito"/>
              <a:cs typeface="Nunito"/>
              <a:sym typeface="Nunito"/>
            </a:endParaRPr>
          </a:p>
          <a:p>
            <a:pPr indent="0" lvl="0" marL="457200" rtl="0" algn="l">
              <a:lnSpc>
                <a:spcPct val="115000"/>
              </a:lnSpc>
              <a:spcBef>
                <a:spcPts val="1800"/>
              </a:spcBef>
              <a:spcAft>
                <a:spcPts val="0"/>
              </a:spcAft>
              <a:buNone/>
            </a:pPr>
            <a:r>
              <a:t/>
            </a:r>
            <a:endParaRPr sz="1800">
              <a:solidFill>
                <a:srgbClr val="595959"/>
              </a:solidFill>
              <a:latin typeface="Lato"/>
              <a:ea typeface="Lato"/>
              <a:cs typeface="Lato"/>
              <a:sym typeface="Lato"/>
            </a:endParaRPr>
          </a:p>
          <a:p>
            <a:pPr indent="-342900" lvl="0" marL="457200" rtl="0" algn="l">
              <a:lnSpc>
                <a:spcPct val="115000"/>
              </a:lnSpc>
              <a:spcBef>
                <a:spcPts val="1200"/>
              </a:spcBef>
              <a:spcAft>
                <a:spcPts val="0"/>
              </a:spcAft>
              <a:buClr>
                <a:srgbClr val="595959"/>
              </a:buClr>
              <a:buSzPts val="1800"/>
              <a:buFont typeface="Lato"/>
              <a:buChar char="-"/>
            </a:pPr>
            <a:r>
              <a:rPr lang="en" sz="1800">
                <a:solidFill>
                  <a:srgbClr val="595959"/>
                </a:solidFill>
                <a:latin typeface="Lato"/>
                <a:ea typeface="Lato"/>
                <a:cs typeface="Lato"/>
                <a:sym typeface="Lato"/>
              </a:rPr>
              <a:t>In the absence of SIT, there is a risk that modifications or updates made to one component could cause unexpected problems in another component or even crash the entire system. Additionally, SIT helps reduce the cost and time associated with debugging and troubleshooting problems related to integration issues.</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SIT also helps identify potential security risks in a system by testing how different components interact with each other, as well as how they respond to external inputs such as user input or data from other systems. By conducting thorough SIT tests, organizations can ensure that their systems are secure and free from vulnerabilities before they go live.</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6a117d3ff3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6a117d3ff3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2" name="Shape 82"/>
        <p:cNvGrpSpPr/>
        <p:nvPr/>
      </p:nvGrpSpPr>
      <p:grpSpPr>
        <a:xfrm>
          <a:off x="0" y="0"/>
          <a:ext cx="0" cy="0"/>
          <a:chOff x="0" y="0"/>
          <a:chExt cx="0" cy="0"/>
        </a:xfrm>
      </p:grpSpPr>
      <p:sp>
        <p:nvSpPr>
          <p:cNvPr id="83" name="Google Shape;83;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4" name="Google Shape;84;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1200"/>
              </a:spcBef>
              <a:spcAft>
                <a:spcPts val="0"/>
              </a:spcAft>
              <a:buClr>
                <a:schemeClr val="dk1"/>
              </a:buClr>
              <a:buSzPts val="1800"/>
              <a:buChar char="○"/>
              <a:defRPr/>
            </a:lvl2pPr>
            <a:lvl3pPr indent="-342900" lvl="2" marL="1371600" rtl="0" algn="l">
              <a:spcBef>
                <a:spcPts val="1200"/>
              </a:spcBef>
              <a:spcAft>
                <a:spcPts val="0"/>
              </a:spcAft>
              <a:buClr>
                <a:schemeClr val="dk1"/>
              </a:buClr>
              <a:buSzPts val="1800"/>
              <a:buChar char="■"/>
              <a:defRPr/>
            </a:lvl3pPr>
            <a:lvl4pPr indent="-342900" lvl="3" marL="1828800" rtl="0" algn="l">
              <a:spcBef>
                <a:spcPts val="1200"/>
              </a:spcBef>
              <a:spcAft>
                <a:spcPts val="0"/>
              </a:spcAft>
              <a:buClr>
                <a:schemeClr val="dk1"/>
              </a:buClr>
              <a:buSzPts val="1800"/>
              <a:buChar char="●"/>
              <a:defRPr/>
            </a:lvl4pPr>
            <a:lvl5pPr indent="-342900" lvl="4" marL="2286000" rtl="0" algn="l">
              <a:spcBef>
                <a:spcPts val="1200"/>
              </a:spcBef>
              <a:spcAft>
                <a:spcPts val="0"/>
              </a:spcAft>
              <a:buClr>
                <a:schemeClr val="dk1"/>
              </a:buClr>
              <a:buSzPts val="1800"/>
              <a:buChar char="○"/>
              <a:defRPr/>
            </a:lvl5pPr>
            <a:lvl6pPr indent="-342900" lvl="5" marL="2743200" rtl="0" algn="l">
              <a:spcBef>
                <a:spcPts val="1200"/>
              </a:spcBef>
              <a:spcAft>
                <a:spcPts val="0"/>
              </a:spcAft>
              <a:buClr>
                <a:schemeClr val="dk1"/>
              </a:buClr>
              <a:buSzPts val="1800"/>
              <a:buChar char="■"/>
              <a:defRPr/>
            </a:lvl6pPr>
            <a:lvl7pPr indent="-342900" lvl="6" marL="3200400" rtl="0" algn="l">
              <a:spcBef>
                <a:spcPts val="1200"/>
              </a:spcBef>
              <a:spcAft>
                <a:spcPts val="0"/>
              </a:spcAft>
              <a:buClr>
                <a:schemeClr val="dk1"/>
              </a:buClr>
              <a:buSzPts val="1800"/>
              <a:buChar char="●"/>
              <a:defRPr/>
            </a:lvl7pPr>
            <a:lvl8pPr indent="-342900" lvl="7" marL="3657600" rtl="0" algn="l">
              <a:spcBef>
                <a:spcPts val="1200"/>
              </a:spcBef>
              <a:spcAft>
                <a:spcPts val="0"/>
              </a:spcAft>
              <a:buClr>
                <a:schemeClr val="dk1"/>
              </a:buClr>
              <a:buSzPts val="1800"/>
              <a:buChar char="○"/>
              <a:defRPr/>
            </a:lvl8pPr>
            <a:lvl9pPr indent="-342900" lvl="8" marL="4114800" rtl="0" algn="l">
              <a:spcBef>
                <a:spcPts val="1200"/>
              </a:spcBef>
              <a:spcAft>
                <a:spcPts val="1200"/>
              </a:spcAft>
              <a:buClr>
                <a:schemeClr val="dk1"/>
              </a:buClr>
              <a:buSzPts val="1800"/>
              <a:buChar char="■"/>
              <a:defRPr/>
            </a:lvl9pPr>
          </a:lstStyle>
          <a:p/>
        </p:txBody>
      </p:sp>
      <p:sp>
        <p:nvSpPr>
          <p:cNvPr id="85" name="Google Shape;85;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6" name="Google Shape;86;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7" name="Google Shape;87;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Software Quality Assurance</a:t>
            </a:r>
            <a:endParaRPr/>
          </a:p>
          <a:p>
            <a:pPr indent="0" lvl="0" marL="0" rtl="0" algn="ctr">
              <a:spcBef>
                <a:spcPts val="0"/>
              </a:spcBef>
              <a:spcAft>
                <a:spcPts val="0"/>
              </a:spcAft>
              <a:buNone/>
            </a:pPr>
            <a:r>
              <a:rPr lang="en"/>
              <a:t>HNDIT-4022</a:t>
            </a:r>
            <a:endParaRPr/>
          </a:p>
        </p:txBody>
      </p:sp>
      <p:sp>
        <p:nvSpPr>
          <p:cNvPr id="93" name="Google Shape;93;p14"/>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100">
                <a:solidFill>
                  <a:srgbClr val="38761D"/>
                </a:solidFill>
              </a:rPr>
              <a:t>System Integration Testing (SIT)</a:t>
            </a:r>
            <a:endParaRPr b="1" sz="2100">
              <a:solidFill>
                <a:srgbClr val="38761D"/>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What is System Integration Testing (SIT)?</a:t>
            </a:r>
            <a:endParaRPr sz="2540"/>
          </a:p>
        </p:txBody>
      </p:sp>
      <p:sp>
        <p:nvSpPr>
          <p:cNvPr id="99" name="Google Shape;99;p15"/>
          <p:cNvSpPr txBox="1"/>
          <p:nvPr>
            <p:ph idx="1" type="body"/>
          </p:nvPr>
        </p:nvSpPr>
        <p:spPr>
          <a:xfrm>
            <a:off x="729450" y="1240675"/>
            <a:ext cx="7688700" cy="930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System Integration Testing, or SIT, is a QA process that is leveraged to ensure the compatibility of two or more systems. It helps to ensure that the systems are working together correctly and that any interactions are appropriate and safe. This process can involve the testing of software, systems, or networks. It can also involve testing of the system’s performance, integrity, and compatibility.</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Importance of System Integration Testing</a:t>
            </a:r>
            <a:endParaRPr sz="2540"/>
          </a:p>
        </p:txBody>
      </p:sp>
      <p:sp>
        <p:nvSpPr>
          <p:cNvPr id="105" name="Google Shape;105;p16"/>
          <p:cNvSpPr txBox="1"/>
          <p:nvPr>
            <p:ph idx="1" type="body"/>
          </p:nvPr>
        </p:nvSpPr>
        <p:spPr>
          <a:xfrm>
            <a:off x="729450" y="1240675"/>
            <a:ext cx="7688700" cy="3902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System integration testing is an essential part of many business operations. </a:t>
            </a:r>
            <a:endParaRPr sz="1800"/>
          </a:p>
          <a:p>
            <a:pPr indent="-342900" lvl="0" marL="457200" rtl="0" algn="l">
              <a:spcBef>
                <a:spcPts val="0"/>
              </a:spcBef>
              <a:spcAft>
                <a:spcPts val="0"/>
              </a:spcAft>
              <a:buSzPts val="1800"/>
              <a:buChar char="-"/>
            </a:pPr>
            <a:r>
              <a:rPr lang="en" sz="1800"/>
              <a:t>It allows for the identification and cleaning up of systems, data, and processes. </a:t>
            </a:r>
            <a:endParaRPr sz="1800"/>
          </a:p>
          <a:p>
            <a:pPr indent="-342900" lvl="0" marL="457200" rtl="0" algn="l">
              <a:spcBef>
                <a:spcPts val="0"/>
              </a:spcBef>
              <a:spcAft>
                <a:spcPts val="0"/>
              </a:spcAft>
              <a:buSzPts val="1800"/>
              <a:buChar char="-"/>
            </a:pPr>
            <a:r>
              <a:rPr lang="en" sz="1800"/>
              <a:t>The importance of system integration testing is evident as it verifies that all components of a system interact with each other correctly. </a:t>
            </a:r>
            <a:endParaRPr sz="1800"/>
          </a:p>
          <a:p>
            <a:pPr indent="-342900" lvl="0" marL="457200" rtl="0" algn="l">
              <a:spcBef>
                <a:spcPts val="0"/>
              </a:spcBef>
              <a:spcAft>
                <a:spcPts val="0"/>
              </a:spcAft>
              <a:buSzPts val="1800"/>
              <a:buChar char="-"/>
            </a:pPr>
            <a:r>
              <a:rPr lang="en" sz="1800"/>
              <a:t>This type of testing ensures that any changes made to one component do not have an adverse impact on the other components or the overall system. </a:t>
            </a:r>
            <a:endParaRPr sz="1800"/>
          </a:p>
          <a:p>
            <a:pPr indent="-342900" lvl="0" marL="457200" rtl="0" algn="l">
              <a:spcBef>
                <a:spcPts val="0"/>
              </a:spcBef>
              <a:spcAft>
                <a:spcPts val="0"/>
              </a:spcAft>
              <a:buSzPts val="1800"/>
              <a:buChar char="-"/>
            </a:pPr>
            <a:r>
              <a:rPr lang="en" sz="1800"/>
              <a:t>SIT also helps identify and resolve any compatibility issues between different systems, which are necessary for successful integration.</a:t>
            </a:r>
            <a:endParaRPr sz="1800"/>
          </a:p>
          <a:p>
            <a:pPr indent="0" lvl="0" marL="457200" rtl="0" algn="l">
              <a:spcBef>
                <a:spcPts val="1200"/>
              </a:spcBef>
              <a:spcAft>
                <a:spcPts val="120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Benefits of System Integration Testing</a:t>
            </a:r>
            <a:endParaRPr sz="2540"/>
          </a:p>
        </p:txBody>
      </p:sp>
      <p:pic>
        <p:nvPicPr>
          <p:cNvPr id="111" name="Google Shape;111;p17"/>
          <p:cNvPicPr preferRelativeResize="0"/>
          <p:nvPr/>
        </p:nvPicPr>
        <p:blipFill>
          <a:blip r:embed="rId3">
            <a:alphaModFix/>
          </a:blip>
          <a:stretch>
            <a:fillRect/>
          </a:stretch>
        </p:blipFill>
        <p:spPr>
          <a:xfrm>
            <a:off x="1628225" y="1598100"/>
            <a:ext cx="5191125" cy="2657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System Integration Testing Techniques</a:t>
            </a:r>
            <a:endParaRPr sz="2540"/>
          </a:p>
        </p:txBody>
      </p:sp>
      <p:pic>
        <p:nvPicPr>
          <p:cNvPr id="117" name="Google Shape;117;p18"/>
          <p:cNvPicPr preferRelativeResize="0"/>
          <p:nvPr/>
        </p:nvPicPr>
        <p:blipFill>
          <a:blip r:embed="rId3">
            <a:alphaModFix/>
          </a:blip>
          <a:stretch>
            <a:fillRect/>
          </a:stretch>
        </p:blipFill>
        <p:spPr>
          <a:xfrm>
            <a:off x="1976438" y="1320450"/>
            <a:ext cx="5191125" cy="3133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System Integration Testing: Best Practices</a:t>
            </a:r>
            <a:endParaRPr sz="2540"/>
          </a:p>
        </p:txBody>
      </p:sp>
      <p:pic>
        <p:nvPicPr>
          <p:cNvPr id="123" name="Google Shape;123;p19"/>
          <p:cNvPicPr preferRelativeResize="0"/>
          <p:nvPr/>
        </p:nvPicPr>
        <p:blipFill>
          <a:blip r:embed="rId3">
            <a:alphaModFix/>
          </a:blip>
          <a:stretch>
            <a:fillRect/>
          </a:stretch>
        </p:blipFill>
        <p:spPr>
          <a:xfrm>
            <a:off x="833438" y="1320450"/>
            <a:ext cx="7477125" cy="2657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Factors to Consider While Integration Testing</a:t>
            </a:r>
            <a:endParaRPr sz="2540"/>
          </a:p>
        </p:txBody>
      </p:sp>
      <p:pic>
        <p:nvPicPr>
          <p:cNvPr id="129" name="Google Shape;129;p20"/>
          <p:cNvPicPr preferRelativeResize="0"/>
          <p:nvPr/>
        </p:nvPicPr>
        <p:blipFill>
          <a:blip r:embed="rId3">
            <a:alphaModFix/>
          </a:blip>
          <a:stretch>
            <a:fillRect/>
          </a:stretch>
        </p:blipFill>
        <p:spPr>
          <a:xfrm>
            <a:off x="1352953" y="1320450"/>
            <a:ext cx="6441700" cy="329767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Objective of System Integration Testing</a:t>
            </a:r>
            <a:endParaRPr sz="2540"/>
          </a:p>
        </p:txBody>
      </p:sp>
      <p:sp>
        <p:nvSpPr>
          <p:cNvPr id="135" name="Google Shape;135;p21"/>
          <p:cNvSpPr txBox="1"/>
          <p:nvPr/>
        </p:nvSpPr>
        <p:spPr>
          <a:xfrm>
            <a:off x="847500" y="1417400"/>
            <a:ext cx="7014000" cy="1847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To meet software with user requirements.</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To maximize the memory usage.</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To control data flow in within the system.</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To test the control flow of the system.</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To find the errors and bugs in the system.</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To minimize time consumption for testing process.</a:t>
            </a:r>
            <a:endParaRPr sz="1800">
              <a:solidFill>
                <a:schemeClr val="accen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Major States of SIT</a:t>
            </a:r>
            <a:endParaRPr sz="2540"/>
          </a:p>
          <a:p>
            <a:pPr indent="0" lvl="0" marL="0" rtl="0" algn="l">
              <a:spcBef>
                <a:spcPts val="0"/>
              </a:spcBef>
              <a:spcAft>
                <a:spcPts val="0"/>
              </a:spcAft>
              <a:buSzPts val="990"/>
              <a:buNone/>
            </a:pPr>
            <a:r>
              <a:t/>
            </a:r>
            <a:endParaRPr sz="2540"/>
          </a:p>
        </p:txBody>
      </p:sp>
      <p:sp>
        <p:nvSpPr>
          <p:cNvPr id="141" name="Google Shape;141;p22"/>
          <p:cNvSpPr txBox="1"/>
          <p:nvPr/>
        </p:nvSpPr>
        <p:spPr>
          <a:xfrm>
            <a:off x="847500" y="1417400"/>
            <a:ext cx="70140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latin typeface="Lato"/>
                <a:ea typeface="Lato"/>
                <a:cs typeface="Lato"/>
                <a:sym typeface="Lato"/>
              </a:rPr>
              <a:t>There are three major states of SIT.</a:t>
            </a:r>
            <a:endParaRPr sz="1800">
              <a:solidFill>
                <a:schemeClr val="accent1"/>
              </a:solidFill>
              <a:latin typeface="Lato"/>
              <a:ea typeface="Lato"/>
              <a:cs typeface="Lato"/>
              <a:sym typeface="Lato"/>
            </a:endParaRPr>
          </a:p>
          <a:p>
            <a:pPr indent="0" lvl="0" marL="0" rtl="0" algn="l">
              <a:spcBef>
                <a:spcPts val="0"/>
              </a:spcBef>
              <a:spcAft>
                <a:spcPts val="0"/>
              </a:spcAft>
              <a:buNone/>
            </a:pPr>
            <a:r>
              <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Data state within the integration layer</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Data state within the database layer </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Data state within the application layer</a:t>
            </a:r>
            <a:endParaRPr sz="1800">
              <a:solidFill>
                <a:schemeClr val="accen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Q&amp;A’s ?</a:t>
            </a:r>
            <a:endParaRPr/>
          </a:p>
        </p:txBody>
      </p:sp>
      <p:sp>
        <p:nvSpPr>
          <p:cNvPr id="147" name="Google Shape;147;p23"/>
          <p:cNvSpPr txBox="1"/>
          <p:nvPr>
            <p:ph idx="1" type="body"/>
          </p:nvPr>
        </p:nvSpPr>
        <p:spPr>
          <a:xfrm>
            <a:off x="729450" y="2320025"/>
            <a:ext cx="7688700" cy="1320600"/>
          </a:xfrm>
          <a:prstGeom prst="rect">
            <a:avLst/>
          </a:prstGeom>
        </p:spPr>
        <p:txBody>
          <a:bodyPr anchorCtr="0" anchor="t" bIns="91425" lIns="91425" spcFirstLastPara="1" rIns="91425" wrap="square" tIns="91425">
            <a:normAutofit/>
          </a:bodyPr>
          <a:lstStyle/>
          <a:p>
            <a:pPr indent="0" lvl="0" marL="457200" rtl="0" algn="ctr">
              <a:lnSpc>
                <a:spcPct val="100000"/>
              </a:lnSpc>
              <a:spcBef>
                <a:spcPts val="0"/>
              </a:spcBef>
              <a:spcAft>
                <a:spcPts val="0"/>
              </a:spcAft>
              <a:buNone/>
            </a:pPr>
            <a:r>
              <a:rPr lang="en" sz="2900">
                <a:solidFill>
                  <a:srgbClr val="000000"/>
                </a:solidFill>
                <a:latin typeface="Calibri"/>
                <a:ea typeface="Calibri"/>
                <a:cs typeface="Calibri"/>
                <a:sym typeface="Calibri"/>
              </a:rPr>
              <a:t>Thank you !</a:t>
            </a:r>
            <a:endParaRPr sz="2900">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