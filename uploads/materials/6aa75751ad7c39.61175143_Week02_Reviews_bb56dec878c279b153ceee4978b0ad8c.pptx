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Roboto"/>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a89426c41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6a89426c41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a89426c41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6a89426c41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a89426c41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6a89426c41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a89426c41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a89426c4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6a117d3ff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6a117d3ff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a117d3ff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6a117d3ff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a117d3ff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a117d3ff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6a117d3ff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6a117d3ff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a117d3ff3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a117d3ff3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12750" lvl="0" marL="342900" rtl="0" algn="l">
              <a:lnSpc>
                <a:spcPct val="115000"/>
              </a:lnSpc>
              <a:spcBef>
                <a:spcPts val="1200"/>
              </a:spcBef>
              <a:spcAft>
                <a:spcPts val="0"/>
              </a:spcAft>
              <a:buClr>
                <a:schemeClr val="dk1"/>
              </a:buClr>
              <a:buSzPts val="2900"/>
              <a:buChar char="•"/>
            </a:pPr>
            <a:r>
              <a:rPr lang="en">
                <a:solidFill>
                  <a:schemeClr val="dk1"/>
                </a:solidFill>
              </a:rPr>
              <a:t>Loss of money – this can include losing customers right through to financial penalties for non-compliance to legal requirements</a:t>
            </a:r>
            <a:endParaRPr>
              <a:solidFill>
                <a:schemeClr val="dk1"/>
              </a:solidFill>
            </a:endParaRPr>
          </a:p>
          <a:p>
            <a:pPr indent="-412750" lvl="0" marL="342900" rtl="0" algn="l">
              <a:lnSpc>
                <a:spcPct val="115000"/>
              </a:lnSpc>
              <a:spcBef>
                <a:spcPts val="0"/>
              </a:spcBef>
              <a:spcAft>
                <a:spcPts val="0"/>
              </a:spcAft>
              <a:buClr>
                <a:schemeClr val="dk1"/>
              </a:buClr>
              <a:buSzPts val="2900"/>
              <a:buChar char="•"/>
            </a:pPr>
            <a:r>
              <a:rPr lang="en">
                <a:solidFill>
                  <a:schemeClr val="dk1"/>
                </a:solidFill>
              </a:rPr>
              <a:t>Loss of time – this can be caused by transactions taking a long time to process but can include staff not being able to work due to a fault or failure</a:t>
            </a:r>
            <a:endParaRPr>
              <a:solidFill>
                <a:schemeClr val="dk1"/>
              </a:solidFill>
            </a:endParaRPr>
          </a:p>
          <a:p>
            <a:pPr indent="-412750" lvl="0" marL="342900" rtl="0" algn="l">
              <a:lnSpc>
                <a:spcPct val="115000"/>
              </a:lnSpc>
              <a:spcBef>
                <a:spcPts val="0"/>
              </a:spcBef>
              <a:spcAft>
                <a:spcPts val="0"/>
              </a:spcAft>
              <a:buClr>
                <a:schemeClr val="dk1"/>
              </a:buClr>
              <a:buSzPts val="2900"/>
              <a:buChar char="•"/>
            </a:pPr>
            <a:r>
              <a:rPr lang="en">
                <a:solidFill>
                  <a:schemeClr val="dk1"/>
                </a:solidFill>
              </a:rPr>
              <a:t>Damage to business reputation – if an organization is unable to provide service to their customers due to software problems then the customers will lose confidence or faith in this organization (and probably take their business elsewhere)</a:t>
            </a:r>
            <a:endParaRPr>
              <a:solidFill>
                <a:schemeClr val="dk1"/>
              </a:solidFill>
            </a:endParaRPr>
          </a:p>
          <a:p>
            <a:pPr indent="-412750" lvl="0" marL="342900" rtl="0" algn="l">
              <a:lnSpc>
                <a:spcPct val="115000"/>
              </a:lnSpc>
              <a:spcBef>
                <a:spcPts val="0"/>
              </a:spcBef>
              <a:spcAft>
                <a:spcPts val="0"/>
              </a:spcAft>
              <a:buClr>
                <a:schemeClr val="dk1"/>
              </a:buClr>
              <a:buSzPts val="2900"/>
              <a:buChar char="•"/>
            </a:pPr>
            <a:r>
              <a:rPr lang="en">
                <a:solidFill>
                  <a:schemeClr val="dk1"/>
                </a:solidFill>
              </a:rPr>
              <a:t>Injury or death – It might sound dramatic but some safety-critical systems could result in injuries or deaths if they don’t work properly (e.g. flight traffic control software)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6a117d3ff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6a117d3ff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a117d3ff3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a117d3ff3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a117d3ff3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6a117d3ff3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Software Reviews</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Software Review?</a:t>
            </a:r>
            <a:endParaRPr sz="2540"/>
          </a:p>
        </p:txBody>
      </p:sp>
      <p:sp>
        <p:nvSpPr>
          <p:cNvPr id="99" name="Google Shape;99;p15"/>
          <p:cNvSpPr txBox="1"/>
          <p:nvPr>
            <p:ph idx="1" type="body"/>
          </p:nvPr>
        </p:nvSpPr>
        <p:spPr>
          <a:xfrm>
            <a:off x="729450" y="1240675"/>
            <a:ext cx="7688700" cy="93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 </a:t>
            </a:r>
            <a:r>
              <a:rPr b="1" lang="en" sz="1800"/>
              <a:t>software review</a:t>
            </a:r>
            <a:r>
              <a:rPr lang="en" sz="1800"/>
              <a:t> is a process or meeting during which a software product is examined by a project personnel, users, computers, user representatives, or other interested parties for comment or approval."</a:t>
            </a:r>
            <a:endParaRPr sz="1800"/>
          </a:p>
        </p:txBody>
      </p:sp>
      <p:sp>
        <p:nvSpPr>
          <p:cNvPr id="100" name="Google Shape;100;p15"/>
          <p:cNvSpPr txBox="1"/>
          <p:nvPr>
            <p:ph idx="1" type="body"/>
          </p:nvPr>
        </p:nvSpPr>
        <p:spPr>
          <a:xfrm>
            <a:off x="881850" y="2418450"/>
            <a:ext cx="7688700" cy="27252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sz="1800"/>
              <a:t>A review is a type of testing where a group of people discuss the product produced by the developer, detect errors, and try to correct them in a systematic manner.</a:t>
            </a:r>
            <a:endParaRPr sz="1800"/>
          </a:p>
          <a:p>
            <a:pPr indent="-342900" lvl="0" marL="457200" rtl="0" algn="l">
              <a:spcBef>
                <a:spcPts val="0"/>
              </a:spcBef>
              <a:spcAft>
                <a:spcPts val="0"/>
              </a:spcAft>
              <a:buSzPts val="1800"/>
              <a:buChar char="-"/>
            </a:pPr>
            <a:r>
              <a:rPr lang="en" sz="1800"/>
              <a:t>Reviews play a key role in the software testing process.</a:t>
            </a:r>
            <a:endParaRPr sz="1800"/>
          </a:p>
          <a:p>
            <a:pPr indent="0" lvl="0" marL="457200" rtl="0" algn="l">
              <a:spcBef>
                <a:spcPts val="1200"/>
              </a:spcBef>
              <a:spcAft>
                <a:spcPts val="0"/>
              </a:spcAft>
              <a:buNone/>
            </a:pPr>
            <a:r>
              <a:rPr lang="en" sz="1800"/>
              <a:t>Types of Reviews;</a:t>
            </a:r>
            <a:endParaRPr sz="1800"/>
          </a:p>
          <a:p>
            <a:pPr indent="-342900" lvl="0" marL="457200" rtl="0" algn="l">
              <a:spcBef>
                <a:spcPts val="1200"/>
              </a:spcBef>
              <a:spcAft>
                <a:spcPts val="0"/>
              </a:spcAft>
              <a:buSzPts val="1800"/>
              <a:buChar char="❏"/>
            </a:pPr>
            <a:r>
              <a:rPr lang="en" sz="1800"/>
              <a:t>Informal</a:t>
            </a:r>
            <a:r>
              <a:rPr lang="en" sz="1800"/>
              <a:t> Review</a:t>
            </a:r>
            <a:endParaRPr sz="1800"/>
          </a:p>
          <a:p>
            <a:pPr indent="-342900" lvl="0" marL="457200" rtl="0" algn="l">
              <a:spcBef>
                <a:spcPts val="0"/>
              </a:spcBef>
              <a:spcAft>
                <a:spcPts val="0"/>
              </a:spcAft>
              <a:buSzPts val="1800"/>
              <a:buChar char="❏"/>
            </a:pPr>
            <a:r>
              <a:rPr lang="en" sz="1800"/>
              <a:t>Formal Reviews</a:t>
            </a:r>
            <a:endParaRPr sz="1800"/>
          </a:p>
          <a:p>
            <a:pPr indent="0" lvl="0" marL="0" rtl="0" algn="l">
              <a:spcBef>
                <a:spcPts val="1200"/>
              </a:spcBef>
              <a:spcAft>
                <a:spcPts val="120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Informal Reviews</a:t>
            </a:r>
            <a:endParaRPr sz="2540"/>
          </a:p>
        </p:txBody>
      </p:sp>
      <p:sp>
        <p:nvSpPr>
          <p:cNvPr id="106" name="Google Shape;106;p16"/>
          <p:cNvSpPr txBox="1"/>
          <p:nvPr>
            <p:ph idx="1" type="body"/>
          </p:nvPr>
        </p:nvSpPr>
        <p:spPr>
          <a:xfrm>
            <a:off x="729450" y="1240675"/>
            <a:ext cx="7688700" cy="93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Informal reviews take place between two or three people. The review conference is scheduled at their convenience.</a:t>
            </a:r>
            <a:endParaRPr sz="1800"/>
          </a:p>
        </p:txBody>
      </p:sp>
      <p:sp>
        <p:nvSpPr>
          <p:cNvPr id="107" name="Google Shape;107;p16"/>
          <p:cNvSpPr txBox="1"/>
          <p:nvPr>
            <p:ph idx="1" type="body"/>
          </p:nvPr>
        </p:nvSpPr>
        <p:spPr>
          <a:xfrm>
            <a:off x="895900" y="2171575"/>
            <a:ext cx="7688700" cy="272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This meeting is generally scheduled during the free time of the team members.</a:t>
            </a:r>
            <a:endParaRPr sz="1800"/>
          </a:p>
          <a:p>
            <a:pPr indent="-342900" lvl="0" marL="457200" rtl="0" algn="l">
              <a:spcBef>
                <a:spcPts val="0"/>
              </a:spcBef>
              <a:spcAft>
                <a:spcPts val="0"/>
              </a:spcAft>
              <a:buSzPts val="1800"/>
              <a:buChar char="❏"/>
            </a:pPr>
            <a:r>
              <a:rPr lang="en" sz="1800"/>
              <a:t>There is no planning for the meeting.</a:t>
            </a:r>
            <a:endParaRPr sz="1800"/>
          </a:p>
          <a:p>
            <a:pPr indent="-342900" lvl="0" marL="457200" rtl="0" algn="l">
              <a:spcBef>
                <a:spcPts val="0"/>
              </a:spcBef>
              <a:spcAft>
                <a:spcPts val="0"/>
              </a:spcAft>
              <a:buSzPts val="1800"/>
              <a:buChar char="❏"/>
            </a:pPr>
            <a:r>
              <a:rPr lang="en" sz="1800"/>
              <a:t>If any errors occur, they are not corrected in the informal reviews.</a:t>
            </a:r>
            <a:endParaRPr sz="1800"/>
          </a:p>
          <a:p>
            <a:pPr indent="-342900" lvl="0" marL="457200" rtl="0" algn="l">
              <a:spcBef>
                <a:spcPts val="0"/>
              </a:spcBef>
              <a:spcAft>
                <a:spcPts val="0"/>
              </a:spcAft>
              <a:buSzPts val="1800"/>
              <a:buChar char="❏"/>
            </a:pPr>
            <a:r>
              <a:rPr lang="en" sz="1800"/>
              <a:t>There is no guidance from the team.</a:t>
            </a:r>
            <a:endParaRPr sz="1800"/>
          </a:p>
          <a:p>
            <a:pPr indent="-342900" lvl="0" marL="457200" rtl="0" algn="l">
              <a:spcBef>
                <a:spcPts val="0"/>
              </a:spcBef>
              <a:spcAft>
                <a:spcPts val="0"/>
              </a:spcAft>
              <a:buSzPts val="1800"/>
              <a:buChar char="❏"/>
            </a:pPr>
            <a:r>
              <a:rPr lang="en" sz="1800"/>
              <a:t>This review is less effective compared to the formal review.</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F</a:t>
            </a:r>
            <a:r>
              <a:rPr lang="en" sz="2540"/>
              <a:t>ormal Reviews</a:t>
            </a:r>
            <a:endParaRPr sz="2540"/>
          </a:p>
        </p:txBody>
      </p:sp>
      <p:sp>
        <p:nvSpPr>
          <p:cNvPr id="113" name="Google Shape;113;p17"/>
          <p:cNvSpPr txBox="1"/>
          <p:nvPr>
            <p:ph idx="1" type="body"/>
          </p:nvPr>
        </p:nvSpPr>
        <p:spPr>
          <a:xfrm>
            <a:off x="729450" y="1240675"/>
            <a:ext cx="7688700" cy="93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Formal reviews take place among a team of three to five members. In the formal review, the members discuss the software model.</a:t>
            </a:r>
            <a:endParaRPr sz="1800"/>
          </a:p>
        </p:txBody>
      </p:sp>
      <p:sp>
        <p:nvSpPr>
          <p:cNvPr id="114" name="Google Shape;114;p17"/>
          <p:cNvSpPr txBox="1"/>
          <p:nvPr>
            <p:ph idx="1" type="body"/>
          </p:nvPr>
        </p:nvSpPr>
        <p:spPr>
          <a:xfrm>
            <a:off x="881850" y="2418450"/>
            <a:ext cx="7688700" cy="1705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This meeting is scheduled beforehand. This gives the team members time to prepare.</a:t>
            </a:r>
            <a:endParaRPr sz="1800"/>
          </a:p>
          <a:p>
            <a:pPr indent="-342900" lvl="0" marL="457200" rtl="0" algn="l">
              <a:spcBef>
                <a:spcPts val="0"/>
              </a:spcBef>
              <a:spcAft>
                <a:spcPts val="0"/>
              </a:spcAft>
              <a:buSzPts val="1800"/>
              <a:buChar char="❏"/>
            </a:pPr>
            <a:r>
              <a:rPr lang="en" sz="1800"/>
              <a:t>This meeting consists of a professional team that identifies and corrects errors in the model.</a:t>
            </a:r>
            <a:endParaRPr sz="1800"/>
          </a:p>
          <a:p>
            <a:pPr indent="-342900" lvl="0" marL="457200" rtl="0" algn="l">
              <a:spcBef>
                <a:spcPts val="0"/>
              </a:spcBef>
              <a:spcAft>
                <a:spcPts val="0"/>
              </a:spcAft>
              <a:buSzPts val="1800"/>
              <a:buChar char="❏"/>
            </a:pPr>
            <a:r>
              <a:rPr lang="en" sz="1800"/>
              <a:t>This meeting does not exceed two hours.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Review Meeting</a:t>
            </a:r>
            <a:endParaRPr sz="2540"/>
          </a:p>
        </p:txBody>
      </p:sp>
      <p:sp>
        <p:nvSpPr>
          <p:cNvPr id="120" name="Google Shape;120;p18"/>
          <p:cNvSpPr txBox="1"/>
          <p:nvPr>
            <p:ph idx="1" type="body"/>
          </p:nvPr>
        </p:nvSpPr>
        <p:spPr>
          <a:xfrm>
            <a:off x="729450" y="1240675"/>
            <a:ext cx="7688700" cy="93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At the end of the meeting, there is an acceptance stage. It involves the following three rules:</a:t>
            </a:r>
            <a:endParaRPr sz="1800"/>
          </a:p>
        </p:txBody>
      </p:sp>
      <p:sp>
        <p:nvSpPr>
          <p:cNvPr id="121" name="Google Shape;121;p18"/>
          <p:cNvSpPr txBox="1"/>
          <p:nvPr>
            <p:ph idx="1" type="body"/>
          </p:nvPr>
        </p:nvSpPr>
        <p:spPr>
          <a:xfrm>
            <a:off x="881850" y="2037450"/>
            <a:ext cx="7688700" cy="1705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If the project meets the expectations, they accept the model.</a:t>
            </a:r>
            <a:endParaRPr sz="1800"/>
          </a:p>
          <a:p>
            <a:pPr indent="-342900" lvl="0" marL="457200" rtl="0" algn="l">
              <a:spcBef>
                <a:spcPts val="0"/>
              </a:spcBef>
              <a:spcAft>
                <a:spcPts val="0"/>
              </a:spcAft>
              <a:buSzPts val="1800"/>
              <a:buChar char="❏"/>
            </a:pPr>
            <a:r>
              <a:rPr lang="en" sz="1800"/>
              <a:t>If the project has a significant amount of errors, they reject the model, ask to modify it, and have another review meeting.</a:t>
            </a:r>
            <a:endParaRPr sz="1800"/>
          </a:p>
          <a:p>
            <a:pPr indent="-342900" lvl="0" marL="457200" rtl="0" algn="l">
              <a:spcBef>
                <a:spcPts val="0"/>
              </a:spcBef>
              <a:spcAft>
                <a:spcPts val="0"/>
              </a:spcAft>
              <a:buSzPts val="1800"/>
              <a:buChar char="❏"/>
            </a:pPr>
            <a:r>
              <a:rPr lang="en" sz="1800"/>
              <a:t>If the project has only a few errors, the team asks to correct the mistakes, and there are no further review meetings.</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Review Meeting…</a:t>
            </a:r>
            <a:endParaRPr sz="2540"/>
          </a:p>
        </p:txBody>
      </p:sp>
      <p:sp>
        <p:nvSpPr>
          <p:cNvPr id="127" name="Google Shape;127;p19"/>
          <p:cNvSpPr txBox="1"/>
          <p:nvPr>
            <p:ph idx="1" type="body"/>
          </p:nvPr>
        </p:nvSpPr>
        <p:spPr>
          <a:xfrm>
            <a:off x="729450" y="1240675"/>
            <a:ext cx="7688700" cy="336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In addition, a formal technical review summary report is taken.</a:t>
            </a:r>
            <a:endParaRPr sz="1800"/>
          </a:p>
          <a:p>
            <a:pPr indent="0" lvl="0" marL="0" rtl="0" algn="l">
              <a:spcBef>
                <a:spcPts val="1200"/>
              </a:spcBef>
              <a:spcAft>
                <a:spcPts val="0"/>
              </a:spcAft>
              <a:buNone/>
            </a:pPr>
            <a:r>
              <a:rPr lang="en" sz="1800"/>
              <a:t>This report answers three questions:</a:t>
            </a:r>
            <a:endParaRPr sz="1800"/>
          </a:p>
          <a:p>
            <a:pPr indent="-342900" lvl="0" marL="457200" rtl="0" algn="l">
              <a:spcBef>
                <a:spcPts val="1200"/>
              </a:spcBef>
              <a:spcAft>
                <a:spcPts val="0"/>
              </a:spcAft>
              <a:buSzPts val="1800"/>
              <a:buChar char="❏"/>
            </a:pPr>
            <a:r>
              <a:rPr lang="en" sz="1800"/>
              <a:t>What was reviewed?</a:t>
            </a:r>
            <a:endParaRPr sz="1800"/>
          </a:p>
          <a:p>
            <a:pPr indent="-342900" lvl="0" marL="457200" rtl="0" algn="l">
              <a:spcBef>
                <a:spcPts val="0"/>
              </a:spcBef>
              <a:spcAft>
                <a:spcPts val="0"/>
              </a:spcAft>
              <a:buSzPts val="1800"/>
              <a:buChar char="❏"/>
            </a:pPr>
            <a:r>
              <a:rPr lang="en" sz="1800"/>
              <a:t>Who reviewed it?</a:t>
            </a:r>
            <a:endParaRPr sz="1800"/>
          </a:p>
          <a:p>
            <a:pPr indent="-342900" lvl="0" marL="457200" rtl="0" algn="l">
              <a:spcBef>
                <a:spcPts val="0"/>
              </a:spcBef>
              <a:spcAft>
                <a:spcPts val="0"/>
              </a:spcAft>
              <a:buSzPts val="1800"/>
              <a:buChar char="❏"/>
            </a:pPr>
            <a:r>
              <a:rPr lang="en" sz="1800"/>
              <a:t>What were the findings and conclusions?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Review in Software Testing</a:t>
            </a:r>
            <a:endParaRPr/>
          </a:p>
        </p:txBody>
      </p:sp>
      <p:sp>
        <p:nvSpPr>
          <p:cNvPr id="133" name="Google Shape;133;p20"/>
          <p:cNvSpPr txBox="1"/>
          <p:nvPr>
            <p:ph idx="1" type="body"/>
          </p:nvPr>
        </p:nvSpPr>
        <p:spPr>
          <a:xfrm>
            <a:off x="729450" y="12406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4B4F58"/>
                </a:solidFill>
                <a:highlight>
                  <a:srgbClr val="FFFFFF"/>
                </a:highlight>
              </a:rPr>
              <a:t>Three Types of Review in Software Testing</a:t>
            </a:r>
            <a:endParaRPr sz="1800">
              <a:solidFill>
                <a:srgbClr val="4B4F58"/>
              </a:solidFill>
              <a:highlight>
                <a:srgbClr val="FFFFFF"/>
              </a:highlight>
            </a:endParaRPr>
          </a:p>
          <a:p>
            <a:pPr indent="-342900" lvl="0" marL="457200" rtl="0" algn="l">
              <a:spcBef>
                <a:spcPts val="1200"/>
              </a:spcBef>
              <a:spcAft>
                <a:spcPts val="0"/>
              </a:spcAft>
              <a:buClr>
                <a:srgbClr val="4B4F58"/>
              </a:buClr>
              <a:buSzPts val="1800"/>
              <a:buChar char="❏"/>
            </a:pPr>
            <a:r>
              <a:rPr lang="en" sz="1800">
                <a:solidFill>
                  <a:srgbClr val="4B4F58"/>
                </a:solidFill>
                <a:highlight>
                  <a:srgbClr val="FFFFFF"/>
                </a:highlight>
              </a:rPr>
              <a:t>Software Peer Reviews</a:t>
            </a:r>
            <a:endParaRPr sz="1800">
              <a:solidFill>
                <a:srgbClr val="4B4F58"/>
              </a:solidFill>
              <a:highlight>
                <a:srgbClr val="FFFFFF"/>
              </a:highlight>
            </a:endParaRPr>
          </a:p>
          <a:p>
            <a:pPr indent="-342900" lvl="0" marL="457200" rtl="0" algn="l">
              <a:spcBef>
                <a:spcPts val="0"/>
              </a:spcBef>
              <a:spcAft>
                <a:spcPts val="0"/>
              </a:spcAft>
              <a:buClr>
                <a:srgbClr val="4B4F58"/>
              </a:buClr>
              <a:buSzPts val="1800"/>
              <a:buChar char="❏"/>
            </a:pPr>
            <a:r>
              <a:rPr lang="en" sz="1800">
                <a:solidFill>
                  <a:srgbClr val="4B4F58"/>
                </a:solidFill>
                <a:highlight>
                  <a:srgbClr val="FFFFFF"/>
                </a:highlight>
              </a:rPr>
              <a:t>Software Management Reviews</a:t>
            </a:r>
            <a:endParaRPr sz="1800">
              <a:solidFill>
                <a:srgbClr val="4B4F58"/>
              </a:solidFill>
              <a:highlight>
                <a:srgbClr val="FFFFFF"/>
              </a:highlight>
            </a:endParaRPr>
          </a:p>
          <a:p>
            <a:pPr indent="-342900" lvl="0" marL="457200" rtl="0" algn="l">
              <a:spcBef>
                <a:spcPts val="0"/>
              </a:spcBef>
              <a:spcAft>
                <a:spcPts val="0"/>
              </a:spcAft>
              <a:buClr>
                <a:srgbClr val="4B4F58"/>
              </a:buClr>
              <a:buSzPts val="1800"/>
              <a:buChar char="❏"/>
            </a:pPr>
            <a:r>
              <a:rPr lang="en" sz="1800">
                <a:solidFill>
                  <a:srgbClr val="4B4F58"/>
                </a:solidFill>
                <a:highlight>
                  <a:srgbClr val="FFFFFF"/>
                </a:highlight>
              </a:rPr>
              <a:t>Software Audit Reviews</a:t>
            </a:r>
            <a:endParaRPr sz="1800">
              <a:solidFill>
                <a:srgbClr val="4B4F58"/>
              </a:solidFill>
              <a:highlight>
                <a:srgbClr val="FFFFFF"/>
              </a:highlight>
            </a:endParaRPr>
          </a:p>
          <a:p>
            <a:pPr indent="0" lvl="0" marL="0" rtl="0" algn="l">
              <a:spcBef>
                <a:spcPts val="1200"/>
              </a:spcBef>
              <a:spcAft>
                <a:spcPts val="1200"/>
              </a:spcAft>
              <a:buNone/>
            </a:pPr>
            <a:r>
              <a:t/>
            </a:r>
            <a:endParaRPr b="1" sz="1800">
              <a:solidFill>
                <a:srgbClr val="4B4F58"/>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00000"/>
              <a:buAutoNum type="arabicPeriod"/>
            </a:pPr>
            <a:r>
              <a:rPr lang="en"/>
              <a:t>Software Peer Reviews</a:t>
            </a:r>
            <a:endParaRPr/>
          </a:p>
        </p:txBody>
      </p:sp>
      <p:sp>
        <p:nvSpPr>
          <p:cNvPr id="139" name="Google Shape;139;p21"/>
          <p:cNvSpPr txBox="1"/>
          <p:nvPr>
            <p:ph idx="1" type="body"/>
          </p:nvPr>
        </p:nvSpPr>
        <p:spPr>
          <a:xfrm>
            <a:off x="729450" y="1240675"/>
            <a:ext cx="7688700" cy="2840400"/>
          </a:xfrm>
          <a:prstGeom prst="rect">
            <a:avLst/>
          </a:prstGeom>
        </p:spPr>
        <p:txBody>
          <a:bodyPr anchorCtr="0" anchor="t" bIns="91425" lIns="91425" spcFirstLastPara="1" rIns="91425" wrap="square" tIns="91425">
            <a:normAutofit/>
          </a:bodyPr>
          <a:lstStyle/>
          <a:p>
            <a:pPr indent="0" lvl="0" marL="0" marR="0" rtl="0" algn="l">
              <a:lnSpc>
                <a:spcPct val="80000"/>
              </a:lnSpc>
              <a:spcBef>
                <a:spcPts val="0"/>
              </a:spcBef>
              <a:spcAft>
                <a:spcPts val="0"/>
              </a:spcAft>
              <a:buSzPts val="852"/>
              <a:buNone/>
            </a:pPr>
            <a:r>
              <a:rPr lang="en" sz="1800">
                <a:solidFill>
                  <a:srgbClr val="4B4F58"/>
                </a:solidFill>
              </a:rPr>
              <a:t>This type of review is conducted by the main author of the software, or it can be between the colleagues so that the evaluation can be done of the technical content or quality of the work. </a:t>
            </a:r>
            <a:endParaRPr sz="1800">
              <a:solidFill>
                <a:srgbClr val="4B4F58"/>
              </a:solidFill>
            </a:endParaRPr>
          </a:p>
          <a:p>
            <a:pPr indent="0" lvl="0" marL="0" marR="0" rtl="0" algn="l">
              <a:lnSpc>
                <a:spcPct val="80000"/>
              </a:lnSpc>
              <a:spcBef>
                <a:spcPts val="0"/>
              </a:spcBef>
              <a:spcAft>
                <a:spcPts val="0"/>
              </a:spcAft>
              <a:buSzPts val="852"/>
              <a:buNone/>
            </a:pPr>
            <a:r>
              <a:t/>
            </a:r>
            <a:endParaRPr sz="1800">
              <a:solidFill>
                <a:srgbClr val="4B4F58"/>
              </a:solidFill>
            </a:endParaRPr>
          </a:p>
          <a:p>
            <a:pPr indent="0" lvl="0" marL="0" marR="0" rtl="0" algn="l">
              <a:lnSpc>
                <a:spcPct val="80000"/>
              </a:lnSpc>
              <a:spcBef>
                <a:spcPts val="0"/>
              </a:spcBef>
              <a:spcAft>
                <a:spcPts val="0"/>
              </a:spcAft>
              <a:buSzPts val="852"/>
              <a:buNone/>
            </a:pPr>
            <a:r>
              <a:rPr lang="en" sz="1800">
                <a:solidFill>
                  <a:srgbClr val="4B4F58"/>
                </a:solidFill>
              </a:rPr>
              <a:t>Different types of Software Peer Reviews;</a:t>
            </a:r>
            <a:endParaRPr sz="1800">
              <a:solidFill>
                <a:srgbClr val="4B4F58"/>
              </a:solidFill>
            </a:endParaRPr>
          </a:p>
          <a:p>
            <a:pPr indent="0" lvl="0" marL="0" marR="0" rtl="0" algn="l">
              <a:lnSpc>
                <a:spcPct val="80000"/>
              </a:lnSpc>
              <a:spcBef>
                <a:spcPts val="0"/>
              </a:spcBef>
              <a:spcAft>
                <a:spcPts val="0"/>
              </a:spcAft>
              <a:buSzPts val="852"/>
              <a:buNone/>
            </a:pPr>
            <a:r>
              <a:t/>
            </a:r>
            <a:endParaRPr sz="1800">
              <a:solidFill>
                <a:srgbClr val="4B4F58"/>
              </a:solidFill>
            </a:endParaRPr>
          </a:p>
          <a:p>
            <a:pPr indent="-342900" lvl="0" marL="457200" marR="0" rtl="0" algn="l">
              <a:lnSpc>
                <a:spcPct val="80000"/>
              </a:lnSpc>
              <a:spcBef>
                <a:spcPts val="0"/>
              </a:spcBef>
              <a:spcAft>
                <a:spcPts val="0"/>
              </a:spcAft>
              <a:buClr>
                <a:srgbClr val="4B4F58"/>
              </a:buClr>
              <a:buSzPts val="1800"/>
              <a:buChar char="❏"/>
            </a:pPr>
            <a:r>
              <a:rPr lang="en" sz="1800">
                <a:solidFill>
                  <a:srgbClr val="4B4F58"/>
                </a:solidFill>
              </a:rPr>
              <a:t>Code Review</a:t>
            </a:r>
            <a:endParaRPr sz="1800">
              <a:solidFill>
                <a:srgbClr val="4B4F58"/>
              </a:solidFill>
            </a:endParaRPr>
          </a:p>
          <a:p>
            <a:pPr indent="-342900" lvl="0" marL="457200" marR="0" rtl="0" algn="l">
              <a:lnSpc>
                <a:spcPct val="80000"/>
              </a:lnSpc>
              <a:spcBef>
                <a:spcPts val="0"/>
              </a:spcBef>
              <a:spcAft>
                <a:spcPts val="0"/>
              </a:spcAft>
              <a:buClr>
                <a:srgbClr val="4B4F58"/>
              </a:buClr>
              <a:buSzPts val="1800"/>
              <a:buChar char="❏"/>
            </a:pPr>
            <a:r>
              <a:rPr lang="en" sz="1800">
                <a:solidFill>
                  <a:srgbClr val="4B4F58"/>
                </a:solidFill>
              </a:rPr>
              <a:t>Pair Programming</a:t>
            </a:r>
            <a:endParaRPr sz="1800">
              <a:solidFill>
                <a:srgbClr val="4B4F58"/>
              </a:solidFill>
            </a:endParaRPr>
          </a:p>
          <a:p>
            <a:pPr indent="-342900" lvl="0" marL="457200" marR="0" rtl="0" algn="l">
              <a:lnSpc>
                <a:spcPct val="80000"/>
              </a:lnSpc>
              <a:spcBef>
                <a:spcPts val="0"/>
              </a:spcBef>
              <a:spcAft>
                <a:spcPts val="0"/>
              </a:spcAft>
              <a:buClr>
                <a:srgbClr val="4B4F58"/>
              </a:buClr>
              <a:buSzPts val="1800"/>
              <a:buChar char="❏"/>
            </a:pPr>
            <a:r>
              <a:rPr lang="en" sz="1800">
                <a:solidFill>
                  <a:srgbClr val="4B4F58"/>
                </a:solidFill>
              </a:rPr>
              <a:t>Inspection</a:t>
            </a:r>
            <a:endParaRPr sz="1800">
              <a:solidFill>
                <a:srgbClr val="4B4F58"/>
              </a:solidFill>
            </a:endParaRPr>
          </a:p>
          <a:p>
            <a:pPr indent="-342900" lvl="0" marL="457200" marR="0" rtl="0" algn="l">
              <a:lnSpc>
                <a:spcPct val="80000"/>
              </a:lnSpc>
              <a:spcBef>
                <a:spcPts val="0"/>
              </a:spcBef>
              <a:spcAft>
                <a:spcPts val="0"/>
              </a:spcAft>
              <a:buClr>
                <a:srgbClr val="4B4F58"/>
              </a:buClr>
              <a:buSzPts val="1800"/>
              <a:buChar char="❏"/>
            </a:pPr>
            <a:r>
              <a:rPr lang="en" sz="1800">
                <a:solidFill>
                  <a:srgbClr val="4B4F58"/>
                </a:solidFill>
              </a:rPr>
              <a:t>Walkthrough</a:t>
            </a:r>
            <a:endParaRPr sz="1800">
              <a:solidFill>
                <a:srgbClr val="4B4F58"/>
              </a:solidFill>
            </a:endParaRPr>
          </a:p>
          <a:p>
            <a:pPr indent="-342900" lvl="0" marL="457200" marR="0" rtl="0" algn="l">
              <a:lnSpc>
                <a:spcPct val="80000"/>
              </a:lnSpc>
              <a:spcBef>
                <a:spcPts val="0"/>
              </a:spcBef>
              <a:spcAft>
                <a:spcPts val="0"/>
              </a:spcAft>
              <a:buClr>
                <a:srgbClr val="4B4F58"/>
              </a:buClr>
              <a:buSzPts val="1800"/>
              <a:buChar char="❏"/>
            </a:pPr>
            <a:r>
              <a:rPr lang="en" sz="1800">
                <a:solidFill>
                  <a:srgbClr val="4B4F58"/>
                </a:solidFill>
              </a:rPr>
              <a:t>Technical Review</a:t>
            </a:r>
            <a:endParaRPr sz="1800">
              <a:solidFill>
                <a:srgbClr val="4B4F58"/>
              </a:solidFill>
            </a:endParaRPr>
          </a:p>
          <a:p>
            <a:pPr indent="0" lvl="0" marL="0" marR="0" rtl="0" algn="l">
              <a:lnSpc>
                <a:spcPct val="80000"/>
              </a:lnSpc>
              <a:spcBef>
                <a:spcPts val="0"/>
              </a:spcBef>
              <a:spcAft>
                <a:spcPts val="0"/>
              </a:spcAft>
              <a:buSzPts val="852"/>
              <a:buNone/>
            </a:pPr>
            <a:r>
              <a:t/>
            </a:r>
            <a:endParaRPr sz="1976">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Software Management Reviews</a:t>
            </a:r>
            <a:endParaRPr/>
          </a:p>
        </p:txBody>
      </p:sp>
      <p:sp>
        <p:nvSpPr>
          <p:cNvPr id="145" name="Google Shape;145;p22"/>
          <p:cNvSpPr txBox="1"/>
          <p:nvPr>
            <p:ph idx="1" type="body"/>
          </p:nvPr>
        </p:nvSpPr>
        <p:spPr>
          <a:xfrm>
            <a:off x="729450" y="1240675"/>
            <a:ext cx="7688700" cy="3221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rgbClr val="4B4F58"/>
                </a:solidFill>
              </a:rPr>
              <a:t>The management representatives are responsible for this type of review. The status of the work is evaluated and the decision by the activities of the software. This review is very important in making a decision regarding software.</a:t>
            </a:r>
            <a:endParaRPr sz="1800">
              <a:solidFill>
                <a:srgbClr val="4B4F5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Software Audit Reviews</a:t>
            </a:r>
            <a:endParaRPr/>
          </a:p>
        </p:txBody>
      </p:sp>
      <p:sp>
        <p:nvSpPr>
          <p:cNvPr id="151" name="Google Shape;151;p23"/>
          <p:cNvSpPr txBox="1"/>
          <p:nvPr>
            <p:ph idx="1" type="body"/>
          </p:nvPr>
        </p:nvSpPr>
        <p:spPr>
          <a:xfrm>
            <a:off x="729450" y="1240675"/>
            <a:ext cx="7688700" cy="2261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rgbClr val="4B4F58"/>
                </a:solidFill>
              </a:rPr>
              <a:t>These are conducted by the personnel outside of the software project. They evaluate the software with specifications, standards, and other criteria.</a:t>
            </a:r>
            <a:endParaRPr sz="1800">
              <a:solidFill>
                <a:srgbClr val="4B4F5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Objective of Software Review</a:t>
            </a:r>
            <a:endParaRPr u="sng"/>
          </a:p>
        </p:txBody>
      </p:sp>
      <p:sp>
        <p:nvSpPr>
          <p:cNvPr id="157" name="Google Shape;157;p24"/>
          <p:cNvSpPr txBox="1"/>
          <p:nvPr>
            <p:ph idx="1" type="body"/>
          </p:nvPr>
        </p:nvSpPr>
        <p:spPr>
          <a:xfrm>
            <a:off x="727650" y="1251075"/>
            <a:ext cx="7688700" cy="3892500"/>
          </a:xfrm>
          <a:prstGeom prst="rect">
            <a:avLst/>
          </a:prstGeom>
        </p:spPr>
        <p:txBody>
          <a:bodyPr anchorCtr="0" anchor="t" bIns="91425" lIns="91425" spcFirstLastPara="1" rIns="91425" wrap="square" tIns="91425">
            <a:normAutofit/>
          </a:bodyPr>
          <a:lstStyle/>
          <a:p>
            <a:pPr indent="0" lvl="0" marL="342900" marR="0" rtl="0" algn="just">
              <a:lnSpc>
                <a:spcPct val="100000"/>
              </a:lnSpc>
              <a:spcBef>
                <a:spcPts val="0"/>
              </a:spcBef>
              <a:spcAft>
                <a:spcPts val="0"/>
              </a:spcAft>
              <a:buNone/>
            </a:pPr>
            <a:r>
              <a:t/>
            </a:r>
            <a:endParaRPr sz="1800">
              <a:solidFill>
                <a:srgbClr val="4B4F58"/>
              </a:solidFill>
              <a:latin typeface="Calibri"/>
              <a:ea typeface="Calibri"/>
              <a:cs typeface="Calibri"/>
              <a:sym typeface="Calibri"/>
            </a:endParaRPr>
          </a:p>
          <a:p>
            <a:pPr indent="0" lvl="0" marL="342900" marR="0" rtl="0" algn="just">
              <a:lnSpc>
                <a:spcPct val="100000"/>
              </a:lnSpc>
              <a:spcBef>
                <a:spcPts val="0"/>
              </a:spcBef>
              <a:spcAft>
                <a:spcPts val="0"/>
              </a:spcAft>
              <a:buNone/>
            </a:pPr>
            <a:r>
              <a:rPr lang="en" sz="1800">
                <a:solidFill>
                  <a:srgbClr val="4B4F58"/>
                </a:solidFill>
              </a:rPr>
              <a:t>The objective of the software review is;</a:t>
            </a:r>
            <a:endParaRPr sz="1800">
              <a:solidFill>
                <a:srgbClr val="4B4F58"/>
              </a:solidFill>
            </a:endParaRPr>
          </a:p>
          <a:p>
            <a:pPr indent="0" lvl="0" marL="342900" marR="0" rtl="0" algn="just">
              <a:lnSpc>
                <a:spcPct val="100000"/>
              </a:lnSpc>
              <a:spcBef>
                <a:spcPts val="0"/>
              </a:spcBef>
              <a:spcAft>
                <a:spcPts val="0"/>
              </a:spcAft>
              <a:buNone/>
            </a:pPr>
            <a:r>
              <a:t/>
            </a:r>
            <a:endParaRPr sz="1800">
              <a:solidFill>
                <a:srgbClr val="4B4F58"/>
              </a:solidFill>
            </a:endParaRPr>
          </a:p>
          <a:p>
            <a:pPr indent="0" lvl="0" marL="342900" marR="0" rtl="0" algn="just">
              <a:lnSpc>
                <a:spcPct val="100000"/>
              </a:lnSpc>
              <a:spcBef>
                <a:spcPts val="0"/>
              </a:spcBef>
              <a:spcAft>
                <a:spcPts val="0"/>
              </a:spcAft>
              <a:buNone/>
            </a:pPr>
            <a:r>
              <a:rPr lang="en" sz="1800">
                <a:solidFill>
                  <a:srgbClr val="4B4F58"/>
                </a:solidFill>
              </a:rPr>
              <a:t>1. To improve the productivity of the development team.</a:t>
            </a:r>
            <a:endParaRPr sz="1800">
              <a:solidFill>
                <a:srgbClr val="4B4F58"/>
              </a:solidFill>
            </a:endParaRPr>
          </a:p>
          <a:p>
            <a:pPr indent="0" lvl="0" marL="342900" marR="0" rtl="0" algn="just">
              <a:lnSpc>
                <a:spcPct val="100000"/>
              </a:lnSpc>
              <a:spcBef>
                <a:spcPts val="0"/>
              </a:spcBef>
              <a:spcAft>
                <a:spcPts val="0"/>
              </a:spcAft>
              <a:buNone/>
            </a:pPr>
            <a:r>
              <a:rPr lang="en" sz="1800">
                <a:solidFill>
                  <a:srgbClr val="4B4F58"/>
                </a:solidFill>
              </a:rPr>
              <a:t>2. To make the testing process time and cost-effective.</a:t>
            </a:r>
            <a:endParaRPr sz="1800">
              <a:solidFill>
                <a:srgbClr val="4B4F58"/>
              </a:solidFill>
            </a:endParaRPr>
          </a:p>
          <a:p>
            <a:pPr indent="0" lvl="0" marL="342900" marR="0" rtl="0" algn="just">
              <a:lnSpc>
                <a:spcPct val="100000"/>
              </a:lnSpc>
              <a:spcBef>
                <a:spcPts val="0"/>
              </a:spcBef>
              <a:spcAft>
                <a:spcPts val="0"/>
              </a:spcAft>
              <a:buNone/>
            </a:pPr>
            <a:r>
              <a:rPr lang="en" sz="1800">
                <a:solidFill>
                  <a:srgbClr val="4B4F58"/>
                </a:solidFill>
              </a:rPr>
              <a:t>3. To make the final software with less defects.</a:t>
            </a:r>
            <a:endParaRPr sz="1800">
              <a:solidFill>
                <a:srgbClr val="4B4F58"/>
              </a:solidFill>
            </a:endParaRPr>
          </a:p>
          <a:p>
            <a:pPr indent="0" lvl="0" marL="342900" marR="0" rtl="0" algn="just">
              <a:lnSpc>
                <a:spcPct val="100000"/>
              </a:lnSpc>
              <a:spcBef>
                <a:spcPts val="0"/>
              </a:spcBef>
              <a:spcAft>
                <a:spcPts val="0"/>
              </a:spcAft>
              <a:buNone/>
            </a:pPr>
            <a:r>
              <a:rPr lang="en" sz="1800">
                <a:solidFill>
                  <a:srgbClr val="4B4F58"/>
                </a:solidFill>
              </a:rPr>
              <a:t>4. To eliminate the inadequacies.</a:t>
            </a:r>
            <a:endParaRPr sz="1800">
              <a:solidFill>
                <a:srgbClr val="4B4F58"/>
              </a:solidFill>
            </a:endParaRPr>
          </a:p>
          <a:p>
            <a:pPr indent="0" lvl="0" marL="0" marR="0" rtl="0" algn="just">
              <a:lnSpc>
                <a:spcPct val="100000"/>
              </a:lnSpc>
              <a:spcBef>
                <a:spcPts val="0"/>
              </a:spcBef>
              <a:spcAft>
                <a:spcPts val="0"/>
              </a:spcAft>
              <a:buNone/>
            </a:pPr>
            <a:r>
              <a:t/>
            </a:r>
            <a:endParaRPr sz="2900">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pSp>
        <p:nvGrpSpPr>
          <p:cNvPr id="162" name="Google Shape;162;p25"/>
          <p:cNvGrpSpPr/>
          <p:nvPr/>
        </p:nvGrpSpPr>
        <p:grpSpPr>
          <a:xfrm>
            <a:off x="6254516" y="1318143"/>
            <a:ext cx="2460300" cy="2460300"/>
            <a:chOff x="6254516" y="1318143"/>
            <a:chExt cx="2460300" cy="2460300"/>
          </a:xfrm>
        </p:grpSpPr>
        <p:sp>
          <p:nvSpPr>
            <p:cNvPr id="163" name="Google Shape;163;p25"/>
            <p:cNvSpPr/>
            <p:nvPr/>
          </p:nvSpPr>
          <p:spPr>
            <a:xfrm rot="2700000">
              <a:off x="7239866" y="1053398"/>
              <a:ext cx="489601" cy="2989789"/>
            </a:xfrm>
            <a:prstGeom prst="roundRect">
              <a:avLst>
                <a:gd fmla="val 50000" name="adj"/>
              </a:avLst>
            </a:prstGeom>
            <a:solidFill>
              <a:srgbClr val="307A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txBox="1"/>
            <p:nvPr/>
          </p:nvSpPr>
          <p:spPr>
            <a:xfrm rot="-2700000">
              <a:off x="6375763" y="2297099"/>
              <a:ext cx="2378424"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Examination and Exit Evaluation</a:t>
              </a:r>
              <a:endParaRPr b="1" sz="1100">
                <a:solidFill>
                  <a:srgbClr val="FFFFFF"/>
                </a:solidFill>
                <a:latin typeface="Roboto"/>
                <a:ea typeface="Roboto"/>
                <a:cs typeface="Roboto"/>
                <a:sym typeface="Roboto"/>
              </a:endParaRPr>
            </a:p>
          </p:txBody>
        </p:sp>
      </p:grpSp>
      <p:grpSp>
        <p:nvGrpSpPr>
          <p:cNvPr id="165" name="Google Shape;165;p25"/>
          <p:cNvGrpSpPr/>
          <p:nvPr/>
        </p:nvGrpSpPr>
        <p:grpSpPr>
          <a:xfrm>
            <a:off x="4761418" y="1318143"/>
            <a:ext cx="2460300" cy="2460300"/>
            <a:chOff x="4761418" y="1318143"/>
            <a:chExt cx="2460300" cy="2460300"/>
          </a:xfrm>
        </p:grpSpPr>
        <p:sp>
          <p:nvSpPr>
            <p:cNvPr id="166" name="Google Shape;166;p25"/>
            <p:cNvSpPr/>
            <p:nvPr/>
          </p:nvSpPr>
          <p:spPr>
            <a:xfrm rot="2700000">
              <a:off x="5746767" y="1053398"/>
              <a:ext cx="489601" cy="2989789"/>
            </a:xfrm>
            <a:prstGeom prst="roundRect">
              <a:avLst>
                <a:gd fmla="val 50000" name="adj"/>
              </a:avLst>
            </a:prstGeom>
            <a:solidFill>
              <a:srgbClr val="0E6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txBox="1"/>
            <p:nvPr/>
          </p:nvSpPr>
          <p:spPr>
            <a:xfrm rot="-2700000">
              <a:off x="4896424" y="2302799"/>
              <a:ext cx="2362302"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Preparation</a:t>
              </a:r>
              <a:endParaRPr b="1" sz="1100">
                <a:solidFill>
                  <a:srgbClr val="FFFFFF"/>
                </a:solidFill>
                <a:latin typeface="Roboto"/>
                <a:ea typeface="Roboto"/>
                <a:cs typeface="Roboto"/>
                <a:sym typeface="Roboto"/>
              </a:endParaRPr>
            </a:p>
          </p:txBody>
        </p:sp>
      </p:grpSp>
      <p:grpSp>
        <p:nvGrpSpPr>
          <p:cNvPr id="168" name="Google Shape;168;p25"/>
          <p:cNvGrpSpPr/>
          <p:nvPr/>
        </p:nvGrpSpPr>
        <p:grpSpPr>
          <a:xfrm>
            <a:off x="1776626" y="1318143"/>
            <a:ext cx="2460300" cy="2460300"/>
            <a:chOff x="1776626" y="1318143"/>
            <a:chExt cx="2460300" cy="2460300"/>
          </a:xfrm>
        </p:grpSpPr>
        <p:sp>
          <p:nvSpPr>
            <p:cNvPr id="169" name="Google Shape;169;p25"/>
            <p:cNvSpPr/>
            <p:nvPr/>
          </p:nvSpPr>
          <p:spPr>
            <a:xfrm rot="2700000">
              <a:off x="2761975" y="1053398"/>
              <a:ext cx="489601" cy="2989789"/>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txBox="1"/>
            <p:nvPr/>
          </p:nvSpPr>
          <p:spPr>
            <a:xfrm rot="-2700000">
              <a:off x="1899549" y="2297849"/>
              <a:ext cx="2376303"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Management Preparation</a:t>
              </a:r>
              <a:endParaRPr b="1" sz="1100">
                <a:solidFill>
                  <a:srgbClr val="FFFFFF"/>
                </a:solidFill>
                <a:latin typeface="Roboto"/>
                <a:ea typeface="Roboto"/>
                <a:cs typeface="Roboto"/>
                <a:sym typeface="Roboto"/>
              </a:endParaRPr>
            </a:p>
          </p:txBody>
        </p:sp>
      </p:grpSp>
      <p:grpSp>
        <p:nvGrpSpPr>
          <p:cNvPr id="171" name="Google Shape;171;p25"/>
          <p:cNvGrpSpPr/>
          <p:nvPr/>
        </p:nvGrpSpPr>
        <p:grpSpPr>
          <a:xfrm>
            <a:off x="3269751" y="1318143"/>
            <a:ext cx="2460300" cy="2460300"/>
            <a:chOff x="3269751" y="1318143"/>
            <a:chExt cx="2460300" cy="2460300"/>
          </a:xfrm>
        </p:grpSpPr>
        <p:sp>
          <p:nvSpPr>
            <p:cNvPr id="172" name="Google Shape;172;p25"/>
            <p:cNvSpPr/>
            <p:nvPr/>
          </p:nvSpPr>
          <p:spPr>
            <a:xfrm rot="2700000">
              <a:off x="4255100" y="1053398"/>
              <a:ext cx="489601" cy="2989789"/>
            </a:xfrm>
            <a:prstGeom prst="roundRect">
              <a:avLst>
                <a:gd fmla="val 50000"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5"/>
            <p:cNvSpPr txBox="1"/>
            <p:nvPr/>
          </p:nvSpPr>
          <p:spPr>
            <a:xfrm rot="-2700000">
              <a:off x="3404724" y="2302799"/>
              <a:ext cx="2362302"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Review Planning</a:t>
              </a:r>
              <a:endParaRPr b="1" sz="1100">
                <a:solidFill>
                  <a:srgbClr val="FFFFFF"/>
                </a:solidFill>
                <a:latin typeface="Roboto"/>
                <a:ea typeface="Roboto"/>
                <a:cs typeface="Roboto"/>
                <a:sym typeface="Roboto"/>
              </a:endParaRPr>
            </a:p>
          </p:txBody>
        </p:sp>
      </p:grpSp>
      <p:grpSp>
        <p:nvGrpSpPr>
          <p:cNvPr id="174" name="Google Shape;174;p25"/>
          <p:cNvGrpSpPr/>
          <p:nvPr/>
        </p:nvGrpSpPr>
        <p:grpSpPr>
          <a:xfrm>
            <a:off x="284959" y="1318143"/>
            <a:ext cx="2460300" cy="2460300"/>
            <a:chOff x="284959" y="1318143"/>
            <a:chExt cx="2460300" cy="2460300"/>
          </a:xfrm>
        </p:grpSpPr>
        <p:sp>
          <p:nvSpPr>
            <p:cNvPr id="175" name="Google Shape;175;p25"/>
            <p:cNvSpPr/>
            <p:nvPr/>
          </p:nvSpPr>
          <p:spPr>
            <a:xfrm rot="2700000">
              <a:off x="1270309" y="1053398"/>
              <a:ext cx="489601" cy="2989789"/>
            </a:xfrm>
            <a:prstGeom prst="roundRect">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txBox="1"/>
            <p:nvPr/>
          </p:nvSpPr>
          <p:spPr>
            <a:xfrm rot="-2700000">
              <a:off x="414317" y="2300549"/>
              <a:ext cx="2368666" cy="342805"/>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Entry Evaluation</a:t>
              </a:r>
              <a:endParaRPr b="1" sz="1100">
                <a:solidFill>
                  <a:srgbClr val="FFFFFF"/>
                </a:solidFill>
                <a:latin typeface="Roboto"/>
                <a:ea typeface="Roboto"/>
                <a:cs typeface="Roboto"/>
                <a:sym typeface="Roboto"/>
              </a:endParaRPr>
            </a:p>
          </p:txBody>
        </p:sp>
      </p:grpSp>
      <p:sp>
        <p:nvSpPr>
          <p:cNvPr id="177" name="Google Shape;177;p2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of Software Review</a:t>
            </a:r>
            <a:endParaRPr/>
          </a:p>
        </p:txBody>
      </p:sp>
      <p:sp>
        <p:nvSpPr>
          <p:cNvPr id="178" name="Google Shape;178;p25"/>
          <p:cNvSpPr/>
          <p:nvPr/>
        </p:nvSpPr>
        <p:spPr>
          <a:xfrm>
            <a:off x="644396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307AF3"/>
                </a:solidFill>
                <a:latin typeface="Roboto"/>
                <a:ea typeface="Roboto"/>
                <a:cs typeface="Roboto"/>
                <a:sym typeface="Roboto"/>
              </a:rPr>
              <a:t>5</a:t>
            </a:r>
            <a:endParaRPr b="1" sz="900">
              <a:solidFill>
                <a:srgbClr val="307AF3"/>
              </a:solidFill>
              <a:latin typeface="Roboto"/>
              <a:ea typeface="Roboto"/>
              <a:cs typeface="Roboto"/>
              <a:sym typeface="Roboto"/>
            </a:endParaRPr>
          </a:p>
        </p:txBody>
      </p:sp>
      <p:sp>
        <p:nvSpPr>
          <p:cNvPr id="179" name="Google Shape;179;p25"/>
          <p:cNvSpPr txBox="1"/>
          <p:nvPr/>
        </p:nvSpPr>
        <p:spPr>
          <a:xfrm>
            <a:off x="7221725" y="3048200"/>
            <a:ext cx="1922400" cy="15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Roboto"/>
                <a:ea typeface="Roboto"/>
                <a:cs typeface="Roboto"/>
                <a:sym typeface="Roboto"/>
              </a:rPr>
              <a:t>Reviewers should collaborate to examine the results, record concerns, and encourage candid communication in meetings. It  assess the results, make remedial plans based on flaws that have been reported and assess the process’s overall efficacy.</a:t>
            </a:r>
            <a:endParaRPr b="1" sz="1200">
              <a:latin typeface="Roboto"/>
              <a:ea typeface="Roboto"/>
              <a:cs typeface="Roboto"/>
              <a:sym typeface="Roboto"/>
            </a:endParaRPr>
          </a:p>
        </p:txBody>
      </p:sp>
      <p:sp>
        <p:nvSpPr>
          <p:cNvPr id="180" name="Google Shape;180;p25"/>
          <p:cNvSpPr/>
          <p:nvPr/>
        </p:nvSpPr>
        <p:spPr>
          <a:xfrm>
            <a:off x="4950863"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E63F0"/>
                </a:solidFill>
                <a:latin typeface="Roboto"/>
                <a:ea typeface="Roboto"/>
                <a:cs typeface="Roboto"/>
                <a:sym typeface="Roboto"/>
              </a:rPr>
              <a:t>4</a:t>
            </a:r>
            <a:endParaRPr b="1" sz="900">
              <a:solidFill>
                <a:srgbClr val="0E63F0"/>
              </a:solidFill>
              <a:latin typeface="Roboto"/>
              <a:ea typeface="Roboto"/>
              <a:cs typeface="Roboto"/>
              <a:sym typeface="Roboto"/>
            </a:endParaRPr>
          </a:p>
        </p:txBody>
      </p:sp>
      <p:sp>
        <p:nvSpPr>
          <p:cNvPr id="181" name="Google Shape;181;p25"/>
          <p:cNvSpPr txBox="1"/>
          <p:nvPr/>
        </p:nvSpPr>
        <p:spPr>
          <a:xfrm>
            <a:off x="4717550" y="3675925"/>
            <a:ext cx="1824000" cy="14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Roboto"/>
                <a:ea typeface="Roboto"/>
                <a:cs typeface="Roboto"/>
                <a:sym typeface="Roboto"/>
              </a:rPr>
              <a:t>Distribute appropriate resources, give reviewers time to get familiar and promote issue identification to help them prepare.</a:t>
            </a:r>
            <a:endParaRPr b="1" sz="1200">
              <a:latin typeface="Roboto"/>
              <a:ea typeface="Roboto"/>
              <a:cs typeface="Roboto"/>
              <a:sym typeface="Roboto"/>
            </a:endParaRPr>
          </a:p>
        </p:txBody>
      </p:sp>
      <p:sp>
        <p:nvSpPr>
          <p:cNvPr id="182" name="Google Shape;182;p25"/>
          <p:cNvSpPr/>
          <p:nvPr/>
        </p:nvSpPr>
        <p:spPr>
          <a:xfrm>
            <a:off x="3459197"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D5CDF"/>
                </a:solidFill>
                <a:latin typeface="Roboto"/>
                <a:ea typeface="Roboto"/>
                <a:cs typeface="Roboto"/>
                <a:sym typeface="Roboto"/>
              </a:rPr>
              <a:t>3</a:t>
            </a:r>
            <a:endParaRPr b="1" sz="900">
              <a:solidFill>
                <a:srgbClr val="0D5CDF"/>
              </a:solidFill>
              <a:latin typeface="Roboto"/>
              <a:ea typeface="Roboto"/>
              <a:cs typeface="Roboto"/>
              <a:sym typeface="Roboto"/>
            </a:endParaRPr>
          </a:p>
        </p:txBody>
      </p:sp>
      <p:sp>
        <p:nvSpPr>
          <p:cNvPr id="183" name="Google Shape;183;p25"/>
          <p:cNvSpPr txBox="1"/>
          <p:nvPr/>
        </p:nvSpPr>
        <p:spPr>
          <a:xfrm>
            <a:off x="3269750" y="3702250"/>
            <a:ext cx="1302300" cy="13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Roboto"/>
                <a:ea typeface="Roboto"/>
                <a:cs typeface="Roboto"/>
                <a:sym typeface="Roboto"/>
              </a:rPr>
              <a:t>Establish the review’s goals and scope, invite relevant parties and set a time for the meeting.</a:t>
            </a:r>
            <a:r>
              <a:rPr lang="en" sz="1200">
                <a:latin typeface="Roboto"/>
                <a:ea typeface="Roboto"/>
                <a:cs typeface="Roboto"/>
                <a:sym typeface="Roboto"/>
              </a:rPr>
              <a:t>.</a:t>
            </a:r>
            <a:endParaRPr b="1" sz="1200">
              <a:latin typeface="Roboto"/>
              <a:ea typeface="Roboto"/>
              <a:cs typeface="Roboto"/>
              <a:sym typeface="Roboto"/>
            </a:endParaRPr>
          </a:p>
        </p:txBody>
      </p:sp>
      <p:sp>
        <p:nvSpPr>
          <p:cNvPr id="184" name="Google Shape;184;p25"/>
          <p:cNvSpPr txBox="1"/>
          <p:nvPr/>
        </p:nvSpPr>
        <p:spPr>
          <a:xfrm>
            <a:off x="1673400" y="3741675"/>
            <a:ext cx="1518900" cy="14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Roboto"/>
                <a:ea typeface="Roboto"/>
                <a:cs typeface="Roboto"/>
                <a:sym typeface="Roboto"/>
              </a:rPr>
              <a:t>To get ready for the review process, assign roles, gather resources and provide brief management.</a:t>
            </a:r>
            <a:endParaRPr sz="1200">
              <a:latin typeface="Roboto"/>
              <a:ea typeface="Roboto"/>
              <a:cs typeface="Roboto"/>
              <a:sym typeface="Roboto"/>
            </a:endParaRPr>
          </a:p>
        </p:txBody>
      </p:sp>
      <p:sp>
        <p:nvSpPr>
          <p:cNvPr id="185" name="Google Shape;185;p25"/>
          <p:cNvSpPr/>
          <p:nvPr/>
        </p:nvSpPr>
        <p:spPr>
          <a:xfrm>
            <a:off x="1966072"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C57D3"/>
                </a:solidFill>
                <a:latin typeface="Roboto"/>
                <a:ea typeface="Roboto"/>
                <a:cs typeface="Roboto"/>
                <a:sym typeface="Roboto"/>
              </a:rPr>
              <a:t>2</a:t>
            </a:r>
            <a:endParaRPr b="1" sz="900">
              <a:solidFill>
                <a:srgbClr val="0C57D3"/>
              </a:solidFill>
              <a:latin typeface="Roboto"/>
              <a:ea typeface="Roboto"/>
              <a:cs typeface="Roboto"/>
              <a:sym typeface="Roboto"/>
            </a:endParaRPr>
          </a:p>
        </p:txBody>
      </p:sp>
      <p:sp>
        <p:nvSpPr>
          <p:cNvPr id="186" name="Google Shape;186;p25"/>
          <p:cNvSpPr/>
          <p:nvPr/>
        </p:nvSpPr>
        <p:spPr>
          <a:xfrm>
            <a:off x="472955" y="3255512"/>
            <a:ext cx="326100" cy="326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942A1"/>
                </a:solidFill>
                <a:latin typeface="Roboto"/>
                <a:ea typeface="Roboto"/>
                <a:cs typeface="Roboto"/>
                <a:sym typeface="Roboto"/>
              </a:rPr>
              <a:t>1</a:t>
            </a:r>
            <a:endParaRPr b="1" sz="900">
              <a:solidFill>
                <a:srgbClr val="0942A1"/>
              </a:solidFill>
              <a:latin typeface="Roboto"/>
              <a:ea typeface="Roboto"/>
              <a:cs typeface="Roboto"/>
              <a:sym typeface="Roboto"/>
            </a:endParaRPr>
          </a:p>
        </p:txBody>
      </p:sp>
      <p:sp>
        <p:nvSpPr>
          <p:cNvPr id="187" name="Google Shape;187;p25"/>
          <p:cNvSpPr txBox="1"/>
          <p:nvPr/>
        </p:nvSpPr>
        <p:spPr>
          <a:xfrm>
            <a:off x="31500" y="3675925"/>
            <a:ext cx="1641900" cy="16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By confirming documentation, fulfilling entry requirements and assessing stakeholder and team preparation, you can determine the software’s availability.</a:t>
            </a:r>
            <a:endParaRPr sz="1100">
              <a:latin typeface="Roboto"/>
              <a:ea typeface="Roboto"/>
              <a:cs typeface="Roboto"/>
              <a:sym typeface="Roboto"/>
            </a:endParaRPr>
          </a:p>
        </p:txBody>
      </p:sp>
      <p:sp>
        <p:nvSpPr>
          <p:cNvPr id="188" name="Google Shape;188;p25"/>
          <p:cNvSpPr/>
          <p:nvPr/>
        </p:nvSpPr>
        <p:spPr>
          <a:xfrm>
            <a:off x="1996275" y="2543050"/>
            <a:ext cx="502500" cy="14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9" name="Google Shape;189;p25"/>
          <p:cNvSpPr/>
          <p:nvPr/>
        </p:nvSpPr>
        <p:spPr>
          <a:xfrm>
            <a:off x="3444075" y="2543050"/>
            <a:ext cx="502500" cy="14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0" name="Google Shape;190;p25"/>
          <p:cNvSpPr/>
          <p:nvPr/>
        </p:nvSpPr>
        <p:spPr>
          <a:xfrm>
            <a:off x="4968075" y="2543050"/>
            <a:ext cx="502500" cy="14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25"/>
          <p:cNvSpPr/>
          <p:nvPr/>
        </p:nvSpPr>
        <p:spPr>
          <a:xfrm>
            <a:off x="6415875" y="2543050"/>
            <a:ext cx="502500" cy="14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Software Review</a:t>
            </a:r>
            <a:endParaRPr/>
          </a:p>
        </p:txBody>
      </p:sp>
      <p:sp>
        <p:nvSpPr>
          <p:cNvPr id="197" name="Google Shape;197;p26"/>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64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Defects can be identified earlier stage of development (especially in formal review). </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Earlier inspection also reduces the maintenance cost of software. </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It can be used to train technical authors. </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can improve software development productivity and reduce development timescales.</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They can also reduce testing time and cost.</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generally reduce fault levels and lead to increased quality. This can also result in improved customer relations.</a:t>
            </a:r>
            <a:endParaRPr sz="1800">
              <a:solidFill>
                <a:srgbClr val="4B4F58"/>
              </a:solidFill>
              <a:latin typeface="Calibri"/>
              <a:ea typeface="Calibri"/>
              <a:cs typeface="Calibri"/>
              <a:sym typeface="Calibri"/>
            </a:endParaRPr>
          </a:p>
          <a:p>
            <a:pPr indent="-342900" lvl="0" marL="457200" rtl="0" algn="l">
              <a:lnSpc>
                <a:spcPct val="100000"/>
              </a:lnSpc>
              <a:spcBef>
                <a:spcPts val="0"/>
              </a:spcBef>
              <a:spcAft>
                <a:spcPts val="0"/>
              </a:spcAft>
              <a:buClr>
                <a:srgbClr val="4B4F58"/>
              </a:buClr>
              <a:buSzPts val="1800"/>
              <a:buFont typeface="Calibri"/>
              <a:buChar char="❏"/>
            </a:pPr>
            <a:r>
              <a:rPr lang="en" sz="1800">
                <a:solidFill>
                  <a:srgbClr val="4B4F58"/>
                </a:solidFill>
                <a:latin typeface="Calibri"/>
                <a:ea typeface="Calibri"/>
                <a:cs typeface="Calibri"/>
                <a:sym typeface="Calibri"/>
              </a:rPr>
              <a:t>Reviews are cost-effective.</a:t>
            </a:r>
            <a:endParaRPr sz="1800">
              <a:solidFill>
                <a:srgbClr val="4B4F58"/>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Activity:</a:t>
            </a:r>
            <a:endParaRPr/>
          </a:p>
        </p:txBody>
      </p:sp>
      <p:sp>
        <p:nvSpPr>
          <p:cNvPr id="203" name="Google Shape;203;p27"/>
          <p:cNvSpPr txBox="1"/>
          <p:nvPr>
            <p:ph idx="1" type="body"/>
          </p:nvPr>
        </p:nvSpPr>
        <p:spPr>
          <a:xfrm>
            <a:off x="727650" y="1251075"/>
            <a:ext cx="7688700" cy="3892500"/>
          </a:xfrm>
          <a:prstGeom prst="rect">
            <a:avLst/>
          </a:prstGeom>
        </p:spPr>
        <p:txBody>
          <a:bodyPr anchorCtr="0" anchor="t" bIns="91425" lIns="91425" spcFirstLastPara="1" rIns="91425" wrap="square" tIns="91425">
            <a:normAutofit/>
          </a:bodyPr>
          <a:lstStyle/>
          <a:p>
            <a:pPr indent="-412750" lvl="0" marL="457200" rtl="0" algn="just">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What is software review?</a:t>
            </a:r>
            <a:endParaRPr sz="2900">
              <a:solidFill>
                <a:srgbClr val="000000"/>
              </a:solidFill>
              <a:latin typeface="Calibri"/>
              <a:ea typeface="Calibri"/>
              <a:cs typeface="Calibri"/>
              <a:sym typeface="Calibri"/>
            </a:endParaRPr>
          </a:p>
          <a:p>
            <a:pPr indent="-412750" lvl="0" marL="457200" rtl="0" algn="just">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State </a:t>
            </a:r>
            <a:r>
              <a:rPr lang="en" sz="2900">
                <a:solidFill>
                  <a:srgbClr val="000000"/>
                </a:solidFill>
                <a:latin typeface="Calibri"/>
                <a:ea typeface="Calibri"/>
                <a:cs typeface="Calibri"/>
                <a:sym typeface="Calibri"/>
              </a:rPr>
              <a:t>different</a:t>
            </a:r>
            <a:r>
              <a:rPr lang="en" sz="2900">
                <a:solidFill>
                  <a:srgbClr val="000000"/>
                </a:solidFill>
                <a:latin typeface="Calibri"/>
                <a:ea typeface="Calibri"/>
                <a:cs typeface="Calibri"/>
                <a:sym typeface="Calibri"/>
              </a:rPr>
              <a:t> types of Software Peer review and describe them.</a:t>
            </a:r>
            <a:endParaRPr sz="2900">
              <a:solidFill>
                <a:srgbClr val="000000"/>
              </a:solidFill>
              <a:latin typeface="Calibri"/>
              <a:ea typeface="Calibri"/>
              <a:cs typeface="Calibri"/>
              <a:sym typeface="Calibri"/>
            </a:endParaRPr>
          </a:p>
          <a:p>
            <a:pPr indent="-412750" lvl="0" marL="457200" rtl="0" algn="just">
              <a:lnSpc>
                <a:spcPct val="100000"/>
              </a:lnSpc>
              <a:spcBef>
                <a:spcPts val="0"/>
              </a:spcBef>
              <a:spcAft>
                <a:spcPts val="0"/>
              </a:spcAft>
              <a:buClr>
                <a:srgbClr val="000000"/>
              </a:buClr>
              <a:buSzPts val="2900"/>
              <a:buFont typeface="Calibri"/>
              <a:buAutoNum type="arabicPeriod"/>
            </a:pPr>
            <a:r>
              <a:rPr lang="en" sz="2900">
                <a:solidFill>
                  <a:srgbClr val="000000"/>
                </a:solidFill>
                <a:latin typeface="Calibri"/>
                <a:ea typeface="Calibri"/>
                <a:cs typeface="Calibri"/>
                <a:sym typeface="Calibri"/>
              </a:rPr>
              <a:t>Describe the </a:t>
            </a:r>
            <a:r>
              <a:rPr lang="en" sz="2900">
                <a:solidFill>
                  <a:srgbClr val="000000"/>
                </a:solidFill>
                <a:latin typeface="Calibri"/>
                <a:ea typeface="Calibri"/>
                <a:cs typeface="Calibri"/>
                <a:sym typeface="Calibri"/>
              </a:rPr>
              <a:t>difference</a:t>
            </a:r>
            <a:r>
              <a:rPr lang="en" sz="2900">
                <a:solidFill>
                  <a:srgbClr val="000000"/>
                </a:solidFill>
                <a:latin typeface="Calibri"/>
                <a:ea typeface="Calibri"/>
                <a:cs typeface="Calibri"/>
                <a:sym typeface="Calibri"/>
              </a:rPr>
              <a:t> in between the Informal review and formal review.</a:t>
            </a:r>
            <a:endParaRPr sz="29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209" name="Google Shape;209;p28"/>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