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4" r:id="rId9"/>
    <p:sldId id="266" r:id="rId10"/>
    <p:sldId id="268" r:id="rId11"/>
    <p:sldId id="269" r:id="rId12"/>
    <p:sldId id="270" r:id="rId13"/>
    <p:sldId id="271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718" autoAdjust="0"/>
  </p:normalViewPr>
  <p:slideViewPr>
    <p:cSldViewPr>
      <p:cViewPr varScale="1">
        <p:scale>
          <a:sx n="109" d="100"/>
          <a:sy n="109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8F712-CBBB-4A48-AD27-DA6FD858A7C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C82BE-B859-4F18-8C5F-56DB2DAC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5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javax.swing</a:t>
            </a:r>
            <a:r>
              <a:rPr lang="en-US" dirty="0" smtClean="0"/>
              <a:t>.*;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SimpleGUI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Create a new frame (window)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JFrame</a:t>
            </a:r>
            <a:r>
              <a:rPr lang="en-US" dirty="0" smtClean="0"/>
              <a:t> frame = new </a:t>
            </a:r>
            <a:r>
              <a:rPr lang="en-US" dirty="0" err="1" smtClean="0"/>
              <a:t>JFrame</a:t>
            </a:r>
            <a:r>
              <a:rPr lang="en-US" dirty="0" smtClean="0"/>
              <a:t>("My First GUI");</a:t>
            </a:r>
          </a:p>
          <a:p>
            <a:endParaRPr lang="en-US" dirty="0" smtClean="0"/>
          </a:p>
          <a:p>
            <a:r>
              <a:rPr lang="en-US" dirty="0" smtClean="0"/>
              <a:t>        // Set the size of the frame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frame.setSize</a:t>
            </a:r>
            <a:r>
              <a:rPr lang="en-US" dirty="0" smtClean="0"/>
              <a:t>(300, 200);</a:t>
            </a:r>
          </a:p>
          <a:p>
            <a:endParaRPr lang="en-US" dirty="0" smtClean="0"/>
          </a:p>
          <a:p>
            <a:r>
              <a:rPr lang="en-US" dirty="0" smtClean="0"/>
              <a:t>        // Set layout manager to null for absolute positioning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frame.setLayout</a:t>
            </a:r>
            <a:r>
              <a:rPr lang="en-US" dirty="0" smtClean="0"/>
              <a:t>(null);</a:t>
            </a:r>
          </a:p>
          <a:p>
            <a:endParaRPr lang="en-US" dirty="0" smtClean="0"/>
          </a:p>
          <a:p>
            <a:r>
              <a:rPr lang="en-US" dirty="0" smtClean="0"/>
              <a:t>        // Create a label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JLabel</a:t>
            </a:r>
            <a:r>
              <a:rPr lang="en-US" dirty="0" smtClean="0"/>
              <a:t> label = new </a:t>
            </a:r>
            <a:r>
              <a:rPr lang="en-US" dirty="0" err="1" smtClean="0"/>
              <a:t>JLabel</a:t>
            </a:r>
            <a:r>
              <a:rPr lang="en-US" dirty="0" smtClean="0"/>
              <a:t>("Enter your name:");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label.setBounds</a:t>
            </a:r>
            <a:r>
              <a:rPr lang="en-US" dirty="0" smtClean="0"/>
              <a:t>(10, 20, 120,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(label);</a:t>
            </a:r>
          </a:p>
          <a:p>
            <a:endParaRPr lang="en-US" dirty="0" smtClean="0"/>
          </a:p>
          <a:p>
            <a:r>
              <a:rPr lang="en-US" dirty="0" smtClean="0"/>
              <a:t>        // Create a text field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JTextField</a:t>
            </a:r>
            <a:r>
              <a:rPr lang="en-US" dirty="0" smtClean="0"/>
              <a:t> </a:t>
            </a:r>
            <a:r>
              <a:rPr lang="en-US" dirty="0" err="1" smtClean="0"/>
              <a:t>textField</a:t>
            </a:r>
            <a:r>
              <a:rPr lang="en-US" dirty="0" smtClean="0"/>
              <a:t> = new </a:t>
            </a:r>
            <a:r>
              <a:rPr lang="en-US" dirty="0" err="1" smtClean="0"/>
              <a:t>JTextField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textField.setBounds</a:t>
            </a:r>
            <a:r>
              <a:rPr lang="en-US" dirty="0" smtClean="0"/>
              <a:t>(140, 20, 130,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textField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       // Create a button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JButton</a:t>
            </a:r>
            <a:r>
              <a:rPr lang="en-US" dirty="0" smtClean="0"/>
              <a:t> button = new </a:t>
            </a:r>
            <a:r>
              <a:rPr lang="en-US" dirty="0" err="1" smtClean="0"/>
              <a:t>JButton</a:t>
            </a:r>
            <a:r>
              <a:rPr lang="en-US" dirty="0" smtClean="0"/>
              <a:t>("Submit");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button.setBounds</a:t>
            </a:r>
            <a:r>
              <a:rPr lang="en-US" dirty="0" smtClean="0"/>
              <a:t>(100, 70, 100, 30);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(button);</a:t>
            </a:r>
          </a:p>
          <a:p>
            <a:endParaRPr lang="en-US" dirty="0" smtClean="0"/>
          </a:p>
          <a:p>
            <a:r>
              <a:rPr lang="en-US" dirty="0" smtClean="0"/>
              <a:t>        // Set default close operation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frame.setDefaultCloseOperation</a:t>
            </a:r>
            <a:r>
              <a:rPr lang="en-US" dirty="0" smtClean="0"/>
              <a:t>(</a:t>
            </a:r>
            <a:r>
              <a:rPr lang="en-US" dirty="0" err="1" smtClean="0"/>
              <a:t>JFrame.EXIT_ON_CLOSE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       // Make the frame visible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frame.setVisible</a:t>
            </a:r>
            <a:r>
              <a:rPr lang="en-US" dirty="0" smtClean="0"/>
              <a:t>(true);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C82BE-B859-4F18-8C5F-56DB2DAC68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package </a:t>
            </a:r>
            <a:r>
              <a:rPr lang="en-US" dirty="0" err="1" smtClean="0"/>
              <a:t>simplegui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javax.swing</a:t>
            </a:r>
            <a:r>
              <a:rPr lang="en-US" dirty="0" smtClean="0"/>
              <a:t>.*;</a:t>
            </a:r>
          </a:p>
          <a:p>
            <a:endParaRPr lang="en-US" dirty="0" smtClean="0"/>
          </a:p>
          <a:p>
            <a:r>
              <a:rPr lang="en-US" dirty="0" smtClean="0"/>
              <a:t>public class </a:t>
            </a:r>
            <a:r>
              <a:rPr lang="en-US" dirty="0" err="1" smtClean="0"/>
              <a:t>SimpleGUI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Create the frame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JFrame</a:t>
            </a:r>
            <a:r>
              <a:rPr lang="en-US" dirty="0" smtClean="0"/>
              <a:t> frame = new </a:t>
            </a:r>
            <a:r>
              <a:rPr lang="en-US" dirty="0" err="1" smtClean="0"/>
              <a:t>JFrame</a:t>
            </a:r>
            <a:r>
              <a:rPr lang="en-US" dirty="0" smtClean="0"/>
              <a:t>("GUI with More Controls");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frame.setSize</a:t>
            </a:r>
            <a:r>
              <a:rPr lang="en-US" dirty="0" smtClean="0"/>
              <a:t>(400, 300);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frame.setLayout</a:t>
            </a:r>
            <a:r>
              <a:rPr lang="en-US" dirty="0" smtClean="0"/>
              <a:t>(null);</a:t>
            </a:r>
          </a:p>
          <a:p>
            <a:endParaRPr lang="en-US" dirty="0" smtClean="0"/>
          </a:p>
          <a:p>
            <a:r>
              <a:rPr lang="en-US" dirty="0" smtClean="0"/>
              <a:t>        // Label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JLabel</a:t>
            </a:r>
            <a:r>
              <a:rPr lang="en-US" dirty="0" smtClean="0"/>
              <a:t> label = new </a:t>
            </a:r>
            <a:r>
              <a:rPr lang="en-US" dirty="0" err="1" smtClean="0"/>
              <a:t>JLabel</a:t>
            </a:r>
            <a:r>
              <a:rPr lang="en-US" dirty="0" smtClean="0"/>
              <a:t>("Choose Gender:");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label.setBounds</a:t>
            </a:r>
            <a:r>
              <a:rPr lang="en-US" dirty="0" smtClean="0"/>
              <a:t>(20, 20, 120,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(label);</a:t>
            </a:r>
          </a:p>
          <a:p>
            <a:endParaRPr lang="en-US" dirty="0" smtClean="0"/>
          </a:p>
          <a:p>
            <a:r>
              <a:rPr lang="en-US" dirty="0" smtClean="0"/>
              <a:t>        // Radio buttons for gender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JRadioButton</a:t>
            </a:r>
            <a:r>
              <a:rPr lang="en-US" dirty="0" smtClean="0"/>
              <a:t> male = new </a:t>
            </a:r>
            <a:r>
              <a:rPr lang="en-US" dirty="0" err="1" smtClean="0"/>
              <a:t>JRadioButton</a:t>
            </a:r>
            <a:r>
              <a:rPr lang="en-US" dirty="0" smtClean="0"/>
              <a:t>("Male");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male.setBounds</a:t>
            </a:r>
            <a:r>
              <a:rPr lang="en-US" dirty="0" smtClean="0"/>
              <a:t>(150, 20, 80,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JRadioButton</a:t>
            </a:r>
            <a:r>
              <a:rPr lang="en-US" dirty="0" smtClean="0"/>
              <a:t> female = new </a:t>
            </a:r>
            <a:r>
              <a:rPr lang="en-US" dirty="0" err="1" smtClean="0"/>
              <a:t>JRadioButton</a:t>
            </a:r>
            <a:r>
              <a:rPr lang="en-US" dirty="0" smtClean="0"/>
              <a:t>("Female");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female.setBounds</a:t>
            </a:r>
            <a:r>
              <a:rPr lang="en-US" dirty="0" smtClean="0"/>
              <a:t>(230, 20, 80, 25);</a:t>
            </a:r>
          </a:p>
          <a:p>
            <a:endParaRPr lang="en-US" dirty="0" smtClean="0"/>
          </a:p>
          <a:p>
            <a:r>
              <a:rPr lang="en-US" dirty="0" smtClean="0"/>
              <a:t>        // Group the radio buttons so only one can be selected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ButtonGroup</a:t>
            </a:r>
            <a:r>
              <a:rPr lang="en-US" dirty="0" smtClean="0"/>
              <a:t> </a:t>
            </a:r>
            <a:r>
              <a:rPr lang="en-US" dirty="0" err="1" smtClean="0"/>
              <a:t>genderGroup</a:t>
            </a:r>
            <a:r>
              <a:rPr lang="en-US" dirty="0" smtClean="0"/>
              <a:t> = new </a:t>
            </a:r>
            <a:r>
              <a:rPr lang="en-US" dirty="0" err="1" smtClean="0"/>
              <a:t>ButtonGroup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genderGroup.add</a:t>
            </a:r>
            <a:r>
              <a:rPr lang="en-US" dirty="0" smtClean="0"/>
              <a:t>(male);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genderGroup.add</a:t>
            </a:r>
            <a:r>
              <a:rPr lang="en-US" dirty="0" smtClean="0"/>
              <a:t>(female);</a:t>
            </a:r>
          </a:p>
          <a:p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(male);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(female);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</a:t>
            </a:r>
          </a:p>
          <a:p>
            <a:endParaRPr lang="en-US" dirty="0" smtClean="0"/>
          </a:p>
          <a:p>
            <a:r>
              <a:rPr lang="en-US" dirty="0" smtClean="0"/>
              <a:t>        // Checkboxes for hobbies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JLabel</a:t>
            </a:r>
            <a:r>
              <a:rPr lang="en-US" dirty="0" smtClean="0"/>
              <a:t> </a:t>
            </a:r>
            <a:r>
              <a:rPr lang="en-US" dirty="0" err="1" smtClean="0"/>
              <a:t>hobbyLabel</a:t>
            </a:r>
            <a:r>
              <a:rPr lang="en-US" dirty="0" smtClean="0"/>
              <a:t> = new </a:t>
            </a:r>
            <a:r>
              <a:rPr lang="en-US" dirty="0" err="1" smtClean="0"/>
              <a:t>JLabel</a:t>
            </a:r>
            <a:r>
              <a:rPr lang="en-US" dirty="0" smtClean="0"/>
              <a:t>("Hobbies:");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hobbyLabel.setBounds</a:t>
            </a:r>
            <a:r>
              <a:rPr lang="en-US" dirty="0" smtClean="0"/>
              <a:t>(20, 60, 100,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JCheckBox</a:t>
            </a:r>
            <a:r>
              <a:rPr lang="en-US" dirty="0" smtClean="0"/>
              <a:t> cb1 = new </a:t>
            </a:r>
            <a:r>
              <a:rPr lang="en-US" dirty="0" err="1" smtClean="0"/>
              <a:t>JCheckBox</a:t>
            </a:r>
            <a:r>
              <a:rPr lang="en-US" dirty="0" smtClean="0"/>
              <a:t>("Reading");</a:t>
            </a:r>
          </a:p>
          <a:p>
            <a:r>
              <a:rPr lang="en-US" dirty="0" smtClean="0"/>
              <a:t>        cb1.setBounds(150, 60, 100,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JCheckBox</a:t>
            </a:r>
            <a:r>
              <a:rPr lang="en-US" dirty="0" smtClean="0"/>
              <a:t> cb2 = new </a:t>
            </a:r>
            <a:r>
              <a:rPr lang="en-US" dirty="0" err="1" smtClean="0"/>
              <a:t>JCheckBox</a:t>
            </a:r>
            <a:r>
              <a:rPr lang="en-US" dirty="0" smtClean="0"/>
              <a:t>("Traveling");</a:t>
            </a:r>
          </a:p>
          <a:p>
            <a:r>
              <a:rPr lang="en-US" dirty="0" smtClean="0"/>
              <a:t>        cb2.setBounds(250, 60, 100,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hobbyLabel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(cb1);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(cb2);</a:t>
            </a:r>
          </a:p>
          <a:p>
            <a:endParaRPr lang="en-US" dirty="0" smtClean="0"/>
          </a:p>
          <a:p>
            <a:r>
              <a:rPr lang="en-US" dirty="0" smtClean="0"/>
              <a:t>        // Combo box for country selection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JLabel</a:t>
            </a:r>
            <a:r>
              <a:rPr lang="en-US" dirty="0" smtClean="0"/>
              <a:t> </a:t>
            </a:r>
            <a:r>
              <a:rPr lang="en-US" dirty="0" err="1" smtClean="0"/>
              <a:t>countryLabel</a:t>
            </a:r>
            <a:r>
              <a:rPr lang="en-US" dirty="0" smtClean="0"/>
              <a:t> = new </a:t>
            </a:r>
            <a:r>
              <a:rPr lang="en-US" dirty="0" err="1" smtClean="0"/>
              <a:t>JLabel</a:t>
            </a:r>
            <a:r>
              <a:rPr lang="en-US" dirty="0" smtClean="0"/>
              <a:t>("Country:");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countryLabel.setBounds</a:t>
            </a:r>
            <a:r>
              <a:rPr lang="en-US" dirty="0" smtClean="0"/>
              <a:t>(20, 100, 100, 25);</a:t>
            </a:r>
          </a:p>
          <a:p>
            <a:r>
              <a:rPr lang="en-US" dirty="0" smtClean="0"/>
              <a:t>        String[] countries = { "Select", "USA", "India", "UK", "Germany" };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JComboBox</a:t>
            </a:r>
            <a:r>
              <a:rPr lang="en-US" dirty="0" smtClean="0"/>
              <a:t>&lt;String&gt; </a:t>
            </a:r>
            <a:r>
              <a:rPr lang="en-US" dirty="0" err="1" smtClean="0"/>
              <a:t>countryBox</a:t>
            </a:r>
            <a:r>
              <a:rPr lang="en-US" dirty="0" smtClean="0"/>
              <a:t> = new </a:t>
            </a:r>
            <a:r>
              <a:rPr lang="en-US" dirty="0" err="1" smtClean="0"/>
              <a:t>JComboBox</a:t>
            </a:r>
            <a:r>
              <a:rPr lang="en-US" dirty="0" smtClean="0"/>
              <a:t>&lt;&gt;(countries);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countryBox.setBounds</a:t>
            </a:r>
            <a:r>
              <a:rPr lang="en-US" dirty="0" smtClean="0"/>
              <a:t>(150, 100, 150,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countryLabel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countryBox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       // Text area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JLabel</a:t>
            </a:r>
            <a:r>
              <a:rPr lang="en-US" dirty="0" smtClean="0"/>
              <a:t> </a:t>
            </a:r>
            <a:r>
              <a:rPr lang="en-US" dirty="0" err="1" smtClean="0"/>
              <a:t>bioLabel</a:t>
            </a:r>
            <a:r>
              <a:rPr lang="en-US" dirty="0" smtClean="0"/>
              <a:t> = new </a:t>
            </a:r>
            <a:r>
              <a:rPr lang="en-US" dirty="0" err="1" smtClean="0"/>
              <a:t>JLabel</a:t>
            </a:r>
            <a:r>
              <a:rPr lang="en-US" dirty="0" smtClean="0"/>
              <a:t>("Bio:");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bioLabel.setBounds</a:t>
            </a:r>
            <a:r>
              <a:rPr lang="en-US" dirty="0" smtClean="0"/>
              <a:t>(20, 140, 100, 25);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JTextArea</a:t>
            </a:r>
            <a:r>
              <a:rPr lang="en-US" dirty="0" smtClean="0"/>
              <a:t> </a:t>
            </a:r>
            <a:r>
              <a:rPr lang="en-US" dirty="0" err="1" smtClean="0"/>
              <a:t>bioArea</a:t>
            </a:r>
            <a:r>
              <a:rPr lang="en-US" dirty="0" smtClean="0"/>
              <a:t> = new </a:t>
            </a:r>
            <a:r>
              <a:rPr lang="en-US" dirty="0" err="1" smtClean="0"/>
              <a:t>JTextArea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bioArea.setBounds</a:t>
            </a:r>
            <a:r>
              <a:rPr lang="en-US" dirty="0" smtClean="0"/>
              <a:t>(150, 140, 200, 60);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bioLabel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frame.add</a:t>
            </a:r>
            <a:r>
              <a:rPr lang="en-US" dirty="0" smtClean="0"/>
              <a:t>(</a:t>
            </a:r>
            <a:r>
              <a:rPr lang="en-US" dirty="0" err="1" smtClean="0"/>
              <a:t>bioArea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       // Set default close operation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frame.setDefaultCloseOperation</a:t>
            </a:r>
            <a:r>
              <a:rPr lang="en-US" dirty="0" smtClean="0"/>
              <a:t>(</a:t>
            </a:r>
            <a:r>
              <a:rPr lang="en-US" dirty="0" err="1" smtClean="0"/>
              <a:t>JFrame.EXIT_ON_CLOSE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       // Make the frame visible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frame.setVisible</a:t>
            </a:r>
            <a:r>
              <a:rPr lang="en-US" dirty="0" smtClean="0"/>
              <a:t>(true);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C82BE-B859-4F18-8C5F-56DB2DAC68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3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DE7EA-1ED9-4F53-A700-505A3243E16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E632-8441-4926-A704-A2648F71A5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dirty="0" smtClean="0"/>
              <a:t>GUI Designing with Java Swing</a:t>
            </a:r>
            <a:endParaRPr lang="en-US" dirty="0"/>
          </a:p>
        </p:txBody>
      </p:sp>
      <p:pic>
        <p:nvPicPr>
          <p:cNvPr id="1026" name="Picture 2" descr="GitHub - DJ-Raven/java-ui-dashboard-001: java swing ui de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30963"/>
            <a:ext cx="6335518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GUI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GUI (Graphical User Interface) is a visual way of interacting with a computer application using graphical elements like:</a:t>
            </a:r>
          </a:p>
          <a:p>
            <a:pPr lvl="1"/>
            <a:r>
              <a:rPr lang="en-US" dirty="0" smtClean="0"/>
              <a:t>Windows</a:t>
            </a:r>
          </a:p>
          <a:p>
            <a:pPr lvl="1"/>
            <a:r>
              <a:rPr lang="en-US" dirty="0" smtClean="0"/>
              <a:t>Buttons</a:t>
            </a:r>
          </a:p>
          <a:p>
            <a:pPr lvl="1"/>
            <a:r>
              <a:rPr lang="en-US" dirty="0" smtClean="0"/>
              <a:t>Menus</a:t>
            </a:r>
          </a:p>
          <a:p>
            <a:pPr lvl="1"/>
            <a:r>
              <a:rPr lang="en-US" dirty="0" smtClean="0"/>
              <a:t>Icons</a:t>
            </a:r>
          </a:p>
          <a:p>
            <a:pPr lvl="1"/>
            <a:r>
              <a:rPr lang="en-US" dirty="0" smtClean="0"/>
              <a:t>Text fields</a:t>
            </a:r>
          </a:p>
          <a:p>
            <a:endParaRPr lang="en-US" dirty="0"/>
          </a:p>
        </p:txBody>
      </p:sp>
      <p:sp>
        <p:nvSpPr>
          <p:cNvPr id="1026" name="AutoShape 2" descr="GUI Programming - Java Programming Tutori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WT_ContainerComponen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7456" y="3820816"/>
            <a:ext cx="6341744" cy="1810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Importance of GUI in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Accessibility</a:t>
            </a:r>
            <a:r>
              <a:rPr lang="en-US" dirty="0" smtClean="0"/>
              <a:t>: Opens up software use to non-technical users</a:t>
            </a:r>
          </a:p>
          <a:p>
            <a:r>
              <a:rPr lang="en-US" b="1" dirty="0" smtClean="0"/>
              <a:t>User Engagement</a:t>
            </a:r>
            <a:r>
              <a:rPr lang="en-US" dirty="0" smtClean="0"/>
              <a:t>: Visually attractive UIs improve user satisfaction</a:t>
            </a:r>
          </a:p>
          <a:p>
            <a:r>
              <a:rPr lang="en-US" b="1" dirty="0" smtClean="0"/>
              <a:t>Efficiency</a:t>
            </a:r>
            <a:r>
              <a:rPr lang="en-US" dirty="0" smtClean="0"/>
              <a:t>: Simplifies complex tasks through graphical interactions</a:t>
            </a:r>
          </a:p>
          <a:p>
            <a:r>
              <a:rPr lang="en-US" b="1" dirty="0" smtClean="0"/>
              <a:t>Standardization</a:t>
            </a:r>
            <a:r>
              <a:rPr lang="en-US" dirty="0" smtClean="0"/>
              <a:t>: GUI elements follow predictable patterns (e.g., File &gt; Open)</a:t>
            </a:r>
          </a:p>
          <a:p>
            <a:r>
              <a:rPr lang="en-US" b="1" dirty="0" smtClean="0"/>
              <a:t>Feedback &amp; Guidance</a:t>
            </a:r>
            <a:r>
              <a:rPr lang="en-US" dirty="0" smtClean="0"/>
              <a:t>: Immediate visual responses help prevent user errors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CLI and GUI</a:t>
            </a:r>
            <a:endParaRPr lang="en-US" dirty="0"/>
          </a:p>
        </p:txBody>
      </p:sp>
      <p:pic>
        <p:nvPicPr>
          <p:cNvPr id="5" name="Content Placeholder 4" descr="download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2362200"/>
            <a:ext cx="3982932" cy="2209800"/>
          </a:xfrm>
        </p:spPr>
      </p:pic>
      <p:pic>
        <p:nvPicPr>
          <p:cNvPr id="6" name="Content Placeholder 5" descr="Example_of_a_GUI.pn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572000" y="2057400"/>
            <a:ext cx="4114800" cy="283296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Difference between CLI and GUI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981200"/>
          <a:ext cx="81534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1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GUI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18">
                <a:tc>
                  <a:txBody>
                    <a:bodyPr/>
                    <a:lstStyle/>
                    <a:p>
                      <a:r>
                        <a:rPr lang="en-US" dirty="0" smtClean="0"/>
                        <a:t>Interaction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Typed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Mouse clicks, drag and drop, icons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18">
                <a:tc>
                  <a:txBody>
                    <a:bodyPr/>
                    <a:lstStyle/>
                    <a:p>
                      <a:r>
                        <a:rPr lang="en-US" dirty="0" smtClean="0"/>
                        <a:t>Ease of 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Requires memorization of commands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Intuitive and easier to learn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91">
                <a:tc>
                  <a:txBody>
                    <a:bodyPr/>
                    <a:lstStyle/>
                    <a:p>
                      <a:r>
                        <a:rPr lang="en-US" dirty="0" smtClean="0"/>
                        <a:t>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Faster for experts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Slower for some tasks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691">
                <a:tc>
                  <a:txBody>
                    <a:bodyPr/>
                    <a:lstStyle/>
                    <a:p>
                      <a:r>
                        <a:rPr lang="en-US" dirty="0" smtClean="0"/>
                        <a:t>Multitasking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Harder to handle multiple tasks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Easier with multiple windows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691">
                <a:tc>
                  <a:txBody>
                    <a:bodyPr/>
                    <a:lstStyle/>
                    <a:p>
                      <a:r>
                        <a:rPr lang="en-US" dirty="0" smtClean="0"/>
                        <a:t>User 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Developers, system </a:t>
                      </a:r>
                      <a:r>
                        <a:rPr lang="en-US" dirty="0" err="1" smtClean="0"/>
                        <a:t>admins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General users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 GUI Toolkits: AWT </a:t>
            </a:r>
            <a:r>
              <a:rPr lang="en-US" dirty="0" err="1" smtClean="0"/>
              <a:t>vs</a:t>
            </a:r>
            <a:r>
              <a:rPr lang="en-US" dirty="0" smtClean="0"/>
              <a:t> Swing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JavaFX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AWT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Swing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JavaFX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Introduced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 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 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 8 (officially in Java 7)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Lightweight?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– depends on native OS widgets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 – written in Java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 – modern &amp; rich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Look &amp; Feel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Platform-dependent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Pluggable Look &amp; Feel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CSS-based styling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UI Controls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Rich set of components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Modern, customizable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Fast, basic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Slower than AWT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Better performance for modern UIs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Use Today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Mostly legacy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Still used in many apps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Preferred for new desktop UIs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javax.swing</a:t>
            </a:r>
            <a:r>
              <a:rPr lang="en-US" dirty="0" smtClean="0"/>
              <a:t>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 smtClean="0"/>
              <a:t>javax.swing</a:t>
            </a:r>
            <a:r>
              <a:rPr lang="en-US" dirty="0" smtClean="0"/>
              <a:t> is a </a:t>
            </a:r>
            <a:r>
              <a:rPr lang="en-US" b="1" dirty="0" smtClean="0"/>
              <a:t>Java GUI toolkit</a:t>
            </a:r>
            <a:r>
              <a:rPr lang="en-US" dirty="0" smtClean="0"/>
              <a:t> that provides a </a:t>
            </a:r>
            <a:r>
              <a:rPr lang="en-US" b="1" dirty="0" smtClean="0"/>
              <a:t>rich set of components</a:t>
            </a:r>
            <a:r>
              <a:rPr lang="en-US" dirty="0" smtClean="0"/>
              <a:t> for building </a:t>
            </a:r>
            <a:r>
              <a:rPr lang="en-US" b="1" dirty="0" smtClean="0"/>
              <a:t>graphical user interfaces</a:t>
            </a:r>
            <a:r>
              <a:rPr lang="en-US" dirty="0" smtClean="0"/>
              <a:t> in desktop applications.</a:t>
            </a:r>
          </a:p>
          <a:p>
            <a:pPr algn="just"/>
            <a:r>
              <a:rPr lang="en-US" b="1" dirty="0" smtClean="0"/>
              <a:t>Features of Swing</a:t>
            </a:r>
          </a:p>
          <a:p>
            <a:pPr lvl="1"/>
            <a:r>
              <a:rPr lang="en-US" dirty="0" smtClean="0"/>
              <a:t>Lightweight components</a:t>
            </a:r>
          </a:p>
          <a:p>
            <a:pPr lvl="1"/>
            <a:r>
              <a:rPr lang="en-US" dirty="0" smtClean="0"/>
              <a:t>Pluggable look and feel</a:t>
            </a:r>
          </a:p>
          <a:p>
            <a:pPr lvl="1"/>
            <a:r>
              <a:rPr lang="en-US" dirty="0" smtClean="0"/>
              <a:t>MVC architecture</a:t>
            </a:r>
          </a:p>
          <a:p>
            <a:pPr lvl="1"/>
            <a:r>
              <a:rPr lang="en-US" dirty="0" smtClean="0"/>
              <a:t>Rich set of components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Swing Components</a:t>
            </a:r>
            <a:endParaRPr lang="en-US" dirty="0"/>
          </a:p>
        </p:txBody>
      </p:sp>
      <p:pic>
        <p:nvPicPr>
          <p:cNvPr id="4" name="Content Placeholder 3" descr="swingclassesnew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14590" y="1447800"/>
            <a:ext cx="6943459" cy="4953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Swing Components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Top-Level Containers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Control Components (Basic UI Elements)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Containers and Layouts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Menus and Toolbars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Other Components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JFrame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JDialog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JApplet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JWindow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JButton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JLabel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JTextField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JTextArea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JCheckBox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JRadioButton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JComboBox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JList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JPasswordField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JPanel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JScrollPane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Layout Managers:</a:t>
                      </a:r>
                    </a:p>
                    <a:p>
                      <a:pPr lvl="1"/>
                      <a:r>
                        <a:rPr lang="en-US" dirty="0" err="1" smtClean="0"/>
                        <a:t>FlowLayout</a:t>
                      </a:r>
                      <a:endParaRPr lang="en-US" dirty="0" smtClean="0"/>
                    </a:p>
                    <a:p>
                      <a:pPr lvl="1"/>
                      <a:r>
                        <a:rPr lang="en-US" dirty="0" err="1" smtClean="0"/>
                        <a:t>BorderLayout</a:t>
                      </a:r>
                      <a:endParaRPr lang="en-US" dirty="0" smtClean="0"/>
                    </a:p>
                    <a:p>
                      <a:pPr lvl="1"/>
                      <a:r>
                        <a:rPr lang="en-US" dirty="0" err="1" smtClean="0"/>
                        <a:t>GridLayout</a:t>
                      </a:r>
                      <a:endParaRPr lang="en-US" dirty="0" smtClean="0"/>
                    </a:p>
                    <a:p>
                      <a:pPr lvl="1"/>
                      <a:r>
                        <a:rPr lang="en-US" dirty="0" err="1" smtClean="0"/>
                        <a:t>BoxLayout</a:t>
                      </a:r>
                      <a:endParaRPr lang="en-US" dirty="0" smtClean="0"/>
                    </a:p>
                    <a:p>
                      <a:pPr lvl="1"/>
                      <a:r>
                        <a:rPr lang="en-US" dirty="0" err="1" smtClean="0"/>
                        <a:t>GridBagLayout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JMenuBar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JMenu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JMenuItem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JToolBar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JTabbedPane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JSplitPane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JTree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JTable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JProgressBar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JSlider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JSpinner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667000"/>
            <a:ext cx="2876550" cy="1924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063" y="304800"/>
            <a:ext cx="5976937" cy="635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7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976437"/>
            <a:ext cx="37909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0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590800"/>
            <a:ext cx="3124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Radio Buttons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57200"/>
            <a:ext cx="5738812" cy="60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8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855" y="2367512"/>
            <a:ext cx="31242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Check Box</a:t>
            </a:r>
            <a:br>
              <a:rPr lang="en-US" sz="3600" dirty="0" smtClean="0"/>
            </a:br>
            <a:r>
              <a:rPr lang="en-US" sz="3600" dirty="0" smtClean="0"/>
              <a:t>Combo Box</a:t>
            </a:r>
            <a:br>
              <a:rPr lang="en-US" sz="3600" dirty="0" smtClean="0"/>
            </a:br>
            <a:r>
              <a:rPr lang="en-US" sz="3600" dirty="0" smtClean="0"/>
              <a:t>Text Area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98194"/>
            <a:ext cx="6248499" cy="662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28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Why do we sometimes import java.awt when using Swing?</a:t>
            </a:r>
          </a:p>
          <a:p>
            <a:pPr algn="just">
              <a:buNone/>
            </a:pPr>
            <a:r>
              <a:rPr lang="en-US" dirty="0" smtClean="0"/>
              <a:t>    Even though you're building GUI applications with </a:t>
            </a:r>
            <a:r>
              <a:rPr lang="en-US" b="1" dirty="0" smtClean="0"/>
              <a:t>Swing (</a:t>
            </a:r>
            <a:r>
              <a:rPr lang="en-US" b="1" dirty="0" err="1" smtClean="0"/>
              <a:t>javax.swing</a:t>
            </a:r>
            <a:r>
              <a:rPr lang="en-US" b="1" dirty="0" smtClean="0"/>
              <a:t>)</a:t>
            </a:r>
            <a:r>
              <a:rPr lang="en-US" dirty="0" smtClean="0"/>
              <a:t>, some important </a:t>
            </a:r>
            <a:r>
              <a:rPr lang="en-US" b="1" dirty="0" smtClean="0"/>
              <a:t>foundational classes</a:t>
            </a:r>
            <a:r>
              <a:rPr lang="en-US" dirty="0" smtClean="0"/>
              <a:t> come from </a:t>
            </a:r>
            <a:r>
              <a:rPr lang="en-US" b="1" dirty="0" smtClean="0"/>
              <a:t>AWT (java.awt)</a:t>
            </a:r>
            <a:r>
              <a:rPr lang="en-US" dirty="0" smtClean="0"/>
              <a:t>. Swing is actually </a:t>
            </a:r>
            <a:r>
              <a:rPr lang="en-US" b="1" dirty="0" smtClean="0"/>
              <a:t>built on top of AWT</a:t>
            </a:r>
            <a:r>
              <a:rPr lang="en-US" dirty="0" smtClean="0"/>
              <a:t>, and many GUI elements in Swing </a:t>
            </a:r>
            <a:r>
              <a:rPr lang="en-US" b="1" dirty="0" smtClean="0"/>
              <a:t>depend on AWT classes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920</Words>
  <Application>Microsoft Office PowerPoint</Application>
  <PresentationFormat>On-screen Show (4:3)</PresentationFormat>
  <Paragraphs>224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GUI Designing with Java Swing</vt:lpstr>
      <vt:lpstr>Introduction to GUI in Java</vt:lpstr>
      <vt:lpstr>Importance of GUI in Applications</vt:lpstr>
      <vt:lpstr>Difference between CLI and GUI</vt:lpstr>
      <vt:lpstr>Difference between CLI and GUI</vt:lpstr>
      <vt:lpstr>Java GUI Toolkits: AWT vs Swing vs JavaFX</vt:lpstr>
      <vt:lpstr>javax.swing Package</vt:lpstr>
      <vt:lpstr>Core Swing Components</vt:lpstr>
      <vt:lpstr>Core Swing Components</vt:lpstr>
      <vt:lpstr>PowerPoint Presentation</vt:lpstr>
      <vt:lpstr>Example 02</vt:lpstr>
      <vt:lpstr>Radio Buttons</vt:lpstr>
      <vt:lpstr>Check Box Combo Box Text Area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icbt1</cp:lastModifiedBy>
  <cp:revision>14</cp:revision>
  <dcterms:created xsi:type="dcterms:W3CDTF">2025-05-26T09:06:04Z</dcterms:created>
  <dcterms:modified xsi:type="dcterms:W3CDTF">2025-06-01T06:38:52Z</dcterms:modified>
</cp:coreProperties>
</file>