
<file path=[Content_Types].xml><?xml version="1.0" encoding="utf-8"?>
<Types xmlns="http://schemas.openxmlformats.org/package/2006/content-types">
  <Default Extension="png" ContentType="image/png"/>
  <Default Extension="pdf" ContentType="application/pd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57" r:id="rId3"/>
    <p:sldId id="258" r:id="rId4"/>
    <p:sldId id="259" r:id="rId5"/>
    <p:sldId id="275" r:id="rId6"/>
    <p:sldId id="276" r:id="rId7"/>
    <p:sldId id="277"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8" r:id="rId22"/>
    <p:sldId id="279" r:id="rId23"/>
    <p:sldId id="280" r:id="rId24"/>
    <p:sldId id="281" r:id="rId25"/>
    <p:sldId id="282" r:id="rId26"/>
    <p:sldId id="283" r:id="rId27"/>
    <p:sldId id="284" r:id="rId28"/>
    <p:sldId id="285" r:id="rId29"/>
    <p:sldId id="273" r:id="rId30"/>
    <p:sldId id="274" r:id="rId31"/>
    <p:sldId id="286"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p:cViewPr varScale="1">
        <p:scale>
          <a:sx n="81" d="100"/>
          <a:sy n="81" d="100"/>
        </p:scale>
        <p:origin x="1526"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493F6-AEF9-4D68-B6B1-8F8AED03355E}" type="datetimeFigureOut">
              <a:rPr lang="en-US" smtClean="0"/>
              <a:t>2/26/2024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B53677-F652-4DD4-8D59-43EB1593372E}" type="slidenum">
              <a:rPr lang="en-US" smtClean="0"/>
              <a:t>‹#›</a:t>
            </a:fld>
            <a:endParaRPr lang="en-US"/>
          </a:p>
        </p:txBody>
      </p:sp>
    </p:spTree>
    <p:extLst>
      <p:ext uri="{BB962C8B-B14F-4D97-AF65-F5344CB8AC3E}">
        <p14:creationId xmlns:p14="http://schemas.microsoft.com/office/powerpoint/2010/main" val="900107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5B53677-F652-4DD4-8D59-43EB1593372E}" type="slidenum">
              <a:rPr lang="en-US" smtClean="0"/>
              <a:t>2</a:t>
            </a:fld>
            <a:endParaRPr lang="en-US"/>
          </a:p>
        </p:txBody>
      </p:sp>
    </p:spTree>
    <p:extLst>
      <p:ext uri="{BB962C8B-B14F-4D97-AF65-F5344CB8AC3E}">
        <p14:creationId xmlns:p14="http://schemas.microsoft.com/office/powerpoint/2010/main" val="1994981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B53677-F652-4DD4-8D59-43EB1593372E}" type="slidenum">
              <a:rPr lang="en-US" smtClean="0"/>
              <a:t>18</a:t>
            </a:fld>
            <a:endParaRPr lang="en-US"/>
          </a:p>
        </p:txBody>
      </p:sp>
    </p:spTree>
    <p:extLst>
      <p:ext uri="{BB962C8B-B14F-4D97-AF65-F5344CB8AC3E}">
        <p14:creationId xmlns:p14="http://schemas.microsoft.com/office/powerpoint/2010/main" val="10892775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38DDAB1B-DE98-4885-ACF6-2A37A95DBBB5}" type="datetime1">
              <a:rPr lang="en-US" smtClean="0"/>
              <a:t>2/26/2024</a:t>
            </a:fld>
            <a:endParaRPr lang="en-US"/>
          </a:p>
        </p:txBody>
      </p:sp>
      <p:sp>
        <p:nvSpPr>
          <p:cNvPr id="5" name="Footer Placeholder 4"/>
          <p:cNvSpPr>
            <a:spLocks noGrp="1"/>
          </p:cNvSpPr>
          <p:nvPr>
            <p:ph type="ftr" sz="quarter" idx="11"/>
          </p:nvPr>
        </p:nvSpPr>
        <p:spPr/>
        <p:txBody>
          <a:bodyPr/>
          <a:lstStyle>
            <a:lvl1pPr>
              <a:defRPr/>
            </a:lvl1pPr>
          </a:lstStyle>
          <a:p>
            <a:r>
              <a:rPr lang="en-US"/>
              <a:t>Extracted from Ian Sommerville 2011, Software Engineering, 9th edition. Chapter 1</a:t>
            </a:r>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Chapter Title style</a:t>
            </a:r>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a:t>Click to edit Course Title style</a:t>
            </a:r>
          </a:p>
        </p:txBody>
      </p:sp>
    </p:spTree>
    <p:extLst>
      <p:ext uri="{BB962C8B-B14F-4D97-AF65-F5344CB8AC3E}">
        <p14:creationId xmlns:p14="http://schemas.microsoft.com/office/powerpoint/2010/main" val="1302127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BE1F45-0605-4109-91EF-4E1902437911}" type="datetime1">
              <a:rPr lang="en-US" smtClean="0"/>
              <a:t>2/26/2024</a:t>
            </a:fld>
            <a:endParaRPr lang="en-US"/>
          </a:p>
        </p:txBody>
      </p:sp>
      <p:sp>
        <p:nvSpPr>
          <p:cNvPr id="5" name="Footer Placeholder 4"/>
          <p:cNvSpPr>
            <a:spLocks noGrp="1"/>
          </p:cNvSpPr>
          <p:nvPr>
            <p:ph type="ftr" sz="quarter" idx="11"/>
          </p:nvPr>
        </p:nvSpPr>
        <p:spPr/>
        <p:txBody>
          <a:bodyPr/>
          <a:lstStyle/>
          <a:p>
            <a:r>
              <a:rPr lang="en-US"/>
              <a:t>Extracted from Ian Sommerville 2011, Software Engineering, 9th edition. Chapter 1</a:t>
            </a:r>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3978172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388B35-34E8-4BE9-94AA-CDAD59CE2AE9}" type="datetime1">
              <a:rPr lang="en-US" smtClean="0"/>
              <a:t>2/26/2024</a:t>
            </a:fld>
            <a:endParaRPr lang="en-US"/>
          </a:p>
        </p:txBody>
      </p:sp>
      <p:sp>
        <p:nvSpPr>
          <p:cNvPr id="5" name="Footer Placeholder 4"/>
          <p:cNvSpPr>
            <a:spLocks noGrp="1"/>
          </p:cNvSpPr>
          <p:nvPr>
            <p:ph type="ftr" sz="quarter" idx="11"/>
          </p:nvPr>
        </p:nvSpPr>
        <p:spPr/>
        <p:txBody>
          <a:bodyPr/>
          <a:lstStyle/>
          <a:p>
            <a:r>
              <a:rPr lang="en-US"/>
              <a:t>Extracted from Ian Sommerville 2011, Software Engineering, 9th edition. Chapter 1</a:t>
            </a:r>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494410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4D75AF-F47A-46B2-A0CB-8A040B95204C}" type="datetime1">
              <a:rPr lang="en-US" smtClean="0"/>
              <a:t>2/26/2024</a:t>
            </a:fld>
            <a:endParaRPr lang="en-US"/>
          </a:p>
        </p:txBody>
      </p:sp>
      <p:sp>
        <p:nvSpPr>
          <p:cNvPr id="6" name="Footer Placeholder 5"/>
          <p:cNvSpPr>
            <a:spLocks noGrp="1"/>
          </p:cNvSpPr>
          <p:nvPr>
            <p:ph type="ftr" sz="quarter" idx="11"/>
          </p:nvPr>
        </p:nvSpPr>
        <p:spPr/>
        <p:txBody>
          <a:bodyPr/>
          <a:lstStyle/>
          <a:p>
            <a:r>
              <a:rPr lang="en-US"/>
              <a:t>Extracted from Ian Sommerville 2011, Software Engineering, 9th edition. Chapter 1</a:t>
            </a:r>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3481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23212DD-645F-4A20-A627-46C33ABDD35B}" type="datetime1">
              <a:rPr lang="en-US" smtClean="0"/>
              <a:t>2/26/2024</a:t>
            </a:fld>
            <a:endParaRPr lang="en-US"/>
          </a:p>
        </p:txBody>
      </p:sp>
      <p:sp>
        <p:nvSpPr>
          <p:cNvPr id="8" name="Footer Placeholder 7"/>
          <p:cNvSpPr>
            <a:spLocks noGrp="1"/>
          </p:cNvSpPr>
          <p:nvPr>
            <p:ph type="ftr" sz="quarter" idx="11"/>
          </p:nvPr>
        </p:nvSpPr>
        <p:spPr/>
        <p:txBody>
          <a:bodyPr/>
          <a:lstStyle/>
          <a:p>
            <a:r>
              <a:rPr lang="en-US"/>
              <a:t>Extracted from Ian Sommerville 2011, Software Engineering, 9th edition. Chapter 1</a:t>
            </a:r>
          </a:p>
        </p:txBody>
      </p:sp>
      <p:sp>
        <p:nvSpPr>
          <p:cNvPr id="9" name="Slide Number Placeholder 8"/>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11861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516B9A8-9840-485B-BA21-764DE9AE9CA4}" type="datetime1">
              <a:rPr lang="en-US" smtClean="0"/>
              <a:t>2/26/2024</a:t>
            </a:fld>
            <a:endParaRPr lang="en-US"/>
          </a:p>
        </p:txBody>
      </p:sp>
      <p:sp>
        <p:nvSpPr>
          <p:cNvPr id="4" name="Footer Placeholder 3"/>
          <p:cNvSpPr>
            <a:spLocks noGrp="1"/>
          </p:cNvSpPr>
          <p:nvPr>
            <p:ph type="ftr" sz="quarter" idx="11"/>
          </p:nvPr>
        </p:nvSpPr>
        <p:spPr/>
        <p:txBody>
          <a:bodyPr/>
          <a:lstStyle/>
          <a:p>
            <a:r>
              <a:rPr lang="en-US"/>
              <a:t>Extracted from Ian Sommerville 2011, Software Engineering, 9th edition. Chapter 1</a:t>
            </a:r>
          </a:p>
        </p:txBody>
      </p:sp>
      <p:sp>
        <p:nvSpPr>
          <p:cNvPr id="5" name="Slide Number Placeholder 4"/>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06419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695B85-01B8-45CE-80A4-74FCC4D4EADF}" type="datetime1">
              <a:rPr lang="en-US" smtClean="0"/>
              <a:t>2/26/2024</a:t>
            </a:fld>
            <a:endParaRPr lang="en-US"/>
          </a:p>
        </p:txBody>
      </p:sp>
      <p:sp>
        <p:nvSpPr>
          <p:cNvPr id="3" name="Footer Placeholder 2"/>
          <p:cNvSpPr>
            <a:spLocks noGrp="1"/>
          </p:cNvSpPr>
          <p:nvPr>
            <p:ph type="ftr" sz="quarter" idx="11"/>
          </p:nvPr>
        </p:nvSpPr>
        <p:spPr/>
        <p:txBody>
          <a:bodyPr/>
          <a:lstStyle/>
          <a:p>
            <a:r>
              <a:rPr lang="en-US"/>
              <a:t>Extracted from Ian Sommerville 2011, Software Engineering, 9th edition. Chapter 1</a:t>
            </a:r>
          </a:p>
        </p:txBody>
      </p:sp>
      <p:sp>
        <p:nvSpPr>
          <p:cNvPr id="4" name="Slide Number Placeholder 3"/>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66664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1405FB-BEE4-4742-A393-BC299F8A7880}" type="datetime1">
              <a:rPr lang="en-US" smtClean="0"/>
              <a:t>2/26/2024</a:t>
            </a:fld>
            <a:endParaRPr lang="en-US"/>
          </a:p>
        </p:txBody>
      </p:sp>
      <p:sp>
        <p:nvSpPr>
          <p:cNvPr id="6" name="Footer Placeholder 5"/>
          <p:cNvSpPr>
            <a:spLocks noGrp="1"/>
          </p:cNvSpPr>
          <p:nvPr>
            <p:ph type="ftr" sz="quarter" idx="11"/>
          </p:nvPr>
        </p:nvSpPr>
        <p:spPr/>
        <p:txBody>
          <a:bodyPr/>
          <a:lstStyle/>
          <a:p>
            <a:r>
              <a:rPr lang="en-US"/>
              <a:t>Extracted from Ian Sommerville 2011, Software Engineering, 9th edition. Chapter 1</a:t>
            </a:r>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1144932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BD877F-D43F-4DDA-9FCE-14538FF3531A}" type="datetime1">
              <a:rPr lang="en-US" smtClean="0"/>
              <a:t>2/26/2024</a:t>
            </a:fld>
            <a:endParaRPr lang="en-US"/>
          </a:p>
        </p:txBody>
      </p:sp>
      <p:sp>
        <p:nvSpPr>
          <p:cNvPr id="6" name="Footer Placeholder 5"/>
          <p:cNvSpPr>
            <a:spLocks noGrp="1"/>
          </p:cNvSpPr>
          <p:nvPr>
            <p:ph type="ftr" sz="quarter" idx="11"/>
          </p:nvPr>
        </p:nvSpPr>
        <p:spPr/>
        <p:txBody>
          <a:bodyPr/>
          <a:lstStyle/>
          <a:p>
            <a:r>
              <a:rPr lang="en-US"/>
              <a:t>Extracted from Ian Sommerville 2011, Software Engineering, 9th edition. Chapter 1</a:t>
            </a:r>
          </a:p>
        </p:txBody>
      </p:sp>
      <p:sp>
        <p:nvSpPr>
          <p:cNvPr id="7" name="Slide Number Placeholder 6"/>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514718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A2AD58-4033-49DE-BD43-A16A8FC674CA}" type="datetime1">
              <a:rPr lang="en-US" smtClean="0"/>
              <a:t>2/26/2024</a:t>
            </a:fld>
            <a:endParaRPr lang="en-US"/>
          </a:p>
        </p:txBody>
      </p:sp>
      <p:sp>
        <p:nvSpPr>
          <p:cNvPr id="5" name="Footer Placeholder 4"/>
          <p:cNvSpPr>
            <a:spLocks noGrp="1"/>
          </p:cNvSpPr>
          <p:nvPr>
            <p:ph type="ftr" sz="quarter" idx="11"/>
          </p:nvPr>
        </p:nvSpPr>
        <p:spPr/>
        <p:txBody>
          <a:bodyPr/>
          <a:lstStyle/>
          <a:p>
            <a:r>
              <a:rPr lang="en-US"/>
              <a:t>Extracted from Ian Sommerville 2011, Software Engineering, 9th edition. Chapter 1</a:t>
            </a:r>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52277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ABFFD8-12CE-4686-AC8B-93E231A87900}" type="datetime1">
              <a:rPr lang="en-US" smtClean="0"/>
              <a:t>2/26/2024</a:t>
            </a:fld>
            <a:endParaRPr lang="en-US"/>
          </a:p>
        </p:txBody>
      </p:sp>
      <p:sp>
        <p:nvSpPr>
          <p:cNvPr id="5" name="Footer Placeholder 4"/>
          <p:cNvSpPr>
            <a:spLocks noGrp="1"/>
          </p:cNvSpPr>
          <p:nvPr>
            <p:ph type="ftr" sz="quarter" idx="11"/>
          </p:nvPr>
        </p:nvSpPr>
        <p:spPr/>
        <p:txBody>
          <a:bodyPr/>
          <a:lstStyle/>
          <a:p>
            <a:r>
              <a:rPr lang="en-US"/>
              <a:t>Extracted from Ian Sommerville 2011, Software Engineering, 9th edition. Chapter 1</a:t>
            </a:r>
          </a:p>
        </p:txBody>
      </p:sp>
      <p:sp>
        <p:nvSpPr>
          <p:cNvPr id="6" name="Slide Number Placeholder 5"/>
          <p:cNvSpPr>
            <a:spLocks noGrp="1"/>
          </p:cNvSpPr>
          <p:nvPr>
            <p:ph type="sldNum" sz="quarter" idx="12"/>
          </p:nvPr>
        </p:nvSpPr>
        <p:spPr/>
        <p:txBody>
          <a:bodyPr/>
          <a:lstStyle/>
          <a:p>
            <a:fld id="{EA205F43-80E2-4640-A934-E79BFFCB5CAF}" type="slidenum">
              <a:rPr lang="en-US" smtClean="0"/>
              <a:t>‹#›</a:t>
            </a:fld>
            <a:endParaRPr lang="en-US"/>
          </a:p>
        </p:txBody>
      </p:sp>
    </p:spTree>
    <p:extLst>
      <p:ext uri="{BB962C8B-B14F-4D97-AF65-F5344CB8AC3E}">
        <p14:creationId xmlns:p14="http://schemas.microsoft.com/office/powerpoint/2010/main"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6B9B20-834F-4E82-9923-7909BE562ABC}" type="datetime1">
              <a:rPr lang="en-US" smtClean="0"/>
              <a:t>2/26/2024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Extracted from Ian Sommerville 2011, Software Engineering, 9th edition. Chapter 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t>‹#›</a:t>
            </a:fld>
            <a:endParaRPr lang="en-US"/>
          </a:p>
        </p:txBody>
      </p:sp>
      <p:pic>
        <p:nvPicPr>
          <p:cNvPr id="7" name="Picture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d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d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Week 1: Introduction to Software Engineering</a:t>
            </a:r>
          </a:p>
        </p:txBody>
      </p:sp>
      <p:sp>
        <p:nvSpPr>
          <p:cNvPr id="2" name="Title 1"/>
          <p:cNvSpPr>
            <a:spLocks noGrp="1"/>
          </p:cNvSpPr>
          <p:nvPr>
            <p:ph type="ctrTitle"/>
          </p:nvPr>
        </p:nvSpPr>
        <p:spPr/>
        <p:txBody>
          <a:bodyPr>
            <a:normAutofit fontScale="90000"/>
          </a:bodyPr>
          <a:lstStyle/>
          <a:p>
            <a:r>
              <a:rPr lang="en-US" dirty="0"/>
              <a:t>HNDIT4012-Software Engineering</a:t>
            </a:r>
          </a:p>
        </p:txBody>
      </p:sp>
    </p:spTree>
    <p:extLst>
      <p:ext uri="{BB962C8B-B14F-4D97-AF65-F5344CB8AC3E}">
        <p14:creationId xmlns:p14="http://schemas.microsoft.com/office/powerpoint/2010/main" val="3578411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a:p>
            <a:r>
              <a:rPr lang="en-US" dirty="0"/>
              <a:t>Case studies</a:t>
            </a:r>
          </a:p>
          <a:p>
            <a:pPr lvl="1"/>
            <a:r>
              <a:rPr lang="en-US" dirty="0"/>
              <a:t>An introduction to three examples that are used in later chapters in the book.</a:t>
            </a:r>
          </a:p>
          <a:p>
            <a:pPr marL="0" indent="0">
              <a:buNone/>
            </a:pPr>
            <a:endParaRPr lang="en-US" dirty="0"/>
          </a:p>
        </p:txBody>
      </p:sp>
      <p:sp>
        <p:nvSpPr>
          <p:cNvPr id="4" name="Footer Placeholder 3"/>
          <p:cNvSpPr>
            <a:spLocks noGrp="1"/>
          </p:cNvSpPr>
          <p:nvPr>
            <p:ph type="ftr" sz="quarter" idx="11"/>
          </p:nvPr>
        </p:nvSpPr>
        <p:spPr>
          <a:xfrm>
            <a:off x="1447800" y="6340475"/>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677054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engineering</a:t>
            </a:r>
            <a:endParaRPr lang="en-US" dirty="0"/>
          </a:p>
        </p:txBody>
      </p:sp>
      <p:sp>
        <p:nvSpPr>
          <p:cNvPr id="3" name="Content Placeholder 2"/>
          <p:cNvSpPr>
            <a:spLocks noGrp="1"/>
          </p:cNvSpPr>
          <p:nvPr>
            <p:ph idx="1"/>
          </p:nvPr>
        </p:nvSpPr>
        <p:spPr/>
        <p:txBody>
          <a:bodyPr>
            <a:normAutofit fontScale="92500" lnSpcReduction="10000"/>
          </a:bodyPr>
          <a:lstStyle/>
          <a:p>
            <a:r>
              <a:rPr lang="en-GB" dirty="0"/>
              <a:t>The economies of ALL developed nations are </a:t>
            </a:r>
            <a:br>
              <a:rPr lang="en-GB" dirty="0"/>
            </a:br>
            <a:r>
              <a:rPr lang="en-GB" dirty="0"/>
              <a:t>dependent on software.</a:t>
            </a:r>
          </a:p>
          <a:p>
            <a:r>
              <a:rPr lang="en-GB" dirty="0"/>
              <a:t>More and more systems are software controlled</a:t>
            </a:r>
          </a:p>
          <a:p>
            <a:r>
              <a:rPr lang="en-GB" dirty="0"/>
              <a:t>Software engineering is concerned with theories, methods and tools for professional software development.</a:t>
            </a:r>
          </a:p>
          <a:p>
            <a:r>
              <a:rPr lang="en-GB" dirty="0"/>
              <a:t>Expenditure on software represents a </a:t>
            </a:r>
            <a:br>
              <a:rPr lang="en-GB" dirty="0"/>
            </a:br>
            <a:r>
              <a:rPr lang="en-GB" dirty="0"/>
              <a:t>significant fraction of GNP in all developed countries.</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2664916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costs</a:t>
            </a:r>
            <a:endParaRPr lang="en-US" dirty="0"/>
          </a:p>
        </p:txBody>
      </p:sp>
      <p:sp>
        <p:nvSpPr>
          <p:cNvPr id="3" name="Content Placeholder 2"/>
          <p:cNvSpPr>
            <a:spLocks noGrp="1"/>
          </p:cNvSpPr>
          <p:nvPr>
            <p:ph idx="1"/>
          </p:nvPr>
        </p:nvSpPr>
        <p:spPr/>
        <p:txBody>
          <a:bodyPr>
            <a:normAutofit fontScale="92500" lnSpcReduction="10000"/>
          </a:bodyPr>
          <a:lstStyle/>
          <a:p>
            <a:r>
              <a:rPr lang="en-GB" dirty="0"/>
              <a:t>Software costs often dominate computer system costs. The costs of software on a PC are often greater than the hardware cost.</a:t>
            </a:r>
          </a:p>
          <a:p>
            <a:r>
              <a:rPr lang="en-GB" dirty="0"/>
              <a:t>Software costs more to maintain than it does to develop. For systems with a long life, maintenance costs may be several times development costs.</a:t>
            </a:r>
          </a:p>
          <a:p>
            <a:r>
              <a:rPr lang="en-GB" dirty="0"/>
              <a:t>Software engineering is concerned with cost-effective software development.</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313370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Hardware vs  Software</a:t>
            </a:r>
          </a:p>
        </p:txBody>
      </p:sp>
      <p:pic>
        <p:nvPicPr>
          <p:cNvPr id="1026" name="Picture 2" descr="Image result for hardware vs software cos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62200" y="1805781"/>
            <a:ext cx="4114800" cy="4114800"/>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3"/>
          <p:cNvSpPr>
            <a:spLocks noGrp="1"/>
          </p:cNvSpPr>
          <p:nvPr>
            <p:ph type="ftr" sz="quarter" idx="11"/>
          </p:nvPr>
        </p:nvSpPr>
        <p:spPr>
          <a:xfrm>
            <a:off x="1447800" y="61722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2990729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Cost</a:t>
            </a:r>
          </a:p>
        </p:txBody>
      </p:sp>
      <p:sp>
        <p:nvSpPr>
          <p:cNvPr id="3" name="Content Placeholder 2"/>
          <p:cNvSpPr>
            <a:spLocks noGrp="1"/>
          </p:cNvSpPr>
          <p:nvPr>
            <p:ph idx="1"/>
          </p:nvPr>
        </p:nvSpPr>
        <p:spPr/>
        <p:txBody>
          <a:bodyPr/>
          <a:lstStyle/>
          <a:p>
            <a:endParaRPr lang="en-US" dirty="0"/>
          </a:p>
        </p:txBody>
      </p:sp>
      <p:pic>
        <p:nvPicPr>
          <p:cNvPr id="2050" name="Picture 2" descr="Image result for failure curve for softw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005441"/>
            <a:ext cx="7072026" cy="3960813"/>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1205442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Failure Rate</a:t>
            </a:r>
          </a:p>
        </p:txBody>
      </p:sp>
      <p:sp>
        <p:nvSpPr>
          <p:cNvPr id="3" name="Content Placeholder 2"/>
          <p:cNvSpPr>
            <a:spLocks noGrp="1"/>
          </p:cNvSpPr>
          <p:nvPr>
            <p:ph idx="1"/>
          </p:nvPr>
        </p:nvSpPr>
        <p:spPr/>
        <p:txBody>
          <a:bodyPr/>
          <a:lstStyle/>
          <a:p>
            <a:endParaRPr lang="en-US"/>
          </a:p>
        </p:txBody>
      </p:sp>
      <p:pic>
        <p:nvPicPr>
          <p:cNvPr id="3074" name="Picture 2" descr="Image result for failure curve for softw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090340"/>
            <a:ext cx="6400800" cy="3850482"/>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89252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normAutofit fontScale="85000" lnSpcReduction="10000"/>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a:p>
            <a:r>
              <a:rPr lang="en-US" dirty="0"/>
              <a:t>Customized products</a:t>
            </a:r>
          </a:p>
          <a:p>
            <a:pPr lvl="1"/>
            <a:r>
              <a:rPr lang="en-US" dirty="0"/>
              <a:t>Software that is commissioned by a specific customer to meet their own needs. </a:t>
            </a:r>
          </a:p>
          <a:p>
            <a:pPr lvl="1"/>
            <a:r>
              <a:rPr lang="en-US" dirty="0"/>
              <a:t>Examples – embedded control systems, air traffic control software, traffic monitoring systems.</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3885262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Frequently asked questions about software engineering</a:t>
            </a:r>
            <a:endParaRPr lang="en-US" dirty="0"/>
          </a:p>
        </p:txBody>
      </p:sp>
      <p:graphicFrame>
        <p:nvGraphicFramePr>
          <p:cNvPr id="5" name="Content Placeholder 5"/>
          <p:cNvGraphicFramePr>
            <a:graphicFrameLocks noGrp="1"/>
          </p:cNvGraphicFramePr>
          <p:nvPr>
            <p:ph idx="1"/>
            <p:extLst>
              <p:ext uri="{D42A27DB-BD31-4B8C-83A1-F6EECF244321}">
                <p14:modId xmlns:p14="http://schemas.microsoft.com/office/powerpoint/2010/main" val="1887932501"/>
              </p:ext>
            </p:extLst>
          </p:nvPr>
        </p:nvGraphicFramePr>
        <p:xfrm>
          <a:off x="492211" y="1811655"/>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dirty="0">
                          <a:latin typeface="Arial"/>
                          <a:cs typeface="Arial"/>
                        </a:rPr>
                        <a:t>What differences has the web made to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6"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2125643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Frequently asked questions about software engineering</a:t>
            </a:r>
            <a:endParaRPr lang="en-US" dirty="0"/>
          </a:p>
        </p:txBody>
      </p:sp>
      <p:graphicFrame>
        <p:nvGraphicFramePr>
          <p:cNvPr id="5" name="Content Placeholder 5"/>
          <p:cNvGraphicFramePr>
            <a:graphicFrameLocks noGrp="1"/>
          </p:cNvGraphicFramePr>
          <p:nvPr>
            <p:ph idx="1"/>
          </p:nvPr>
        </p:nvGraphicFramePr>
        <p:xfrm>
          <a:off x="457200" y="19050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dirty="0">
                          <a:latin typeface="Arial"/>
                          <a:cs typeface="Arial"/>
                        </a:rPr>
                        <a:t>What differences has the web made to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6"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2116850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Essential attributes of good software</a:t>
            </a:r>
            <a:endParaRPr lang="en-US" dirty="0"/>
          </a:p>
        </p:txBody>
      </p:sp>
      <p:sp>
        <p:nvSpPr>
          <p:cNvPr id="3" name="Content Placeholder 2"/>
          <p:cNvSpPr>
            <a:spLocks noGrp="1"/>
          </p:cNvSpPr>
          <p:nvPr>
            <p:ph idx="1"/>
          </p:nvPr>
        </p:nvSpPr>
        <p:spPr/>
        <p:txBody>
          <a:bodyPr/>
          <a:lstStyle/>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567115246"/>
              </p:ext>
            </p:extLst>
          </p:nvPr>
        </p:nvGraphicFramePr>
        <p:xfrm>
          <a:off x="829480" y="1905000"/>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a:latin typeface="Arial"/>
                          <a:cs typeface="Arial"/>
                        </a:rPr>
                        <a:t>Acceptability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6"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4049972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normAutofit fontScale="85000" lnSpcReduction="20000"/>
          </a:bodyPr>
          <a:lstStyle/>
          <a:p>
            <a:r>
              <a:rPr lang="en-US" dirty="0"/>
              <a:t>Software engineering is an engineering discipline that is 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4006399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Importance of software engineering</a:t>
            </a:r>
          </a:p>
        </p:txBody>
      </p:sp>
      <p:sp>
        <p:nvSpPr>
          <p:cNvPr id="3" name="Content Placeholder 2"/>
          <p:cNvSpPr>
            <a:spLocks noGrp="1"/>
          </p:cNvSpPr>
          <p:nvPr>
            <p:ph idx="1"/>
          </p:nvPr>
        </p:nvSpPr>
        <p:spPr/>
        <p:txBody>
          <a:bodyPr>
            <a:normAutofit fontScale="92500" lnSpcReduction="20000"/>
          </a:bodyPr>
          <a:lstStyle/>
          <a:p>
            <a:r>
              <a:rPr lang="en-GB" dirty="0"/>
              <a:t>More and more, individuals and society rely on advanced software systems. 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2555393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issues that affect most software</a:t>
            </a:r>
          </a:p>
        </p:txBody>
      </p:sp>
      <p:sp>
        <p:nvSpPr>
          <p:cNvPr id="3" name="Content Placeholder 2"/>
          <p:cNvSpPr>
            <a:spLocks noGrp="1"/>
          </p:cNvSpPr>
          <p:nvPr>
            <p:ph idx="1"/>
          </p:nvPr>
        </p:nvSpPr>
        <p:spPr/>
        <p:txBody>
          <a:bodyPr>
            <a:normAutofit fontScale="85000" lnSpcReduction="20000"/>
          </a:bodyPr>
          <a:lstStyle/>
          <a:p>
            <a:r>
              <a:rPr lang="en-GB" dirty="0"/>
              <a:t>Heterogeneity </a:t>
            </a:r>
          </a:p>
          <a:p>
            <a:pPr lvl="1"/>
            <a:r>
              <a:rPr lang="en-GB" dirty="0"/>
              <a:t>Increasingly, systems are required to operate as distributed systems across networks that include different types of computer and mobile devices. </a:t>
            </a:r>
          </a:p>
          <a:p>
            <a:r>
              <a:rPr lang="en-GB" dirty="0"/>
              <a:t>Business and social change </a:t>
            </a:r>
          </a:p>
          <a:p>
            <a:pPr lvl="1"/>
            <a:r>
              <a:rPr lang="en-GB" dirty="0"/>
              <a:t>Business and society are changing incredibly quickly as emerging economies develop and new technologies become available. They need to be able to change their existing software and to rapidly develop new software. </a:t>
            </a:r>
          </a:p>
          <a:p>
            <a:r>
              <a:rPr lang="en-GB" dirty="0"/>
              <a:t>Security and trust </a:t>
            </a:r>
          </a:p>
          <a:p>
            <a:pPr lvl="1"/>
            <a:r>
              <a:rPr lang="en-GB" dirty="0"/>
              <a:t>As software is intertwined with all aspects of our lives, it is essential that we can trust that software. </a:t>
            </a:r>
            <a:endParaRPr lang="en-US" dirty="0"/>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1159730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normAutofit lnSpcReduction="10000"/>
          </a:bodyPr>
          <a:lstStyle/>
          <a:p>
            <a:r>
              <a:rPr lang="en-US" dirty="0"/>
              <a:t>There are many different types of software system and there is no universal set of software techniques that is applicable to all of these.</a:t>
            </a:r>
          </a:p>
          <a:p>
            <a:r>
              <a:rPr lang="en-US" dirty="0"/>
              <a:t>The software engineering methods and tools used depend on the type of application being developed, the requirements of the customer and the background of the development team.</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425940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normAutofit fontScale="77500" lnSpcReduction="20000"/>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a:p>
            <a:r>
              <a:rPr lang="en-GB" dirty="0"/>
              <a:t>Interactive transaction-based applications</a:t>
            </a:r>
            <a:r>
              <a:rPr lang="en-GB" i="1" dirty="0"/>
              <a:t> </a:t>
            </a:r>
          </a:p>
          <a:p>
            <a:pPr lvl="1"/>
            <a:r>
              <a:rPr lang="en-GB" dirty="0"/>
              <a:t>Applications that execute on a remote computer and are accessed by users from their own PCs or terminals. These include web applications such as e-commerce applications. </a:t>
            </a:r>
          </a:p>
          <a:p>
            <a:r>
              <a:rPr lang="en-GB" dirty="0"/>
              <a:t>Embedded control systems </a:t>
            </a:r>
          </a:p>
          <a:p>
            <a:pPr lvl="1"/>
            <a:r>
              <a:rPr lang="en-GB" dirty="0"/>
              <a:t>These are software control systems that control and manage hardware devices. Numerically, there are probably more embedded systems than any other type of system. </a:t>
            </a:r>
            <a:endParaRPr lang="en-US" dirty="0"/>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2420999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normAutofit fontScale="85000" lnSpcReduction="10000"/>
          </a:bodyPr>
          <a:lstStyle/>
          <a:p>
            <a:r>
              <a:rPr lang="en-GB" dirty="0"/>
              <a:t>Batch processing systems </a:t>
            </a:r>
          </a:p>
          <a:p>
            <a:pPr lvl="1"/>
            <a:r>
              <a:rPr lang="en-GB" dirty="0"/>
              <a:t>These are business systems that are designed to process data in large batches. They process large numbers of individual inputs to create corresponding outputs. </a:t>
            </a:r>
          </a:p>
          <a:p>
            <a:r>
              <a:rPr lang="en-GB" dirty="0"/>
              <a:t>Entertainment systems </a:t>
            </a:r>
          </a:p>
          <a:p>
            <a:pPr lvl="1"/>
            <a:r>
              <a:rPr lang="en-GB" dirty="0"/>
              <a:t>These are systems that are primarily for personal use and which are intended to entertain the user. </a:t>
            </a:r>
          </a:p>
          <a:p>
            <a:r>
              <a:rPr lang="en-GB" dirty="0"/>
              <a:t>Systems for modelling and simulation </a:t>
            </a:r>
          </a:p>
          <a:p>
            <a:pPr lvl="1"/>
            <a:r>
              <a:rPr lang="en-GB" dirty="0"/>
              <a:t>These are systems that are developed by scientists and engineers to model physical processes or situations, which include many, separate, interacting objects. </a:t>
            </a:r>
            <a:endParaRPr lang="en-US" dirty="0"/>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4227948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These are systems that collect data from their environment using a set of sensors and send that data to other systems for processing. </a:t>
            </a:r>
          </a:p>
          <a:p>
            <a:r>
              <a:rPr lang="en-GB" dirty="0"/>
              <a:t>Systems of systems </a:t>
            </a:r>
          </a:p>
          <a:p>
            <a:pPr lvl="1"/>
            <a:r>
              <a:rPr lang="en-GB" dirty="0"/>
              <a:t>These are systems that are composed of a number of other software systems. </a:t>
            </a:r>
            <a:endParaRPr lang="en-US" dirty="0"/>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3332790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and the web</a:t>
            </a:r>
          </a:p>
        </p:txBody>
      </p:sp>
      <p:sp>
        <p:nvSpPr>
          <p:cNvPr id="3" name="Content Placeholder 2"/>
          <p:cNvSpPr>
            <a:spLocks noGrp="1"/>
          </p:cNvSpPr>
          <p:nvPr>
            <p:ph idx="1"/>
          </p:nvPr>
        </p:nvSpPr>
        <p:spPr/>
        <p:txBody>
          <a:bodyPr>
            <a:normAutofit fontScale="92500" lnSpcReduction="10000"/>
          </a:bodyPr>
          <a:lstStyle/>
          <a:p>
            <a:r>
              <a:rPr lang="en-US" dirty="0"/>
              <a:t>The Web is now a platform for running application and organizations are increasingly developing web-based systems rather than local systems.</a:t>
            </a:r>
          </a:p>
          <a:p>
            <a:r>
              <a:rPr lang="en-US" dirty="0"/>
              <a:t>Web services allow application functionality to be accessed over the web.</a:t>
            </a:r>
          </a:p>
          <a:p>
            <a:r>
              <a:rPr lang="en-US" dirty="0"/>
              <a:t>Cloud computing is an approach to the provision of computer services where applications run remotely on the ‘cloud’. </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3725857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p:txBody>
          <a:bodyPr>
            <a:normAutofit fontScale="70000" lnSpcReduction="20000"/>
          </a:bodyPr>
          <a:lstStyle/>
          <a:p>
            <a:r>
              <a:rPr lang="en-GB" dirty="0"/>
              <a:t>Software reuse is the dominant approach for constructing web-based systems. 	</a:t>
            </a:r>
          </a:p>
          <a:p>
            <a:pPr lvl="1"/>
            <a:r>
              <a:rPr lang="en-GB" dirty="0"/>
              <a:t>When building these systems, you think about how you can assemble them from pre-existing software components and systems.</a:t>
            </a:r>
          </a:p>
          <a:p>
            <a:r>
              <a:rPr lang="en-GB" dirty="0"/>
              <a:t>Web-based systems should be developed and delivered incrementally.</a:t>
            </a:r>
          </a:p>
          <a:p>
            <a:pPr lvl="1"/>
            <a:r>
              <a:rPr lang="en-GB" dirty="0"/>
              <a:t>It is now generally recognized that it is impractical to specify all the requirements for such systems in advance. </a:t>
            </a:r>
          </a:p>
          <a:p>
            <a:r>
              <a:rPr lang="en-GB" dirty="0"/>
              <a:t>User interfaces are constrained by the capabilities of web browsers. </a:t>
            </a:r>
          </a:p>
          <a:p>
            <a:pPr lvl="1"/>
            <a:r>
              <a:rPr lang="en-GB" dirty="0"/>
              <a:t>Technologies such as AJAX allow rich interfaces to be created within a web browser but are still difficult to use. Web forms with local scripting are more commonly used. </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4184010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engineering ethics</a:t>
            </a:r>
            <a:endParaRPr lang="en-US" dirty="0"/>
          </a:p>
        </p:txBody>
      </p:sp>
      <p:sp>
        <p:nvSpPr>
          <p:cNvPr id="3" name="Content Placeholder 2"/>
          <p:cNvSpPr>
            <a:spLocks noGrp="1"/>
          </p:cNvSpPr>
          <p:nvPr>
            <p:ph idx="1"/>
          </p:nvPr>
        </p:nvSpPr>
        <p:spPr/>
        <p:txBody>
          <a:bodyPr>
            <a:normAutofit fontScale="92500" lnSpcReduction="10000"/>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law but involves following a set of principles that are morally correct.</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3951103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Issues of professional responsibility</a:t>
            </a:r>
            <a:endParaRPr lang="en-US" dirty="0"/>
          </a:p>
        </p:txBody>
      </p:sp>
      <p:sp>
        <p:nvSpPr>
          <p:cNvPr id="3" name="Content Placeholder 2"/>
          <p:cNvSpPr>
            <a:spLocks noGrp="1"/>
          </p:cNvSpPr>
          <p:nvPr>
            <p:ph idx="1"/>
          </p:nvPr>
        </p:nvSpPr>
        <p:spPr/>
        <p:txBody>
          <a:bodyPr/>
          <a:lstStyle/>
          <a:p>
            <a:pPr>
              <a:lnSpc>
                <a:spcPct val="90000"/>
              </a:lnSpc>
            </a:pPr>
            <a:r>
              <a:rPr lang="en-GB" dirty="0"/>
              <a:t>Confidentiality </a:t>
            </a:r>
          </a:p>
          <a:p>
            <a:pPr lvl="1">
              <a:lnSpc>
                <a:spcPct val="90000"/>
              </a:lnSpc>
            </a:pPr>
            <a:r>
              <a:rPr lang="en-GB" dirty="0"/>
              <a:t>Engineers should normally respect the confidentiality of their employers or clients irrespective of whether or not a formal confidentiality agreement has been signed.</a:t>
            </a:r>
          </a:p>
          <a:p>
            <a:pPr>
              <a:lnSpc>
                <a:spcPct val="90000"/>
              </a:lnSpc>
            </a:pPr>
            <a:r>
              <a:rPr lang="en-GB" dirty="0"/>
              <a:t>Competence </a:t>
            </a:r>
          </a:p>
          <a:p>
            <a:pPr lvl="1">
              <a:lnSpc>
                <a:spcPct val="90000"/>
              </a:lnSpc>
            </a:pPr>
            <a:r>
              <a:rPr lang="en-GB" dirty="0"/>
              <a:t>Engineers should not misrepresent their level of competence. They should not knowingly accept work which is </a:t>
            </a:r>
            <a:r>
              <a:rPr lang="en-GB" dirty="0" err="1"/>
              <a:t>outwith</a:t>
            </a:r>
            <a:r>
              <a:rPr lang="en-GB" dirty="0"/>
              <a:t> their competence.</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1802183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Issues of professional responsibility</a:t>
            </a:r>
            <a:endParaRPr lang="en-US" dirty="0"/>
          </a:p>
        </p:txBody>
      </p:sp>
      <p:sp>
        <p:nvSpPr>
          <p:cNvPr id="3" name="Content Placeholder 2"/>
          <p:cNvSpPr>
            <a:spLocks noGrp="1"/>
          </p:cNvSpPr>
          <p:nvPr>
            <p:ph idx="1"/>
          </p:nvPr>
        </p:nvSpPr>
        <p:spPr/>
        <p:txBody>
          <a:bodyPr/>
          <a:lstStyle/>
          <a:p>
            <a:r>
              <a:rPr lang="en-GB" sz="2400" dirty="0"/>
              <a:t>Intellectual property rights </a:t>
            </a:r>
          </a:p>
          <a:p>
            <a:pPr lvl="1"/>
            <a:r>
              <a:rPr lang="en-GB" sz="2000" dirty="0"/>
              <a:t>Engineers should be aware of local laws governing the use of intellectual property such as patents, copyright, etc. They should be careful to ensure that the intellectual property of employers and clients is protected.</a:t>
            </a:r>
          </a:p>
          <a:p>
            <a:r>
              <a:rPr lang="en-GB" sz="2400" dirty="0"/>
              <a:t>Computer misuse </a:t>
            </a:r>
          </a:p>
          <a:p>
            <a:pPr lvl="1"/>
            <a:r>
              <a:rPr lang="en-GB" sz="2000" dirty="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2045690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ACM/IEEE Code of Ethics</a:t>
            </a:r>
            <a:endParaRPr lang="en-US" dirty="0"/>
          </a:p>
        </p:txBody>
      </p:sp>
      <p:sp>
        <p:nvSpPr>
          <p:cNvPr id="7" name="Content Placeholder 6"/>
          <p:cNvSpPr>
            <a:spLocks noGrp="1"/>
          </p:cNvSpPr>
          <p:nvPr>
            <p:ph idx="1"/>
          </p:nvPr>
        </p:nvSpPr>
        <p:spPr/>
        <p:txBody>
          <a:bodyPr/>
          <a:lstStyle/>
          <a:p>
            <a:endParaRPr lang="en-US" dirty="0"/>
          </a:p>
        </p:txBody>
      </p:sp>
      <p:sp>
        <p:nvSpPr>
          <p:cNvPr id="8" name="TextBox 7"/>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
        <p:nvSpPr>
          <p:cNvPr id="9"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2034070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normAutofit fontScale="92500" lnSpcReduction="20000"/>
          </a:bodyPr>
          <a:lstStyle/>
          <a:p>
            <a:r>
              <a:rPr lang="en-US" dirty="0"/>
              <a:t>A personal insulin pump</a:t>
            </a:r>
          </a:p>
          <a:p>
            <a:pPr lvl="1"/>
            <a:r>
              <a:rPr lang="en-US" dirty="0"/>
              <a:t>An embedded system in an insulin pump used by diabetics to maintain blood glucose control.</a:t>
            </a:r>
          </a:p>
          <a:p>
            <a:r>
              <a:rPr lang="en-US" dirty="0"/>
              <a:t>A mental health case patient management system</a:t>
            </a:r>
          </a:p>
          <a:p>
            <a:pPr lvl="1"/>
            <a:r>
              <a:rPr lang="en-US" dirty="0"/>
              <a:t>A system used to maintain records of people receiving care for mental health problems.</a:t>
            </a:r>
          </a:p>
          <a:p>
            <a:r>
              <a:rPr lang="en-US" dirty="0"/>
              <a:t>A wilderness weather station</a:t>
            </a:r>
          </a:p>
          <a:p>
            <a:pPr lvl="1"/>
            <a:r>
              <a:rPr lang="en-US" dirty="0"/>
              <a:t>A data collection system that collects data about weather conditions in remote areas.</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856203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Insulin pump control system</a:t>
            </a:r>
          </a:p>
        </p:txBody>
      </p:sp>
      <p:sp>
        <p:nvSpPr>
          <p:cNvPr id="3" name="Content Placeholder 2"/>
          <p:cNvSpPr>
            <a:spLocks noGrp="1"/>
          </p:cNvSpPr>
          <p:nvPr>
            <p:ph idx="1"/>
          </p:nvPr>
        </p:nvSpPr>
        <p:spPr/>
        <p:txBody>
          <a:bodyPr>
            <a:normAutofit fontScale="85000" lnSpcReduction="10000"/>
          </a:bodyPr>
          <a:lstStyle/>
          <a:p>
            <a:r>
              <a:rPr lang="en-US" dirty="0"/>
              <a:t>Collects data from a blood sugar sensor and calculates the amount of insulin required to be injected.</a:t>
            </a:r>
          </a:p>
          <a:p>
            <a:r>
              <a:rPr lang="en-US" dirty="0"/>
              <a:t>Calculation based on the rate of change of blood sugar levels.</a:t>
            </a:r>
          </a:p>
          <a:p>
            <a:r>
              <a:rPr lang="en-US" dirty="0"/>
              <a:t>Sends signals to a micro-pump to deliver the correct dose of insulin.</a:t>
            </a:r>
          </a:p>
          <a:p>
            <a:r>
              <a:rPr lang="en-US" dirty="0"/>
              <a:t>Safety-critical system as low blood sugars can lead to brain malfunctioning, coma and death; high-blood sugar levels have long-term consequences such as eye and kidney damage.</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37890203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Insulin pump hardware architecture</a:t>
            </a:r>
            <a:endParaRPr lang="en-US" dirty="0"/>
          </a:p>
        </p:txBody>
      </p:sp>
      <p:sp>
        <p:nvSpPr>
          <p:cNvPr id="3" name="Content Placeholder 2"/>
          <p:cNvSpPr>
            <a:spLocks noGrp="1"/>
          </p:cNvSpPr>
          <p:nvPr>
            <p:ph idx="1"/>
          </p:nvPr>
        </p:nvSpPr>
        <p:spPr/>
        <p:txBody>
          <a:bodyPr/>
          <a:lstStyle/>
          <a:p>
            <a:endParaRPr lang="en-US" dirty="0"/>
          </a:p>
        </p:txBody>
      </p:sp>
      <p:pic>
        <p:nvPicPr>
          <p:cNvPr id="6" name="Picture 5" descr="1.4 InsulinPumpHW.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587690" y="2133600"/>
            <a:ext cx="5867400" cy="3733800"/>
          </a:xfrm>
          <a:prstGeom prst="rect">
            <a:avLst/>
          </a:prstGeom>
        </p:spPr>
      </p:pic>
      <p:sp>
        <p:nvSpPr>
          <p:cNvPr id="7"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3101351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Activity model of the insulin pump</a:t>
            </a:r>
            <a:endParaRPr lang="en-US" dirty="0"/>
          </a:p>
        </p:txBody>
      </p:sp>
      <p:sp>
        <p:nvSpPr>
          <p:cNvPr id="3" name="Content Placeholder 2"/>
          <p:cNvSpPr>
            <a:spLocks noGrp="1"/>
          </p:cNvSpPr>
          <p:nvPr>
            <p:ph idx="1"/>
          </p:nvPr>
        </p:nvSpPr>
        <p:spPr/>
        <p:txBody>
          <a:bodyPr/>
          <a:lstStyle/>
          <a:p>
            <a:endParaRPr lang="en-US"/>
          </a:p>
        </p:txBody>
      </p:sp>
      <p:pic>
        <p:nvPicPr>
          <p:cNvPr id="5" name="Picture 4" descr="1.5 InsulinPumpAct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011936" y="2796381"/>
            <a:ext cx="7120128" cy="2438400"/>
          </a:xfrm>
          <a:prstGeom prst="rect">
            <a:avLst/>
          </a:prstGeom>
        </p:spPr>
      </p:pic>
      <p:sp>
        <p:nvSpPr>
          <p:cNvPr id="6"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3416065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normAutofit fontScale="85000" lnSpcReduction="20000"/>
          </a:bodyPr>
          <a:lstStyle/>
          <a:p>
            <a:r>
              <a:rPr lang="en-GB" dirty="0"/>
              <a:t>Software engineering is an engineering discipline that is concerned with all aspects of software production.</a:t>
            </a:r>
          </a:p>
          <a:p>
            <a:r>
              <a:rPr lang="en-GB" dirty="0"/>
              <a:t>Essential software product attributes are maintainability, dependability and security, efficiency and acceptability.</a:t>
            </a:r>
          </a:p>
          <a:p>
            <a:r>
              <a:rPr lang="en-GB" dirty="0"/>
              <a:t>The high-level activities of specification, development, validation and evolution are part of all software processes.</a:t>
            </a:r>
          </a:p>
          <a:p>
            <a:r>
              <a:rPr lang="en-GB" dirty="0"/>
              <a:t>The fundamental notions of software engineering are universally applicable to all types of system development.  </a:t>
            </a:r>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1971291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3" name="Content Placeholder 2"/>
          <p:cNvSpPr>
            <a:spLocks noGrp="1"/>
          </p:cNvSpPr>
          <p:nvPr>
            <p:ph idx="1"/>
          </p:nvPr>
        </p:nvSpPr>
        <p:spPr/>
        <p:txBody>
          <a:bodyPr>
            <a:normAutofit fontScale="92500"/>
          </a:bodyPr>
          <a:lstStyle/>
          <a:p>
            <a:r>
              <a:rPr lang="en-GB" dirty="0"/>
              <a:t>There are many different types of system and each requires appropriate software engineering tools and techniques for their development. </a:t>
            </a:r>
          </a:p>
          <a:p>
            <a:r>
              <a:rPr lang="en-GB" dirty="0"/>
              <a:t>The fundamental ideas of software engineering are applicable to all types of software system. </a:t>
            </a:r>
          </a:p>
          <a:p>
            <a:r>
              <a:rPr lang="en-GB" dirty="0"/>
              <a:t>Professional societies publish codes of conduct which set out the standards of behaviour expected of their members.</a:t>
            </a:r>
          </a:p>
          <a:p>
            <a:endParaRPr lang="en-US" dirty="0"/>
          </a:p>
          <a:p>
            <a:endParaRPr lang="en-US" dirty="0"/>
          </a:p>
        </p:txBody>
      </p:sp>
      <p:sp>
        <p:nvSpPr>
          <p:cNvPr id="5" name="Footer Placeholder 3"/>
          <p:cNvSpPr>
            <a:spLocks noGrp="1"/>
          </p:cNvSpPr>
          <p:nvPr>
            <p:ph type="ftr" sz="quarter" idx="11"/>
          </p:nvPr>
        </p:nvSpPr>
        <p:spPr>
          <a:xfrm>
            <a:off x="1447800" y="6324600"/>
            <a:ext cx="6019800" cy="365125"/>
          </a:xfrm>
        </p:spPr>
        <p:txBody>
          <a:bodyPr/>
          <a:lstStyle/>
          <a:p>
            <a:r>
              <a:rPr lang="en-US" dirty="0"/>
              <a:t>Extracted from Ian </a:t>
            </a:r>
            <a:r>
              <a:rPr lang="en-US" dirty="0" err="1"/>
              <a:t>Sommerville</a:t>
            </a:r>
            <a:r>
              <a:rPr lang="en-US" dirty="0"/>
              <a:t> 2011, Software Engineering, 9th edition. Chapter 1</a:t>
            </a:r>
          </a:p>
        </p:txBody>
      </p:sp>
    </p:spTree>
    <p:extLst>
      <p:ext uri="{BB962C8B-B14F-4D97-AF65-F5344CB8AC3E}">
        <p14:creationId xmlns:p14="http://schemas.microsoft.com/office/powerpoint/2010/main" val="436435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p:txBody>
          <a:bodyPr/>
          <a:lstStyle/>
          <a:p>
            <a:pPr marL="0" indent="0">
              <a:buNone/>
            </a:pPr>
            <a:r>
              <a:rPr lang="en-US" dirty="0"/>
              <a:t>Ian </a:t>
            </a:r>
            <a:r>
              <a:rPr lang="en-US" dirty="0" err="1"/>
              <a:t>Sommerville</a:t>
            </a:r>
            <a:r>
              <a:rPr lang="en-US" dirty="0"/>
              <a:t> 2011, Software Engineering, 9th edition. Chapter 1,Chapter 2.</a:t>
            </a:r>
          </a:p>
          <a:p>
            <a:endParaRPr lang="en-US" dirty="0"/>
          </a:p>
        </p:txBody>
      </p:sp>
      <p:pic>
        <p:nvPicPr>
          <p:cNvPr id="1026" name="Picture 2" descr="Image result for ian sommerville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240087"/>
            <a:ext cx="2476500" cy="3038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008049"/>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SLIATE LMS Template Powerpoint</Template>
  <TotalTime>110</TotalTime>
  <Words>2562</Words>
  <Application>Microsoft Office PowerPoint</Application>
  <PresentationFormat>On-screen Show (4:3)</PresentationFormat>
  <Paragraphs>190</Paragraphs>
  <Slides>31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Times New Roman</vt:lpstr>
      <vt:lpstr>HNDIT</vt:lpstr>
      <vt:lpstr>HNDIT4012-Software Engineering</vt:lpstr>
      <vt:lpstr>Topics covered</vt:lpstr>
      <vt:lpstr>Software engineering</vt:lpstr>
      <vt:lpstr>Software costs</vt:lpstr>
      <vt:lpstr> Hardware vs  Software</vt:lpstr>
      <vt:lpstr>Hardware Cost</vt:lpstr>
      <vt:lpstr>Software Failure Rate</vt:lpstr>
      <vt:lpstr>Software products</vt:lpstr>
      <vt:lpstr>Frequently asked questions about software engineering</vt:lpstr>
      <vt:lpstr>Frequently asked questions about software engineering</vt:lpstr>
      <vt:lpstr>Essential attributes of good software</vt:lpstr>
      <vt:lpstr>Software engineering</vt:lpstr>
      <vt:lpstr>Importance of software engineering</vt:lpstr>
      <vt:lpstr>General issues that affect most software</vt:lpstr>
      <vt:lpstr>Software engineering diversity</vt:lpstr>
      <vt:lpstr>Application types</vt:lpstr>
      <vt:lpstr>Application types</vt:lpstr>
      <vt:lpstr>Application types</vt:lpstr>
      <vt:lpstr>Software engineering and the web</vt:lpstr>
      <vt:lpstr>Web software engineering</vt:lpstr>
      <vt:lpstr>Software engineering ethics</vt:lpstr>
      <vt:lpstr>Issues of professional responsibility</vt:lpstr>
      <vt:lpstr>Issues of professional responsibility</vt:lpstr>
      <vt:lpstr>ACM/IEEE Code of Ethics</vt:lpstr>
      <vt:lpstr>Case studies</vt:lpstr>
      <vt:lpstr>Insulin pump control system</vt:lpstr>
      <vt:lpstr>Insulin pump hardware architecture</vt:lpstr>
      <vt:lpstr>Activity model of the insulin pump</vt:lpstr>
      <vt:lpstr>Key points</vt:lpstr>
      <vt:lpstr>Key points</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Software Engineering</dc:title>
  <dc:creator>Gayan</dc:creator>
  <cp:lastModifiedBy>Gayan Sudharshana</cp:lastModifiedBy>
  <cp:revision>12</cp:revision>
  <dcterms:created xsi:type="dcterms:W3CDTF">2018-05-21T18:09:50Z</dcterms:created>
  <dcterms:modified xsi:type="dcterms:W3CDTF">2024-02-26T18:14:19Z</dcterms:modified>
</cp:coreProperties>
</file>