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99" r:id="rId4"/>
    <p:sldId id="300" r:id="rId5"/>
    <p:sldId id="301" r:id="rId6"/>
    <p:sldId id="302" r:id="rId7"/>
    <p:sldId id="303" r:id="rId8"/>
    <p:sldId id="304" r:id="rId9"/>
    <p:sldId id="305" r:id="rId10"/>
    <p:sldId id="306" r:id="rId11"/>
    <p:sldId id="307" r:id="rId12"/>
    <p:sldId id="315" r:id="rId13"/>
    <p:sldId id="308" r:id="rId14"/>
    <p:sldId id="309" r:id="rId15"/>
    <p:sldId id="310" r:id="rId16"/>
    <p:sldId id="311" r:id="rId17"/>
    <p:sldId id="312" r:id="rId18"/>
    <p:sldId id="313" r:id="rId19"/>
    <p:sldId id="314" r:id="rId20"/>
    <p:sldId id="29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94660"/>
  </p:normalViewPr>
  <p:slideViewPr>
    <p:cSldViewPr>
      <p:cViewPr>
        <p:scale>
          <a:sx n="80" d="100"/>
          <a:sy n="80" d="100"/>
        </p:scale>
        <p:origin x="1608"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4"/>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5/20/2024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3" y="4800600"/>
            <a:ext cx="8696169" cy="609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5"/>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8DD56F-A681-4805-A5A2-3EFEAD22C2F4}" type="datetimeFigureOut">
              <a:rPr lang="en-US" smtClean="0"/>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8DD56F-A681-4805-A5A2-3EFEAD22C2F4}" type="datetimeFigureOut">
              <a:rPr lang="en-US" smtClean="0"/>
              <a:t>5/20/2024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8DD56F-A681-4805-A5A2-3EFEAD22C2F4}" type="datetimeFigureOut">
              <a:rPr lang="en-US" smtClean="0"/>
              <a:t>5/20/2024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5/20/2024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5/20/2024</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Software </a:t>
            </a:r>
            <a:r>
              <a:rPr lang="en-US" dirty="0" err="1"/>
              <a:t>Maintainance</a:t>
            </a:r>
            <a:endParaRPr lang="en-US" dirty="0"/>
          </a:p>
        </p:txBody>
      </p:sp>
      <p:sp>
        <p:nvSpPr>
          <p:cNvPr id="2" name="Title 1"/>
          <p:cNvSpPr>
            <a:spLocks noGrp="1"/>
          </p:cNvSpPr>
          <p:nvPr>
            <p:ph type="ctrTitle"/>
          </p:nvPr>
        </p:nvSpPr>
        <p:spPr/>
        <p:txBody>
          <a:bodyPr>
            <a:normAutofit fontScale="90000"/>
          </a:bodyPr>
          <a:lstStyle/>
          <a:p>
            <a:r>
              <a:rPr lang="en-US" dirty="0"/>
              <a:t>HNDIT 4012 Software Engineering</a:t>
            </a:r>
          </a:p>
        </p:txBody>
      </p:sp>
    </p:spTree>
    <p:extLst>
      <p:ext uri="{BB962C8B-B14F-4D97-AF65-F5344CB8AC3E}">
        <p14:creationId xmlns:p14="http://schemas.microsoft.com/office/powerpoint/2010/main" val="35784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Factors of Software maintenance</a:t>
            </a:r>
          </a:p>
          <a:p>
            <a:r>
              <a:rPr lang="en-US" dirty="0"/>
              <a:t>Types of software maintenance</a:t>
            </a:r>
          </a:p>
          <a:p>
            <a:r>
              <a:rPr lang="en-US" dirty="0"/>
              <a:t>Cost of maintenance</a:t>
            </a:r>
          </a:p>
          <a:p>
            <a:r>
              <a:rPr lang="en-US" dirty="0"/>
              <a:t>Software re </a:t>
            </a:r>
            <a:r>
              <a:rPr lang="en-US" dirty="0" err="1"/>
              <a:t>enginnering</a:t>
            </a:r>
            <a:r>
              <a:rPr lang="en-US" dirty="0"/>
              <a:t> </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20033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39B75-01BF-4124-B49B-D7CFB1A86DA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FA1A037-2176-462D-B026-BA8764327B9A}"/>
              </a:ext>
            </a:extLst>
          </p:cNvPr>
          <p:cNvSpPr>
            <a:spLocks noGrp="1"/>
          </p:cNvSpPr>
          <p:nvPr>
            <p:ph idx="1"/>
          </p:nvPr>
        </p:nvSpPr>
        <p:spPr/>
        <p:txBody>
          <a:bodyPr/>
          <a:lstStyle/>
          <a:p>
            <a:r>
              <a:rPr lang="en-US" dirty="0"/>
              <a:t>Software maintenance is widely accepted part of SDLC now a days. It stands for all the modifications and </a:t>
            </a:r>
            <a:r>
              <a:rPr lang="en-US" dirty="0" err="1"/>
              <a:t>updations</a:t>
            </a:r>
            <a:r>
              <a:rPr lang="en-US" dirty="0"/>
              <a:t> done after the delivery of software product.</a:t>
            </a:r>
          </a:p>
        </p:txBody>
      </p:sp>
    </p:spTree>
    <p:extLst>
      <p:ext uri="{BB962C8B-B14F-4D97-AF65-F5344CB8AC3E}">
        <p14:creationId xmlns:p14="http://schemas.microsoft.com/office/powerpoint/2010/main" val="183676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9DD3-17EE-4865-B694-2F2A5C9C6699}"/>
              </a:ext>
            </a:extLst>
          </p:cNvPr>
          <p:cNvSpPr>
            <a:spLocks noGrp="1"/>
          </p:cNvSpPr>
          <p:nvPr>
            <p:ph type="title"/>
          </p:nvPr>
        </p:nvSpPr>
        <p:spPr/>
        <p:txBody>
          <a:bodyPr/>
          <a:lstStyle/>
          <a:p>
            <a:r>
              <a:rPr lang="en-US" dirty="0"/>
              <a:t>Necessity of Software Maintenance</a:t>
            </a:r>
          </a:p>
        </p:txBody>
      </p:sp>
      <p:sp>
        <p:nvSpPr>
          <p:cNvPr id="3" name="Content Placeholder 2">
            <a:extLst>
              <a:ext uri="{FF2B5EF4-FFF2-40B4-BE49-F238E27FC236}">
                <a16:creationId xmlns:a16="http://schemas.microsoft.com/office/drawing/2014/main" id="{AFE919E0-3A43-4424-8C61-A54A3C77D395}"/>
              </a:ext>
            </a:extLst>
          </p:cNvPr>
          <p:cNvSpPr>
            <a:spLocks noGrp="1"/>
          </p:cNvSpPr>
          <p:nvPr>
            <p:ph idx="1"/>
          </p:nvPr>
        </p:nvSpPr>
        <p:spPr/>
        <p:txBody>
          <a:bodyPr/>
          <a:lstStyle/>
          <a:p>
            <a:r>
              <a:rPr lang="en-US" b="1" dirty="0"/>
              <a:t>Market Conditions </a:t>
            </a:r>
            <a:r>
              <a:rPr lang="en-US" dirty="0"/>
              <a:t>- Policies, which changes over the time, such as taxation and newly introduced constraints like, how to maintain bookkeeping, may trigger need for modification.</a:t>
            </a:r>
          </a:p>
          <a:p>
            <a:r>
              <a:rPr lang="en-US" b="1" dirty="0"/>
              <a:t>Client Requirements</a:t>
            </a:r>
            <a:r>
              <a:rPr lang="en-US" dirty="0"/>
              <a:t> - Over the time, customer may ask for new features or functions in the software.</a:t>
            </a:r>
          </a:p>
          <a:p>
            <a:endParaRPr lang="en-US" dirty="0"/>
          </a:p>
        </p:txBody>
      </p:sp>
    </p:spTree>
    <p:extLst>
      <p:ext uri="{BB962C8B-B14F-4D97-AF65-F5344CB8AC3E}">
        <p14:creationId xmlns:p14="http://schemas.microsoft.com/office/powerpoint/2010/main" val="113009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6EC19-338C-4A00-A42D-D55E39A46C22}"/>
              </a:ext>
            </a:extLst>
          </p:cNvPr>
          <p:cNvSpPr>
            <a:spLocks noGrp="1"/>
          </p:cNvSpPr>
          <p:nvPr>
            <p:ph type="title"/>
          </p:nvPr>
        </p:nvSpPr>
        <p:spPr/>
        <p:txBody>
          <a:bodyPr/>
          <a:lstStyle/>
          <a:p>
            <a:r>
              <a:rPr lang="en-US" dirty="0"/>
              <a:t>Necessity of Software Maintenance</a:t>
            </a:r>
          </a:p>
        </p:txBody>
      </p:sp>
      <p:sp>
        <p:nvSpPr>
          <p:cNvPr id="3" name="Content Placeholder 2">
            <a:extLst>
              <a:ext uri="{FF2B5EF4-FFF2-40B4-BE49-F238E27FC236}">
                <a16:creationId xmlns:a16="http://schemas.microsoft.com/office/drawing/2014/main" id="{AE908A82-6DA2-4C09-95F9-84C4360B2A97}"/>
              </a:ext>
            </a:extLst>
          </p:cNvPr>
          <p:cNvSpPr>
            <a:spLocks noGrp="1"/>
          </p:cNvSpPr>
          <p:nvPr>
            <p:ph idx="1"/>
          </p:nvPr>
        </p:nvSpPr>
        <p:spPr/>
        <p:txBody>
          <a:bodyPr>
            <a:normAutofit/>
          </a:bodyPr>
          <a:lstStyle/>
          <a:p>
            <a:r>
              <a:rPr lang="en-US" b="1" dirty="0"/>
              <a:t>Host Modifications </a:t>
            </a:r>
            <a:r>
              <a:rPr lang="en-US" dirty="0"/>
              <a:t>- If any of the hardware and/or platform (such as operating system) of the target host changes, software changes are needed to keep adaptability.</a:t>
            </a:r>
          </a:p>
          <a:p>
            <a:r>
              <a:rPr lang="en-US" b="1" dirty="0"/>
              <a:t>Organization Changes </a:t>
            </a:r>
            <a:r>
              <a:rPr lang="en-US" dirty="0"/>
              <a:t>- If there is any business level change at client end, such as reduction of organization strength, acquiring another company.</a:t>
            </a:r>
          </a:p>
        </p:txBody>
      </p:sp>
    </p:spTree>
    <p:extLst>
      <p:ext uri="{BB962C8B-B14F-4D97-AF65-F5344CB8AC3E}">
        <p14:creationId xmlns:p14="http://schemas.microsoft.com/office/powerpoint/2010/main" val="2364469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69D3F-2E6F-424C-8184-13B8346FDC5E}"/>
              </a:ext>
            </a:extLst>
          </p:cNvPr>
          <p:cNvSpPr>
            <a:spLocks noGrp="1"/>
          </p:cNvSpPr>
          <p:nvPr>
            <p:ph type="title"/>
          </p:nvPr>
        </p:nvSpPr>
        <p:spPr/>
        <p:txBody>
          <a:bodyPr/>
          <a:lstStyle/>
          <a:p>
            <a:r>
              <a:rPr lang="en-US" dirty="0"/>
              <a:t>Types of maintenance</a:t>
            </a:r>
          </a:p>
        </p:txBody>
      </p:sp>
      <p:sp>
        <p:nvSpPr>
          <p:cNvPr id="3" name="Content Placeholder 2">
            <a:extLst>
              <a:ext uri="{FF2B5EF4-FFF2-40B4-BE49-F238E27FC236}">
                <a16:creationId xmlns:a16="http://schemas.microsoft.com/office/drawing/2014/main" id="{720E9E11-0F67-4C97-9A8E-E5126765A962}"/>
              </a:ext>
            </a:extLst>
          </p:cNvPr>
          <p:cNvSpPr>
            <a:spLocks noGrp="1"/>
          </p:cNvSpPr>
          <p:nvPr>
            <p:ph idx="1"/>
          </p:nvPr>
        </p:nvSpPr>
        <p:spPr/>
        <p:txBody>
          <a:bodyPr/>
          <a:lstStyle/>
          <a:p>
            <a:r>
              <a:rPr lang="en-US" dirty="0"/>
              <a:t>Corrective Maintenance </a:t>
            </a:r>
          </a:p>
          <a:p>
            <a:r>
              <a:rPr lang="en-US" dirty="0"/>
              <a:t>Adaptive Maintenance</a:t>
            </a:r>
          </a:p>
          <a:p>
            <a:r>
              <a:rPr lang="en-US" dirty="0"/>
              <a:t>Perfective Maintenance </a:t>
            </a:r>
          </a:p>
          <a:p>
            <a:r>
              <a:rPr lang="en-US" dirty="0"/>
              <a:t>Preventive Maintenance  </a:t>
            </a:r>
          </a:p>
        </p:txBody>
      </p:sp>
    </p:spTree>
    <p:extLst>
      <p:ext uri="{BB962C8B-B14F-4D97-AF65-F5344CB8AC3E}">
        <p14:creationId xmlns:p14="http://schemas.microsoft.com/office/powerpoint/2010/main" val="1340326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65E00-71EE-4FC5-838E-8E95441C703F}"/>
              </a:ext>
            </a:extLst>
          </p:cNvPr>
          <p:cNvSpPr>
            <a:spLocks noGrp="1"/>
          </p:cNvSpPr>
          <p:nvPr>
            <p:ph type="title"/>
          </p:nvPr>
        </p:nvSpPr>
        <p:spPr/>
        <p:txBody>
          <a:bodyPr/>
          <a:lstStyle/>
          <a:p>
            <a:r>
              <a:rPr lang="en-US" dirty="0"/>
              <a:t>Corrective Maintenance</a:t>
            </a:r>
          </a:p>
        </p:txBody>
      </p:sp>
      <p:sp>
        <p:nvSpPr>
          <p:cNvPr id="3" name="Content Placeholder 2">
            <a:extLst>
              <a:ext uri="{FF2B5EF4-FFF2-40B4-BE49-F238E27FC236}">
                <a16:creationId xmlns:a16="http://schemas.microsoft.com/office/drawing/2014/main" id="{6C9FBF9E-01E6-4317-A342-0B7A0CA24A14}"/>
              </a:ext>
            </a:extLst>
          </p:cNvPr>
          <p:cNvSpPr>
            <a:spLocks noGrp="1"/>
          </p:cNvSpPr>
          <p:nvPr>
            <p:ph idx="1"/>
          </p:nvPr>
        </p:nvSpPr>
        <p:spPr/>
        <p:txBody>
          <a:bodyPr/>
          <a:lstStyle/>
          <a:p>
            <a:r>
              <a:rPr lang="en-US" dirty="0"/>
              <a:t>This includes modifications and </a:t>
            </a:r>
            <a:r>
              <a:rPr lang="en-US" dirty="0" err="1"/>
              <a:t>updations</a:t>
            </a:r>
            <a:r>
              <a:rPr lang="en-US" dirty="0"/>
              <a:t> done in order to correct or fix problems, which are either discovered by user or concluded by user error reports.</a:t>
            </a:r>
          </a:p>
        </p:txBody>
      </p:sp>
    </p:spTree>
    <p:extLst>
      <p:ext uri="{BB962C8B-B14F-4D97-AF65-F5344CB8AC3E}">
        <p14:creationId xmlns:p14="http://schemas.microsoft.com/office/powerpoint/2010/main" val="324018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BE0CB-9F0D-4787-A371-C367E3D507D5}"/>
              </a:ext>
            </a:extLst>
          </p:cNvPr>
          <p:cNvSpPr>
            <a:spLocks noGrp="1"/>
          </p:cNvSpPr>
          <p:nvPr>
            <p:ph type="title"/>
          </p:nvPr>
        </p:nvSpPr>
        <p:spPr/>
        <p:txBody>
          <a:bodyPr/>
          <a:lstStyle/>
          <a:p>
            <a:r>
              <a:rPr lang="en-US" dirty="0"/>
              <a:t>Adaptive Maintenance</a:t>
            </a:r>
          </a:p>
        </p:txBody>
      </p:sp>
      <p:sp>
        <p:nvSpPr>
          <p:cNvPr id="3" name="Content Placeholder 2">
            <a:extLst>
              <a:ext uri="{FF2B5EF4-FFF2-40B4-BE49-F238E27FC236}">
                <a16:creationId xmlns:a16="http://schemas.microsoft.com/office/drawing/2014/main" id="{9A8398CA-2CEA-4FEC-81A5-2D3C7C98B0C2}"/>
              </a:ext>
            </a:extLst>
          </p:cNvPr>
          <p:cNvSpPr>
            <a:spLocks noGrp="1"/>
          </p:cNvSpPr>
          <p:nvPr>
            <p:ph idx="1"/>
          </p:nvPr>
        </p:nvSpPr>
        <p:spPr/>
        <p:txBody>
          <a:bodyPr/>
          <a:lstStyle/>
          <a:p>
            <a:r>
              <a:rPr lang="en-US" dirty="0"/>
              <a:t>This includes modifications and </a:t>
            </a:r>
            <a:r>
              <a:rPr lang="en-US" dirty="0" err="1"/>
              <a:t>updations</a:t>
            </a:r>
            <a:r>
              <a:rPr lang="en-US" dirty="0"/>
              <a:t> applied to keep the software product up-to date and tuned to the ever changing world of technology and business environment.</a:t>
            </a:r>
          </a:p>
        </p:txBody>
      </p:sp>
    </p:spTree>
    <p:extLst>
      <p:ext uri="{BB962C8B-B14F-4D97-AF65-F5344CB8AC3E}">
        <p14:creationId xmlns:p14="http://schemas.microsoft.com/office/powerpoint/2010/main" val="319420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F675B-6FDA-4BB2-A6EC-E5CBDA453BA6}"/>
              </a:ext>
            </a:extLst>
          </p:cNvPr>
          <p:cNvSpPr>
            <a:spLocks noGrp="1"/>
          </p:cNvSpPr>
          <p:nvPr>
            <p:ph type="title"/>
          </p:nvPr>
        </p:nvSpPr>
        <p:spPr/>
        <p:txBody>
          <a:bodyPr/>
          <a:lstStyle/>
          <a:p>
            <a:r>
              <a:rPr lang="en-US" dirty="0"/>
              <a:t>Perfective Maintenance</a:t>
            </a:r>
          </a:p>
        </p:txBody>
      </p:sp>
      <p:sp>
        <p:nvSpPr>
          <p:cNvPr id="3" name="Content Placeholder 2">
            <a:extLst>
              <a:ext uri="{FF2B5EF4-FFF2-40B4-BE49-F238E27FC236}">
                <a16:creationId xmlns:a16="http://schemas.microsoft.com/office/drawing/2014/main" id="{01C2C749-943B-4B37-BE8C-2595BA592A9C}"/>
              </a:ext>
            </a:extLst>
          </p:cNvPr>
          <p:cNvSpPr>
            <a:spLocks noGrp="1"/>
          </p:cNvSpPr>
          <p:nvPr>
            <p:ph idx="1"/>
          </p:nvPr>
        </p:nvSpPr>
        <p:spPr/>
        <p:txBody>
          <a:bodyPr/>
          <a:lstStyle/>
          <a:p>
            <a:r>
              <a:rPr lang="en-US" dirty="0"/>
              <a:t>This includes modifications and updates done in order to keep the software usable over long period of time. It includes new features, new user requirements for refining the software and improve its reliability and performance.</a:t>
            </a:r>
          </a:p>
        </p:txBody>
      </p:sp>
    </p:spTree>
    <p:extLst>
      <p:ext uri="{BB962C8B-B14F-4D97-AF65-F5344CB8AC3E}">
        <p14:creationId xmlns:p14="http://schemas.microsoft.com/office/powerpoint/2010/main" val="1025062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1708D-0E1D-461B-B908-570B7D76C700}"/>
              </a:ext>
            </a:extLst>
          </p:cNvPr>
          <p:cNvSpPr>
            <a:spLocks noGrp="1"/>
          </p:cNvSpPr>
          <p:nvPr>
            <p:ph type="title"/>
          </p:nvPr>
        </p:nvSpPr>
        <p:spPr/>
        <p:txBody>
          <a:bodyPr/>
          <a:lstStyle/>
          <a:p>
            <a:r>
              <a:rPr lang="en-US" dirty="0"/>
              <a:t>Preventive Maintenance</a:t>
            </a:r>
          </a:p>
        </p:txBody>
      </p:sp>
      <p:sp>
        <p:nvSpPr>
          <p:cNvPr id="3" name="Content Placeholder 2">
            <a:extLst>
              <a:ext uri="{FF2B5EF4-FFF2-40B4-BE49-F238E27FC236}">
                <a16:creationId xmlns:a16="http://schemas.microsoft.com/office/drawing/2014/main" id="{6BCAC50C-B7F2-458C-BCEA-B3F646F2D109}"/>
              </a:ext>
            </a:extLst>
          </p:cNvPr>
          <p:cNvSpPr>
            <a:spLocks noGrp="1"/>
          </p:cNvSpPr>
          <p:nvPr>
            <p:ph idx="1"/>
          </p:nvPr>
        </p:nvSpPr>
        <p:spPr/>
        <p:txBody>
          <a:bodyPr/>
          <a:lstStyle/>
          <a:p>
            <a:r>
              <a:rPr lang="en-US" dirty="0"/>
              <a:t>This includes modifications and </a:t>
            </a:r>
            <a:r>
              <a:rPr lang="en-US" dirty="0" err="1"/>
              <a:t>updations</a:t>
            </a:r>
            <a:r>
              <a:rPr lang="en-US" dirty="0"/>
              <a:t> to prevent future problems of the software. It aims to attend problems, which are not significant at this moment but may cause serious issues in future.</a:t>
            </a:r>
          </a:p>
        </p:txBody>
      </p:sp>
    </p:spTree>
    <p:extLst>
      <p:ext uri="{BB962C8B-B14F-4D97-AF65-F5344CB8AC3E}">
        <p14:creationId xmlns:p14="http://schemas.microsoft.com/office/powerpoint/2010/main" val="3925643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E1792-DB35-4CE0-9869-60B5198DC790}"/>
              </a:ext>
            </a:extLst>
          </p:cNvPr>
          <p:cNvSpPr>
            <a:spLocks noGrp="1"/>
          </p:cNvSpPr>
          <p:nvPr>
            <p:ph type="title"/>
          </p:nvPr>
        </p:nvSpPr>
        <p:spPr/>
        <p:txBody>
          <a:bodyPr>
            <a:normAutofit fontScale="90000"/>
          </a:bodyPr>
          <a:lstStyle/>
          <a:p>
            <a:r>
              <a:rPr lang="en-US" dirty="0"/>
              <a:t>Problems associated with software maintenance </a:t>
            </a:r>
          </a:p>
        </p:txBody>
      </p:sp>
      <p:sp>
        <p:nvSpPr>
          <p:cNvPr id="3" name="Content Placeholder 2">
            <a:extLst>
              <a:ext uri="{FF2B5EF4-FFF2-40B4-BE49-F238E27FC236}">
                <a16:creationId xmlns:a16="http://schemas.microsoft.com/office/drawing/2014/main" id="{E609BE11-C386-42AC-80ED-891392853403}"/>
              </a:ext>
            </a:extLst>
          </p:cNvPr>
          <p:cNvSpPr>
            <a:spLocks noGrp="1"/>
          </p:cNvSpPr>
          <p:nvPr>
            <p:ph idx="1"/>
          </p:nvPr>
        </p:nvSpPr>
        <p:spPr/>
        <p:txBody>
          <a:bodyPr>
            <a:normAutofit fontScale="92500"/>
          </a:bodyPr>
          <a:lstStyle/>
          <a:p>
            <a:r>
              <a:rPr lang="en-US" dirty="0"/>
              <a:t>Software maintenance work typically is much more expensive than what it should be and takes more time than required. </a:t>
            </a:r>
          </a:p>
          <a:p>
            <a:r>
              <a:rPr lang="en-US" dirty="0"/>
              <a:t>In software organizations, maintenance work is mostly carried out using ad hoc techniques.</a:t>
            </a:r>
          </a:p>
          <a:p>
            <a:r>
              <a:rPr lang="en-US" dirty="0"/>
              <a:t>Another problem associated with maintenance work is that the majority of software products needing maintenance are legacy products.</a:t>
            </a:r>
          </a:p>
        </p:txBody>
      </p:sp>
    </p:spTree>
    <p:extLst>
      <p:ext uri="{BB962C8B-B14F-4D97-AF65-F5344CB8AC3E}">
        <p14:creationId xmlns:p14="http://schemas.microsoft.com/office/powerpoint/2010/main" val="274546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A1CB2-B32F-4180-B967-586469579B2C}"/>
              </a:ext>
            </a:extLst>
          </p:cNvPr>
          <p:cNvSpPr>
            <a:spLocks noGrp="1"/>
          </p:cNvSpPr>
          <p:nvPr>
            <p:ph type="title"/>
          </p:nvPr>
        </p:nvSpPr>
        <p:spPr/>
        <p:txBody>
          <a:bodyPr/>
          <a:lstStyle/>
          <a:p>
            <a:r>
              <a:rPr lang="en-US" dirty="0"/>
              <a:t>Estimate Cost of Maintenance</a:t>
            </a:r>
          </a:p>
        </p:txBody>
      </p:sp>
      <p:sp>
        <p:nvSpPr>
          <p:cNvPr id="3" name="Content Placeholder 2">
            <a:extLst>
              <a:ext uri="{FF2B5EF4-FFF2-40B4-BE49-F238E27FC236}">
                <a16:creationId xmlns:a16="http://schemas.microsoft.com/office/drawing/2014/main" id="{E461ED2A-B7C0-4B79-B04A-F2AF1683FDFB}"/>
              </a:ext>
            </a:extLst>
          </p:cNvPr>
          <p:cNvSpPr>
            <a:spLocks noGrp="1"/>
          </p:cNvSpPr>
          <p:nvPr>
            <p:ph idx="1"/>
          </p:nvPr>
        </p:nvSpPr>
        <p:spPr/>
        <p:txBody>
          <a:bodyPr/>
          <a:lstStyle/>
          <a:p>
            <a:r>
              <a:rPr lang="en-US" dirty="0"/>
              <a:t>Boehm [1981] proposed a formula for estimating maintenance costs as part of his COCOMO cost estimation model. </a:t>
            </a:r>
          </a:p>
          <a:p>
            <a:r>
              <a:rPr lang="en-US" dirty="0"/>
              <a:t>Boehm’s maintenance cost estimation is made in terms of a quantity called the Annual Change Traffic (ACT).</a:t>
            </a:r>
          </a:p>
        </p:txBody>
      </p:sp>
    </p:spTree>
    <p:extLst>
      <p:ext uri="{BB962C8B-B14F-4D97-AF65-F5344CB8AC3E}">
        <p14:creationId xmlns:p14="http://schemas.microsoft.com/office/powerpoint/2010/main" val="1135185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4F67D-D2CC-4D52-953F-782094ED1E59}"/>
              </a:ext>
            </a:extLst>
          </p:cNvPr>
          <p:cNvSpPr>
            <a:spLocks noGrp="1"/>
          </p:cNvSpPr>
          <p:nvPr>
            <p:ph type="title"/>
          </p:nvPr>
        </p:nvSpPr>
        <p:spPr/>
        <p:txBody>
          <a:bodyPr/>
          <a:lstStyle/>
          <a:p>
            <a:r>
              <a:rPr lang="en-US" dirty="0"/>
              <a:t>Cost of Maintenance</a:t>
            </a:r>
          </a:p>
        </p:txBody>
      </p:sp>
      <p:sp>
        <p:nvSpPr>
          <p:cNvPr id="3" name="Content Placeholder 2">
            <a:extLst>
              <a:ext uri="{FF2B5EF4-FFF2-40B4-BE49-F238E27FC236}">
                <a16:creationId xmlns:a16="http://schemas.microsoft.com/office/drawing/2014/main" id="{593AA39F-5416-4259-B250-6AF0B3E8F340}"/>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39B39B00-F9AC-4274-9608-D00EAE5ACF00}"/>
              </a:ext>
            </a:extLst>
          </p:cNvPr>
          <p:cNvPicPr>
            <a:picLocks noChangeAspect="1"/>
          </p:cNvPicPr>
          <p:nvPr/>
        </p:nvPicPr>
        <p:blipFill>
          <a:blip r:embed="rId2"/>
          <a:stretch>
            <a:fillRect/>
          </a:stretch>
        </p:blipFill>
        <p:spPr>
          <a:xfrm>
            <a:off x="2438400" y="2590800"/>
            <a:ext cx="4000847" cy="3025402"/>
          </a:xfrm>
          <a:prstGeom prst="rect">
            <a:avLst/>
          </a:prstGeom>
        </p:spPr>
      </p:pic>
    </p:spTree>
    <p:extLst>
      <p:ext uri="{BB962C8B-B14F-4D97-AF65-F5344CB8AC3E}">
        <p14:creationId xmlns:p14="http://schemas.microsoft.com/office/powerpoint/2010/main" val="3351724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903B4-35D0-4EED-B8F9-B37DAEFE7D85}"/>
              </a:ext>
            </a:extLst>
          </p:cNvPr>
          <p:cNvSpPr>
            <a:spLocks noGrp="1"/>
          </p:cNvSpPr>
          <p:nvPr>
            <p:ph type="title"/>
          </p:nvPr>
        </p:nvSpPr>
        <p:spPr/>
        <p:txBody>
          <a:bodyPr/>
          <a:lstStyle/>
          <a:p>
            <a:r>
              <a:rPr lang="en-US" dirty="0"/>
              <a:t>Software Re Engineering</a:t>
            </a:r>
          </a:p>
        </p:txBody>
      </p:sp>
      <p:sp>
        <p:nvSpPr>
          <p:cNvPr id="3" name="Content Placeholder 2">
            <a:extLst>
              <a:ext uri="{FF2B5EF4-FFF2-40B4-BE49-F238E27FC236}">
                <a16:creationId xmlns:a16="http://schemas.microsoft.com/office/drawing/2014/main" id="{9D6A9FEB-7571-4072-8183-1C4021046D05}"/>
              </a:ext>
            </a:extLst>
          </p:cNvPr>
          <p:cNvSpPr>
            <a:spLocks noGrp="1"/>
          </p:cNvSpPr>
          <p:nvPr>
            <p:ph idx="1"/>
          </p:nvPr>
        </p:nvSpPr>
        <p:spPr/>
        <p:txBody>
          <a:bodyPr/>
          <a:lstStyle/>
          <a:p>
            <a:r>
              <a:rPr lang="en-US" dirty="0"/>
              <a:t>Software reverse engineering is the process of recovering the design and the requirements specification of a product from an analysis of its code. </a:t>
            </a:r>
          </a:p>
        </p:txBody>
      </p:sp>
    </p:spTree>
    <p:extLst>
      <p:ext uri="{BB962C8B-B14F-4D97-AF65-F5344CB8AC3E}">
        <p14:creationId xmlns:p14="http://schemas.microsoft.com/office/powerpoint/2010/main" val="1656163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50947-D82E-4107-B699-1CB79CF81DD2}"/>
              </a:ext>
            </a:extLst>
          </p:cNvPr>
          <p:cNvSpPr>
            <a:spLocks noGrp="1"/>
          </p:cNvSpPr>
          <p:nvPr>
            <p:ph type="title"/>
          </p:nvPr>
        </p:nvSpPr>
        <p:spPr/>
        <p:txBody>
          <a:bodyPr/>
          <a:lstStyle/>
          <a:p>
            <a:r>
              <a:rPr lang="en-US" dirty="0"/>
              <a:t>Re-Engineering Process</a:t>
            </a:r>
          </a:p>
        </p:txBody>
      </p:sp>
      <p:sp>
        <p:nvSpPr>
          <p:cNvPr id="3" name="Content Placeholder 2">
            <a:extLst>
              <a:ext uri="{FF2B5EF4-FFF2-40B4-BE49-F238E27FC236}">
                <a16:creationId xmlns:a16="http://schemas.microsoft.com/office/drawing/2014/main" id="{B82F344F-E67C-43B7-BCD2-8B6D2E3E04E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F723397-0B10-4645-98DA-22140D297EE1}"/>
              </a:ext>
            </a:extLst>
          </p:cNvPr>
          <p:cNvPicPr>
            <a:picLocks noChangeAspect="1"/>
          </p:cNvPicPr>
          <p:nvPr/>
        </p:nvPicPr>
        <p:blipFill>
          <a:blip r:embed="rId2"/>
          <a:stretch>
            <a:fillRect/>
          </a:stretch>
        </p:blipFill>
        <p:spPr>
          <a:xfrm>
            <a:off x="2242650" y="2133600"/>
            <a:ext cx="4658700" cy="3623433"/>
          </a:xfrm>
          <a:prstGeom prst="rect">
            <a:avLst/>
          </a:prstGeom>
        </p:spPr>
      </p:pic>
    </p:spTree>
    <p:extLst>
      <p:ext uri="{BB962C8B-B14F-4D97-AF65-F5344CB8AC3E}">
        <p14:creationId xmlns:p14="http://schemas.microsoft.com/office/powerpoint/2010/main" val="1846688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BB331-B835-4ECF-8200-C27078FC12EC}"/>
              </a:ext>
            </a:extLst>
          </p:cNvPr>
          <p:cNvSpPr>
            <a:spLocks noGrp="1"/>
          </p:cNvSpPr>
          <p:nvPr>
            <p:ph type="title"/>
          </p:nvPr>
        </p:nvSpPr>
        <p:spPr/>
        <p:txBody>
          <a:bodyPr/>
          <a:lstStyle/>
          <a:p>
            <a:r>
              <a:rPr lang="en-US" dirty="0"/>
              <a:t>Reverse Engineering</a:t>
            </a:r>
          </a:p>
        </p:txBody>
      </p:sp>
      <p:pic>
        <p:nvPicPr>
          <p:cNvPr id="4" name="Content Placeholder 3">
            <a:extLst>
              <a:ext uri="{FF2B5EF4-FFF2-40B4-BE49-F238E27FC236}">
                <a16:creationId xmlns:a16="http://schemas.microsoft.com/office/drawing/2014/main" id="{B9B3D9E7-A257-410C-B99F-B8DFE3356E8B}"/>
              </a:ext>
            </a:extLst>
          </p:cNvPr>
          <p:cNvPicPr>
            <a:picLocks noGrp="1" noChangeAspect="1"/>
          </p:cNvPicPr>
          <p:nvPr>
            <p:ph idx="1"/>
          </p:nvPr>
        </p:nvPicPr>
        <p:blipFill>
          <a:blip r:embed="rId2"/>
          <a:stretch>
            <a:fillRect/>
          </a:stretch>
        </p:blipFill>
        <p:spPr>
          <a:xfrm>
            <a:off x="1600200" y="3200400"/>
            <a:ext cx="6451235" cy="1333386"/>
          </a:xfrm>
          <a:prstGeom prst="rect">
            <a:avLst/>
          </a:prstGeom>
        </p:spPr>
      </p:pic>
    </p:spTree>
    <p:extLst>
      <p:ext uri="{BB962C8B-B14F-4D97-AF65-F5344CB8AC3E}">
        <p14:creationId xmlns:p14="http://schemas.microsoft.com/office/powerpoint/2010/main" val="1980354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8372E-9860-481E-A2A2-184EC3677BA4}"/>
              </a:ext>
            </a:extLst>
          </p:cNvPr>
          <p:cNvSpPr>
            <a:spLocks noGrp="1"/>
          </p:cNvSpPr>
          <p:nvPr>
            <p:ph type="title"/>
          </p:nvPr>
        </p:nvSpPr>
        <p:spPr/>
        <p:txBody>
          <a:bodyPr/>
          <a:lstStyle/>
          <a:p>
            <a:r>
              <a:rPr lang="en-US" dirty="0"/>
              <a:t>Forward Engineering</a:t>
            </a:r>
          </a:p>
        </p:txBody>
      </p:sp>
      <p:sp>
        <p:nvSpPr>
          <p:cNvPr id="3" name="Content Placeholder 2">
            <a:extLst>
              <a:ext uri="{FF2B5EF4-FFF2-40B4-BE49-F238E27FC236}">
                <a16:creationId xmlns:a16="http://schemas.microsoft.com/office/drawing/2014/main" id="{F26DA1B7-900A-4A08-849B-2BBE18186B9E}"/>
              </a:ext>
            </a:extLst>
          </p:cNvPr>
          <p:cNvSpPr>
            <a:spLocks noGrp="1"/>
          </p:cNvSpPr>
          <p:nvPr>
            <p:ph idx="1"/>
          </p:nvPr>
        </p:nvSpPr>
        <p:spPr/>
        <p:txBody>
          <a:bodyPr/>
          <a:lstStyle/>
          <a:p>
            <a:r>
              <a:rPr lang="en-US" dirty="0"/>
              <a:t>Forward engineering is a process of obtaining desired software from the specifications in hand which were brought down by means of reverse engineering.</a:t>
            </a:r>
          </a:p>
        </p:txBody>
      </p:sp>
      <p:pic>
        <p:nvPicPr>
          <p:cNvPr id="4" name="Picture 3">
            <a:extLst>
              <a:ext uri="{FF2B5EF4-FFF2-40B4-BE49-F238E27FC236}">
                <a16:creationId xmlns:a16="http://schemas.microsoft.com/office/drawing/2014/main" id="{85F0B7E9-349D-4B1D-81FF-81539DBC20CF}"/>
              </a:ext>
            </a:extLst>
          </p:cNvPr>
          <p:cNvPicPr>
            <a:picLocks noChangeAspect="1"/>
          </p:cNvPicPr>
          <p:nvPr/>
        </p:nvPicPr>
        <p:blipFill>
          <a:blip r:embed="rId2"/>
          <a:stretch>
            <a:fillRect/>
          </a:stretch>
        </p:blipFill>
        <p:spPr>
          <a:xfrm>
            <a:off x="1371600" y="4114800"/>
            <a:ext cx="6257481" cy="1524000"/>
          </a:xfrm>
          <a:prstGeom prst="rect">
            <a:avLst/>
          </a:prstGeom>
        </p:spPr>
      </p:pic>
    </p:spTree>
    <p:extLst>
      <p:ext uri="{BB962C8B-B14F-4D97-AF65-F5344CB8AC3E}">
        <p14:creationId xmlns:p14="http://schemas.microsoft.com/office/powerpoint/2010/main" val="3443896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8DFC5-FD2F-49B1-B2D0-03D2FAA89D38}"/>
              </a:ext>
            </a:extLst>
          </p:cNvPr>
          <p:cNvSpPr>
            <a:spLocks noGrp="1"/>
          </p:cNvSpPr>
          <p:nvPr>
            <p:ph type="title"/>
          </p:nvPr>
        </p:nvSpPr>
        <p:spPr/>
        <p:txBody>
          <a:bodyPr/>
          <a:lstStyle/>
          <a:p>
            <a:r>
              <a:rPr lang="en-US" dirty="0"/>
              <a:t>Component Reusability</a:t>
            </a:r>
          </a:p>
        </p:txBody>
      </p:sp>
      <p:sp>
        <p:nvSpPr>
          <p:cNvPr id="3" name="Content Placeholder 2">
            <a:extLst>
              <a:ext uri="{FF2B5EF4-FFF2-40B4-BE49-F238E27FC236}">
                <a16:creationId xmlns:a16="http://schemas.microsoft.com/office/drawing/2014/main" id="{3BD2860D-8A51-4781-92AF-D320B3D249D6}"/>
              </a:ext>
            </a:extLst>
          </p:cNvPr>
          <p:cNvSpPr>
            <a:spLocks noGrp="1"/>
          </p:cNvSpPr>
          <p:nvPr>
            <p:ph idx="1"/>
          </p:nvPr>
        </p:nvSpPr>
        <p:spPr/>
        <p:txBody>
          <a:bodyPr>
            <a:normAutofit fontScale="92500" lnSpcReduction="10000"/>
          </a:bodyPr>
          <a:lstStyle/>
          <a:p>
            <a:r>
              <a:rPr lang="en-US" dirty="0"/>
              <a:t>In OOP, the objects are designed are very specific to their concern and have fewer chances to be used in some other software.</a:t>
            </a:r>
          </a:p>
          <a:p>
            <a:r>
              <a:rPr lang="en-US" dirty="0"/>
              <a:t>In modular programming, the modules are coded to perform specific tasks which can be used across number of other software programs.</a:t>
            </a:r>
          </a:p>
          <a:p>
            <a:r>
              <a:rPr lang="en-US" dirty="0"/>
              <a:t>There is a whole new vertical, which is based on re-use of software component, and is known as Component Based Software Engineering (CBSE).</a:t>
            </a:r>
          </a:p>
          <a:p>
            <a:endParaRPr lang="en-US" dirty="0"/>
          </a:p>
        </p:txBody>
      </p:sp>
    </p:spTree>
    <p:extLst>
      <p:ext uri="{BB962C8B-B14F-4D97-AF65-F5344CB8AC3E}">
        <p14:creationId xmlns:p14="http://schemas.microsoft.com/office/powerpoint/2010/main" val="3049151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8F3C5-EAD0-4339-8A9E-E79F14A573D1}"/>
              </a:ext>
            </a:extLst>
          </p:cNvPr>
          <p:cNvSpPr>
            <a:spLocks noGrp="1"/>
          </p:cNvSpPr>
          <p:nvPr>
            <p:ph type="title"/>
          </p:nvPr>
        </p:nvSpPr>
        <p:spPr/>
        <p:txBody>
          <a:bodyPr/>
          <a:lstStyle/>
          <a:p>
            <a:r>
              <a:rPr lang="en-US" dirty="0"/>
              <a:t>Legacy Software</a:t>
            </a:r>
          </a:p>
        </p:txBody>
      </p:sp>
      <p:sp>
        <p:nvSpPr>
          <p:cNvPr id="3" name="Content Placeholder 2">
            <a:extLst>
              <a:ext uri="{FF2B5EF4-FFF2-40B4-BE49-F238E27FC236}">
                <a16:creationId xmlns:a16="http://schemas.microsoft.com/office/drawing/2014/main" id="{DCF1CC51-EA04-47FC-911A-146EE19E1F34}"/>
              </a:ext>
            </a:extLst>
          </p:cNvPr>
          <p:cNvSpPr>
            <a:spLocks noGrp="1"/>
          </p:cNvSpPr>
          <p:nvPr>
            <p:ph idx="1"/>
          </p:nvPr>
        </p:nvSpPr>
        <p:spPr/>
        <p:txBody>
          <a:bodyPr>
            <a:normAutofit fontScale="92500"/>
          </a:bodyPr>
          <a:lstStyle/>
          <a:p>
            <a:r>
              <a:rPr lang="en-US" dirty="0"/>
              <a:t>It is prudent to define a legacy system as any software system that is hard to maintain. </a:t>
            </a:r>
          </a:p>
          <a:p>
            <a:r>
              <a:rPr lang="en-US" dirty="0"/>
              <a:t>The typical problems associated with legacy systems are poor documentation, unstructured (spaghetti code with ugly control structure), and lack of personnel knowledgeable in the product.</a:t>
            </a:r>
          </a:p>
          <a:p>
            <a:r>
              <a:rPr lang="en-US" dirty="0"/>
              <a:t> Many of the legacy systems were developed long time back</a:t>
            </a:r>
          </a:p>
        </p:txBody>
      </p:sp>
    </p:spTree>
    <p:extLst>
      <p:ext uri="{BB962C8B-B14F-4D97-AF65-F5344CB8AC3E}">
        <p14:creationId xmlns:p14="http://schemas.microsoft.com/office/powerpoint/2010/main" val="1869823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C1E9-F053-47D4-88A2-C0FFF40330C8}"/>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1A2B021F-27B2-466F-9E6F-B01EA7267C2A}"/>
              </a:ext>
            </a:extLst>
          </p:cNvPr>
          <p:cNvSpPr>
            <a:spLocks noGrp="1"/>
          </p:cNvSpPr>
          <p:nvPr>
            <p:ph idx="1"/>
          </p:nvPr>
        </p:nvSpPr>
        <p:spPr/>
        <p:txBody>
          <a:bodyPr/>
          <a:lstStyle/>
          <a:p>
            <a:r>
              <a:rPr lang="en-US" dirty="0"/>
              <a:t>Configuration management</a:t>
            </a:r>
          </a:p>
        </p:txBody>
      </p:sp>
    </p:spTree>
    <p:extLst>
      <p:ext uri="{BB962C8B-B14F-4D97-AF65-F5344CB8AC3E}">
        <p14:creationId xmlns:p14="http://schemas.microsoft.com/office/powerpoint/2010/main" val="1232848513"/>
      </p:ext>
    </p:extLst>
  </p:cSld>
  <p:clrMapOvr>
    <a:masterClrMapping/>
  </p:clrMapOvr>
</p:sld>
</file>

<file path=ppt/theme/theme1.xml><?xml version="1.0" encoding="utf-8"?>
<a:theme xmlns:a="http://schemas.openxmlformats.org/drawingml/2006/main" name="SLIATE LMS Template Powerpoi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4486</TotalTime>
  <Words>619</Words>
  <Application>Microsoft Office PowerPoint</Application>
  <PresentationFormat>On-screen Show (4:3)</PresentationFormat>
  <Paragraphs>57</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SLIATE LMS Template Powerpoint</vt:lpstr>
      <vt:lpstr>HNDIT 4012 Software Engineering</vt:lpstr>
      <vt:lpstr>Topics covered</vt:lpstr>
      <vt:lpstr>Introduction</vt:lpstr>
      <vt:lpstr>Necessity of Software Maintenance</vt:lpstr>
      <vt:lpstr>Necessity of Software Maintenance</vt:lpstr>
      <vt:lpstr>Types of maintenance</vt:lpstr>
      <vt:lpstr>Corrective Maintenance</vt:lpstr>
      <vt:lpstr>Adaptive Maintenance</vt:lpstr>
      <vt:lpstr>Perfective Maintenance</vt:lpstr>
      <vt:lpstr>Preventive Maintenance</vt:lpstr>
      <vt:lpstr>Problems associated with software maintenance </vt:lpstr>
      <vt:lpstr>Estimate Cost of Maintenance</vt:lpstr>
      <vt:lpstr>Cost of Maintenance</vt:lpstr>
      <vt:lpstr>Software Re Engineering</vt:lpstr>
      <vt:lpstr>Re-Engineering Process</vt:lpstr>
      <vt:lpstr>Reverse Engineering</vt:lpstr>
      <vt:lpstr>Forward Engineering</vt:lpstr>
      <vt:lpstr>Component Reusability</vt:lpstr>
      <vt:lpstr>Legacy Software</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HNDIT 2312-Principles of Software Engineering</dc:title>
  <dc:creator>Windows User</dc:creator>
  <cp:lastModifiedBy>Gayan Sudharshana</cp:lastModifiedBy>
  <cp:revision>63</cp:revision>
  <dcterms:created xsi:type="dcterms:W3CDTF">2018-06-02T18:39:01Z</dcterms:created>
  <dcterms:modified xsi:type="dcterms:W3CDTF">2024-05-21T00:16:21Z</dcterms:modified>
</cp:coreProperties>
</file>