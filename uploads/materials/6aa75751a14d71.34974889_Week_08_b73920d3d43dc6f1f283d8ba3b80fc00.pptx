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d9fd18e5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d9fd18e5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d9fd18e512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d9fd18e51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d9fd18e512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d9fd18e512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d9fd18e512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d9fd18e51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9fd18e512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9fd18e512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d9fd18e512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d9fd18e512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d9fd18e512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d9fd18e512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9fd18e512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9fd18e512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d9fd18e512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d9fd18e512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d9fd18e512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d9fd18e512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d9fd18e512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d9fd18e512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d9fd18e512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d9fd18e512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9fd18e512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9fd18e512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d9fd18e512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d9fd18e512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White Box Testing</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White Box Testing</a:t>
            </a:r>
            <a:endParaRPr/>
          </a:p>
        </p:txBody>
      </p:sp>
      <p:sp>
        <p:nvSpPr>
          <p:cNvPr id="99" name="Google Shape;99;p15"/>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800">
                <a:solidFill>
                  <a:srgbClr val="4B4F58"/>
                </a:solidFill>
              </a:rPr>
              <a:t>White box testing techniques analyze the internal structures the used data structures, internal design, code structure, and the working of the software rather than just the functionality as in black box testing. It is also called glass box testing or clear box testing or structural testing. White Box Testing is also known as transparent testing or open box testing.</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White Box Testing</a:t>
            </a:r>
            <a:endParaRPr/>
          </a:p>
        </p:txBody>
      </p:sp>
      <p:sp>
        <p:nvSpPr>
          <p:cNvPr id="105" name="Google Shape;105;p16"/>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800">
                <a:solidFill>
                  <a:srgbClr val="4B4F58"/>
                </a:solidFill>
              </a:rPr>
              <a:t>White box testing is a verification technique where software engineers can use to examine if the code works as expected or not.</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rPr lang="en" sz="1800">
                <a:solidFill>
                  <a:srgbClr val="4B4F58"/>
                </a:solidFill>
              </a:rPr>
              <a:t>It is the strategy testing is based on</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Software’s internal paths</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Design and coding</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Logics</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Structures</a:t>
            </a:r>
            <a:endParaRPr sz="1800">
              <a:solidFill>
                <a:srgbClr val="4B4F58"/>
              </a:solidFill>
            </a:endParaRPr>
          </a:p>
          <a:p>
            <a:pPr indent="-342900" lvl="0" marL="457200" rtl="0" algn="l">
              <a:lnSpc>
                <a:spcPct val="100000"/>
              </a:lnSpc>
              <a:spcBef>
                <a:spcPts val="0"/>
              </a:spcBef>
              <a:spcAft>
                <a:spcPts val="0"/>
              </a:spcAft>
              <a:buClr>
                <a:srgbClr val="4B4F58"/>
              </a:buClr>
              <a:buSzPts val="1800"/>
              <a:buChar char="-"/>
            </a:pPr>
            <a:r>
              <a:rPr lang="en" sz="1800">
                <a:solidFill>
                  <a:srgbClr val="4B4F58"/>
                </a:solidFill>
              </a:rPr>
              <a:t>Implementation of software under test</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 of White Box Testing</a:t>
            </a:r>
            <a:endParaRPr/>
          </a:p>
        </p:txBody>
      </p:sp>
      <p:sp>
        <p:nvSpPr>
          <p:cNvPr id="111" name="Google Shape;111;p17"/>
          <p:cNvSpPr txBox="1"/>
          <p:nvPr>
            <p:ph idx="1" type="body"/>
          </p:nvPr>
        </p:nvSpPr>
        <p:spPr>
          <a:xfrm>
            <a:off x="729450" y="1698950"/>
            <a:ext cx="7688700" cy="2567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4B4F58"/>
              </a:buClr>
              <a:buSzPts val="1800"/>
              <a:buAutoNum type="arabicPeriod"/>
            </a:pPr>
            <a:r>
              <a:rPr lang="en" sz="1800">
                <a:solidFill>
                  <a:srgbClr val="4B4F58"/>
                </a:solidFill>
              </a:rPr>
              <a:t>Input: Requirements, Functional specifications, design documents, source code.</a:t>
            </a:r>
            <a:endParaRPr sz="1800">
              <a:solidFill>
                <a:srgbClr val="4B4F58"/>
              </a:solidFill>
            </a:endParaRPr>
          </a:p>
          <a:p>
            <a:pPr indent="-342900" lvl="0" marL="457200" rtl="0" algn="l">
              <a:spcBef>
                <a:spcPts val="0"/>
              </a:spcBef>
              <a:spcAft>
                <a:spcPts val="0"/>
              </a:spcAft>
              <a:buClr>
                <a:srgbClr val="4B4F58"/>
              </a:buClr>
              <a:buSzPts val="1800"/>
              <a:buAutoNum type="arabicPeriod"/>
            </a:pPr>
            <a:r>
              <a:rPr lang="en" sz="1800">
                <a:solidFill>
                  <a:srgbClr val="4B4F58"/>
                </a:solidFill>
              </a:rPr>
              <a:t>Processing: Performing risk analysis to guide through the entire process.</a:t>
            </a:r>
            <a:endParaRPr sz="1800">
              <a:solidFill>
                <a:srgbClr val="4B4F58"/>
              </a:solidFill>
            </a:endParaRPr>
          </a:p>
          <a:p>
            <a:pPr indent="-342900" lvl="0" marL="457200" rtl="0" algn="l">
              <a:spcBef>
                <a:spcPts val="0"/>
              </a:spcBef>
              <a:spcAft>
                <a:spcPts val="0"/>
              </a:spcAft>
              <a:buClr>
                <a:srgbClr val="4B4F58"/>
              </a:buClr>
              <a:buSzPts val="1800"/>
              <a:buAutoNum type="arabicPeriod"/>
            </a:pPr>
            <a:r>
              <a:rPr lang="en" sz="1800">
                <a:solidFill>
                  <a:srgbClr val="4B4F58"/>
                </a:solidFill>
              </a:rPr>
              <a:t>Proper test planning: Designing test cases to cover the entire code. Execute rinse-repeat until error-free software is reached. Also, the results are communicated.</a:t>
            </a:r>
            <a:endParaRPr sz="1800">
              <a:solidFill>
                <a:srgbClr val="4B4F58"/>
              </a:solidFill>
            </a:endParaRPr>
          </a:p>
          <a:p>
            <a:pPr indent="-342900" lvl="0" marL="457200" rtl="0" algn="l">
              <a:spcBef>
                <a:spcPts val="0"/>
              </a:spcBef>
              <a:spcAft>
                <a:spcPts val="0"/>
              </a:spcAft>
              <a:buClr>
                <a:srgbClr val="4B4F58"/>
              </a:buClr>
              <a:buSzPts val="1800"/>
              <a:buAutoNum type="arabicPeriod"/>
            </a:pPr>
            <a:r>
              <a:rPr lang="en" sz="1800">
                <a:solidFill>
                  <a:srgbClr val="4B4F58"/>
                </a:solidFill>
              </a:rPr>
              <a:t>Output: Preparing final report of the entire testing process.</a:t>
            </a:r>
            <a:endParaRPr sz="1800">
              <a:solidFill>
                <a:srgbClr val="4B4F5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Techniques in White Box Testing</a:t>
            </a:r>
            <a:endParaRPr/>
          </a:p>
        </p:txBody>
      </p:sp>
      <p:sp>
        <p:nvSpPr>
          <p:cNvPr id="117" name="Google Shape;117;p18"/>
          <p:cNvSpPr txBox="1"/>
          <p:nvPr>
            <p:ph idx="1" type="body"/>
          </p:nvPr>
        </p:nvSpPr>
        <p:spPr>
          <a:xfrm>
            <a:off x="729450" y="1240675"/>
            <a:ext cx="7688700" cy="39027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sz="1800">
              <a:solidFill>
                <a:srgbClr val="4B4F58"/>
              </a:solidFill>
            </a:endParaRPr>
          </a:p>
          <a:p>
            <a:pPr indent="0" lvl="0" marL="0" rtl="0" algn="l">
              <a:lnSpc>
                <a:spcPct val="100000"/>
              </a:lnSpc>
              <a:spcBef>
                <a:spcPts val="0"/>
              </a:spcBef>
              <a:spcAft>
                <a:spcPts val="0"/>
              </a:spcAft>
              <a:buNone/>
            </a:pPr>
            <a:r>
              <a:t/>
            </a:r>
            <a:endParaRPr sz="1800">
              <a:solidFill>
                <a:srgbClr val="4B4F58"/>
              </a:solidFill>
            </a:endParaRPr>
          </a:p>
        </p:txBody>
      </p:sp>
      <p:pic>
        <p:nvPicPr>
          <p:cNvPr id="118" name="Google Shape;118;p18"/>
          <p:cNvPicPr preferRelativeResize="0"/>
          <p:nvPr/>
        </p:nvPicPr>
        <p:blipFill>
          <a:blip r:embed="rId3">
            <a:alphaModFix/>
          </a:blip>
          <a:stretch>
            <a:fillRect/>
          </a:stretch>
        </p:blipFill>
        <p:spPr>
          <a:xfrm>
            <a:off x="2615225" y="1554425"/>
            <a:ext cx="3618900" cy="2731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729450" y="6757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Techniques…</a:t>
            </a:r>
            <a:endParaRPr/>
          </a:p>
        </p:txBody>
      </p:sp>
      <p:sp>
        <p:nvSpPr>
          <p:cNvPr id="124" name="Google Shape;124;p19"/>
          <p:cNvSpPr txBox="1"/>
          <p:nvPr>
            <p:ph idx="1" type="body"/>
          </p:nvPr>
        </p:nvSpPr>
        <p:spPr>
          <a:xfrm>
            <a:off x="729450" y="1441200"/>
            <a:ext cx="7688700" cy="22611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None/>
            </a:pPr>
            <a:r>
              <a:rPr b="1" lang="en" sz="1800">
                <a:solidFill>
                  <a:srgbClr val="4B4F58"/>
                </a:solidFill>
              </a:rPr>
              <a:t>1. Statement Coverage</a:t>
            </a:r>
            <a:endParaRPr b="1" sz="1800">
              <a:solidFill>
                <a:srgbClr val="4B4F58"/>
              </a:solidFill>
            </a:endParaRPr>
          </a:p>
          <a:p>
            <a:pPr indent="0" lvl="0" marL="0" rtl="0" algn="l">
              <a:spcBef>
                <a:spcPts val="1800"/>
              </a:spcBef>
              <a:spcAft>
                <a:spcPts val="0"/>
              </a:spcAft>
              <a:buNone/>
            </a:pPr>
            <a:r>
              <a:rPr lang="en" sz="1800">
                <a:solidFill>
                  <a:srgbClr val="4B4F58"/>
                </a:solidFill>
              </a:rPr>
              <a:t>In this technique, the aim is to traverse all statements at least once. Hence, each line of code is tested. In the case of a flowchart, every node must be traversed at least once. Since all lines of code are covered, it helps in pointing out faulty code.</a:t>
            </a:r>
            <a:endParaRPr sz="1800">
              <a:solidFill>
                <a:srgbClr val="4B4F58"/>
              </a:solidFill>
            </a:endParaRPr>
          </a:p>
          <a:p>
            <a:pPr indent="0" lvl="0" marL="0" rtl="0" algn="l">
              <a:spcBef>
                <a:spcPts val="800"/>
              </a:spcBef>
              <a:spcAft>
                <a:spcPts val="1200"/>
              </a:spcAft>
              <a:buNone/>
            </a:pPr>
            <a:r>
              <a:t/>
            </a:r>
            <a:endParaRPr sz="1800">
              <a:solidFill>
                <a:srgbClr val="4B4F5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729450" y="6611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 Statement Coverage</a:t>
            </a:r>
            <a:r>
              <a:rPr lang="en"/>
              <a:t>…</a:t>
            </a:r>
            <a:endParaRPr/>
          </a:p>
        </p:txBody>
      </p:sp>
      <p:pic>
        <p:nvPicPr>
          <p:cNvPr id="130" name="Google Shape;130;p20"/>
          <p:cNvPicPr preferRelativeResize="0"/>
          <p:nvPr/>
        </p:nvPicPr>
        <p:blipFill>
          <a:blip r:embed="rId3">
            <a:alphaModFix/>
          </a:blip>
          <a:stretch>
            <a:fillRect/>
          </a:stretch>
        </p:blipFill>
        <p:spPr>
          <a:xfrm>
            <a:off x="1066800" y="1348700"/>
            <a:ext cx="7156547" cy="364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Branch Coverage:</a:t>
            </a:r>
            <a:endParaRPr/>
          </a:p>
        </p:txBody>
      </p:sp>
      <p:sp>
        <p:nvSpPr>
          <p:cNvPr id="136" name="Google Shape;136;p21"/>
          <p:cNvSpPr txBox="1"/>
          <p:nvPr>
            <p:ph idx="1" type="body"/>
          </p:nvPr>
        </p:nvSpPr>
        <p:spPr>
          <a:xfrm>
            <a:off x="727650" y="1348250"/>
            <a:ext cx="7688700" cy="22611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t/>
            </a:r>
            <a:endParaRPr sz="1800">
              <a:solidFill>
                <a:srgbClr val="4B4F58"/>
              </a:solidFill>
            </a:endParaRPr>
          </a:p>
          <a:p>
            <a:pPr indent="0" lvl="0" marL="0" rtl="0" algn="l">
              <a:spcBef>
                <a:spcPts val="1800"/>
              </a:spcBef>
              <a:spcAft>
                <a:spcPts val="0"/>
              </a:spcAft>
              <a:buNone/>
            </a:pPr>
            <a:r>
              <a:rPr lang="en" sz="1800">
                <a:solidFill>
                  <a:srgbClr val="4B4F58"/>
                </a:solidFill>
              </a:rPr>
              <a:t>In this technique, test cases are designed so that each branch from all decision points is traversed at least once. In a flowchart, all edges must be traversed at least once.</a:t>
            </a:r>
            <a:endParaRPr sz="1800">
              <a:solidFill>
                <a:srgbClr val="4B4F58"/>
              </a:solidFill>
            </a:endParaRPr>
          </a:p>
          <a:p>
            <a:pPr indent="0" lvl="0" marL="0" rtl="0" algn="l">
              <a:spcBef>
                <a:spcPts val="800"/>
              </a:spcBef>
              <a:spcAft>
                <a:spcPts val="1200"/>
              </a:spcAft>
              <a:buNone/>
            </a:pPr>
            <a:r>
              <a:t/>
            </a:r>
            <a:endParaRPr sz="1800">
              <a:solidFill>
                <a:srgbClr val="4B4F5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Branch Coverage…</a:t>
            </a:r>
            <a:endParaRPr/>
          </a:p>
        </p:txBody>
      </p:sp>
      <p:pic>
        <p:nvPicPr>
          <p:cNvPr id="142" name="Google Shape;142;p22"/>
          <p:cNvPicPr preferRelativeResize="0"/>
          <p:nvPr/>
        </p:nvPicPr>
        <p:blipFill>
          <a:blip r:embed="rId3">
            <a:alphaModFix/>
          </a:blip>
          <a:stretch>
            <a:fillRect/>
          </a:stretch>
        </p:blipFill>
        <p:spPr>
          <a:xfrm>
            <a:off x="1446600" y="1181675"/>
            <a:ext cx="6239424" cy="3961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a:t>
            </a:r>
            <a:r>
              <a:rPr lang="en"/>
              <a:t>. </a:t>
            </a:r>
            <a:r>
              <a:rPr lang="en"/>
              <a:t>Condition Coverage</a:t>
            </a:r>
            <a:endParaRPr/>
          </a:p>
        </p:txBody>
      </p:sp>
      <p:sp>
        <p:nvSpPr>
          <p:cNvPr id="148" name="Google Shape;148;p23"/>
          <p:cNvSpPr txBox="1"/>
          <p:nvPr/>
        </p:nvSpPr>
        <p:spPr>
          <a:xfrm>
            <a:off x="540650" y="1709625"/>
            <a:ext cx="7203900" cy="295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rgbClr val="4B4F58"/>
                </a:solidFill>
                <a:latin typeface="Lato"/>
                <a:ea typeface="Lato"/>
                <a:cs typeface="Lato"/>
                <a:sym typeface="Lato"/>
              </a:rPr>
              <a:t>In this technique, all individual conditions must be covered as shown in the following example:</a:t>
            </a:r>
            <a:endParaRPr sz="1800">
              <a:solidFill>
                <a:srgbClr val="4B4F58"/>
              </a:solidFill>
              <a:latin typeface="Lato"/>
              <a:ea typeface="Lato"/>
              <a:cs typeface="Lato"/>
              <a:sym typeface="Lato"/>
            </a:endParaRPr>
          </a:p>
          <a:p>
            <a:pPr indent="-314325" lvl="0" marL="685800" rtl="0" algn="l">
              <a:lnSpc>
                <a:spcPct val="158000"/>
              </a:lnSpc>
              <a:spcBef>
                <a:spcPts val="800"/>
              </a:spcBef>
              <a:spcAft>
                <a:spcPts val="0"/>
              </a:spcAft>
              <a:buClr>
                <a:srgbClr val="273239"/>
              </a:buClr>
              <a:buSzPts val="1350"/>
              <a:buFont typeface="Nunito"/>
              <a:buChar char="●"/>
            </a:pPr>
            <a:r>
              <a:rPr lang="en" sz="1800">
                <a:solidFill>
                  <a:srgbClr val="4B4F58"/>
                </a:solidFill>
                <a:latin typeface="Lato"/>
                <a:ea typeface="Lato"/>
                <a:cs typeface="Lato"/>
                <a:sym typeface="Lato"/>
              </a:rPr>
              <a:t>READ X, Y</a:t>
            </a:r>
            <a:endParaRPr sz="1800">
              <a:solidFill>
                <a:srgbClr val="4B4F58"/>
              </a:solidFill>
              <a:latin typeface="Lato"/>
              <a:ea typeface="Lato"/>
              <a:cs typeface="Lato"/>
              <a:sym typeface="Lato"/>
            </a:endParaRPr>
          </a:p>
          <a:p>
            <a:pPr indent="-314325" lvl="0" marL="685800" rtl="0" algn="l">
              <a:lnSpc>
                <a:spcPct val="158000"/>
              </a:lnSpc>
              <a:spcBef>
                <a:spcPts val="0"/>
              </a:spcBef>
              <a:spcAft>
                <a:spcPts val="0"/>
              </a:spcAft>
              <a:buClr>
                <a:srgbClr val="273239"/>
              </a:buClr>
              <a:buSzPts val="1350"/>
              <a:buFont typeface="Nunito"/>
              <a:buChar char="●"/>
            </a:pPr>
            <a:r>
              <a:rPr lang="en" sz="1800">
                <a:solidFill>
                  <a:srgbClr val="4B4F58"/>
                </a:solidFill>
                <a:latin typeface="Lato"/>
                <a:ea typeface="Lato"/>
                <a:cs typeface="Lato"/>
                <a:sym typeface="Lato"/>
              </a:rPr>
              <a:t>IF(X == 0 || Y == 0)</a:t>
            </a:r>
            <a:endParaRPr sz="1800">
              <a:solidFill>
                <a:srgbClr val="4B4F58"/>
              </a:solidFill>
              <a:latin typeface="Lato"/>
              <a:ea typeface="Lato"/>
              <a:cs typeface="Lato"/>
              <a:sym typeface="Lato"/>
            </a:endParaRPr>
          </a:p>
          <a:p>
            <a:pPr indent="-314325" lvl="0" marL="685800" rtl="0" algn="l">
              <a:lnSpc>
                <a:spcPct val="158000"/>
              </a:lnSpc>
              <a:spcBef>
                <a:spcPts val="0"/>
              </a:spcBef>
              <a:spcAft>
                <a:spcPts val="0"/>
              </a:spcAft>
              <a:buClr>
                <a:srgbClr val="273239"/>
              </a:buClr>
              <a:buSzPts val="1350"/>
              <a:buFont typeface="Nunito"/>
              <a:buChar char="●"/>
            </a:pPr>
            <a:r>
              <a:rPr lang="en" sz="1800">
                <a:solidFill>
                  <a:srgbClr val="4B4F58"/>
                </a:solidFill>
                <a:latin typeface="Lato"/>
                <a:ea typeface="Lato"/>
                <a:cs typeface="Lato"/>
                <a:sym typeface="Lato"/>
              </a:rPr>
              <a:t>PRINT ‘0’</a:t>
            </a:r>
            <a:endParaRPr sz="1800">
              <a:solidFill>
                <a:srgbClr val="4B4F58"/>
              </a:solidFill>
              <a:latin typeface="Lato"/>
              <a:ea typeface="Lato"/>
              <a:cs typeface="Lato"/>
              <a:sym typeface="Lato"/>
            </a:endParaRPr>
          </a:p>
          <a:p>
            <a:pPr indent="-314325" lvl="0" marL="685800" rtl="0" algn="l">
              <a:lnSpc>
                <a:spcPct val="158000"/>
              </a:lnSpc>
              <a:spcBef>
                <a:spcPts val="0"/>
              </a:spcBef>
              <a:spcAft>
                <a:spcPts val="0"/>
              </a:spcAft>
              <a:buClr>
                <a:srgbClr val="273239"/>
              </a:buClr>
              <a:buSzPts val="1350"/>
              <a:buFont typeface="Nunito"/>
              <a:buChar char="●"/>
            </a:pPr>
            <a:r>
              <a:rPr lang="en" sz="1800">
                <a:solidFill>
                  <a:srgbClr val="4B4F58"/>
                </a:solidFill>
                <a:latin typeface="Lato"/>
                <a:ea typeface="Lato"/>
                <a:cs typeface="Lato"/>
                <a:sym typeface="Lato"/>
              </a:rPr>
              <a:t>#TC1 – X = 0, Y = 55</a:t>
            </a:r>
            <a:endParaRPr sz="1800">
              <a:solidFill>
                <a:srgbClr val="4B4F58"/>
              </a:solidFill>
              <a:latin typeface="Lato"/>
              <a:ea typeface="Lato"/>
              <a:cs typeface="Lato"/>
              <a:sym typeface="Lato"/>
            </a:endParaRPr>
          </a:p>
          <a:p>
            <a:pPr indent="-314325" lvl="0" marL="685800" rtl="0" algn="l">
              <a:lnSpc>
                <a:spcPct val="158000"/>
              </a:lnSpc>
              <a:spcBef>
                <a:spcPts val="0"/>
              </a:spcBef>
              <a:spcAft>
                <a:spcPts val="0"/>
              </a:spcAft>
              <a:buClr>
                <a:srgbClr val="273239"/>
              </a:buClr>
              <a:buSzPts val="1350"/>
              <a:buFont typeface="Nunito"/>
              <a:buChar char="●"/>
            </a:pPr>
            <a:r>
              <a:rPr lang="en" sz="1800">
                <a:solidFill>
                  <a:srgbClr val="4B4F58"/>
                </a:solidFill>
                <a:latin typeface="Lato"/>
                <a:ea typeface="Lato"/>
                <a:cs typeface="Lato"/>
                <a:sym typeface="Lato"/>
              </a:rPr>
              <a:t>#TC2 – X = 5, Y = 0</a:t>
            </a:r>
            <a:endParaRPr sz="1800">
              <a:solidFill>
                <a:srgbClr val="4B4F58"/>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White Box Testing Techniques</a:t>
            </a:r>
            <a:endParaRPr/>
          </a:p>
        </p:txBody>
      </p:sp>
      <p:sp>
        <p:nvSpPr>
          <p:cNvPr id="154" name="Google Shape;154;p24"/>
          <p:cNvSpPr txBox="1"/>
          <p:nvPr/>
        </p:nvSpPr>
        <p:spPr>
          <a:xfrm>
            <a:off x="569875" y="1390350"/>
            <a:ext cx="7203900" cy="23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rgbClr val="4B4F58"/>
                </a:solidFill>
                <a:latin typeface="Lato"/>
                <a:ea typeface="Lato"/>
                <a:cs typeface="Lato"/>
                <a:sym typeface="Lato"/>
              </a:rPr>
              <a:t>4. Multiple Condition Coverage</a:t>
            </a:r>
            <a:endParaRPr sz="1800">
              <a:solidFill>
                <a:srgbClr val="4B4F58"/>
              </a:solidFill>
              <a:latin typeface="Lato"/>
              <a:ea typeface="Lato"/>
              <a:cs typeface="Lato"/>
              <a:sym typeface="Lato"/>
            </a:endParaRPr>
          </a:p>
          <a:p>
            <a:pPr indent="0" lvl="0" marL="0" rtl="0" algn="l">
              <a:lnSpc>
                <a:spcPct val="115000"/>
              </a:lnSpc>
              <a:spcBef>
                <a:spcPts val="800"/>
              </a:spcBef>
              <a:spcAft>
                <a:spcPts val="0"/>
              </a:spcAft>
              <a:buNone/>
            </a:pPr>
            <a:r>
              <a:rPr lang="en" sz="1800">
                <a:solidFill>
                  <a:srgbClr val="4B4F58"/>
                </a:solidFill>
                <a:latin typeface="Lato"/>
                <a:ea typeface="Lato"/>
                <a:cs typeface="Lato"/>
                <a:sym typeface="Lato"/>
              </a:rPr>
              <a:t>5. Basic Path Testing</a:t>
            </a:r>
            <a:endParaRPr sz="1800">
              <a:solidFill>
                <a:srgbClr val="4B4F58"/>
              </a:solidFill>
              <a:latin typeface="Lato"/>
              <a:ea typeface="Lato"/>
              <a:cs typeface="Lato"/>
              <a:sym typeface="Lato"/>
            </a:endParaRPr>
          </a:p>
          <a:p>
            <a:pPr indent="0" lvl="0" marL="0" rtl="0" algn="l">
              <a:lnSpc>
                <a:spcPct val="115000"/>
              </a:lnSpc>
              <a:spcBef>
                <a:spcPts val="800"/>
              </a:spcBef>
              <a:spcAft>
                <a:spcPts val="0"/>
              </a:spcAft>
              <a:buNone/>
            </a:pPr>
            <a:r>
              <a:rPr lang="en" sz="1800">
                <a:solidFill>
                  <a:srgbClr val="4B4F58"/>
                </a:solidFill>
                <a:latin typeface="Lato"/>
                <a:ea typeface="Lato"/>
                <a:cs typeface="Lato"/>
                <a:sym typeface="Lato"/>
              </a:rPr>
              <a:t>6. Loop Testing</a:t>
            </a:r>
            <a:endParaRPr sz="1800">
              <a:solidFill>
                <a:srgbClr val="4B4F58"/>
              </a:solidFill>
              <a:latin typeface="Lato"/>
              <a:ea typeface="Lato"/>
              <a:cs typeface="Lato"/>
              <a:sym typeface="Lato"/>
            </a:endParaRPr>
          </a:p>
          <a:p>
            <a:pPr indent="-342900" lvl="0" marL="914400" rtl="0" algn="l">
              <a:lnSpc>
                <a:spcPct val="115000"/>
              </a:lnSpc>
              <a:spcBef>
                <a:spcPts val="800"/>
              </a:spcBef>
              <a:spcAft>
                <a:spcPts val="0"/>
              </a:spcAft>
              <a:buClr>
                <a:srgbClr val="4B4F58"/>
              </a:buClr>
              <a:buSzPts val="1800"/>
              <a:buFont typeface="Lato"/>
              <a:buChar char="❏"/>
            </a:pPr>
            <a:r>
              <a:rPr lang="en" sz="1800">
                <a:solidFill>
                  <a:srgbClr val="4B4F58"/>
                </a:solidFill>
                <a:latin typeface="Lato"/>
                <a:ea typeface="Lato"/>
                <a:cs typeface="Lato"/>
                <a:sym typeface="Lato"/>
              </a:rPr>
              <a:t>Simple loops</a:t>
            </a:r>
            <a:endParaRPr sz="1800">
              <a:solidFill>
                <a:srgbClr val="4B4F58"/>
              </a:solidFill>
              <a:latin typeface="Lato"/>
              <a:ea typeface="Lato"/>
              <a:cs typeface="Lato"/>
              <a:sym typeface="Lato"/>
            </a:endParaRPr>
          </a:p>
          <a:p>
            <a:pPr indent="-342900" lvl="0" marL="9144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Nested loops</a:t>
            </a:r>
            <a:endParaRPr sz="1800">
              <a:solidFill>
                <a:srgbClr val="4B4F58"/>
              </a:solidFill>
              <a:latin typeface="Lato"/>
              <a:ea typeface="Lato"/>
              <a:cs typeface="Lato"/>
              <a:sym typeface="Lato"/>
            </a:endParaRPr>
          </a:p>
          <a:p>
            <a:pPr indent="-342900" lvl="0" marL="9144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Concatenated loops</a:t>
            </a:r>
            <a:endParaRPr sz="1800">
              <a:solidFill>
                <a:srgbClr val="4B4F58"/>
              </a:solidFill>
              <a:latin typeface="Lato"/>
              <a:ea typeface="Lato"/>
              <a:cs typeface="Lato"/>
              <a:sym typeface="Lato"/>
            </a:endParaRPr>
          </a:p>
        </p:txBody>
      </p:sp>
      <p:sp>
        <p:nvSpPr>
          <p:cNvPr id="155" name="Google Shape;155;p24"/>
          <p:cNvSpPr txBox="1"/>
          <p:nvPr/>
        </p:nvSpPr>
        <p:spPr>
          <a:xfrm>
            <a:off x="569875" y="3753150"/>
            <a:ext cx="7203900" cy="1320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4B4F58"/>
                </a:solidFill>
                <a:latin typeface="Lato"/>
                <a:ea typeface="Lato"/>
                <a:cs typeface="Lato"/>
                <a:sym typeface="Lato"/>
              </a:rPr>
              <a:t>White Testing is performed in 2 Steps;</a:t>
            </a:r>
            <a:endParaRPr b="1" sz="1800">
              <a:solidFill>
                <a:srgbClr val="4B4F58"/>
              </a:solidFill>
              <a:latin typeface="Lato"/>
              <a:ea typeface="Lato"/>
              <a:cs typeface="Lato"/>
              <a:sym typeface="Lato"/>
            </a:endParaRPr>
          </a:p>
          <a:p>
            <a:pPr indent="-314325" lvl="0" marL="685800" rtl="0" algn="l">
              <a:lnSpc>
                <a:spcPct val="158000"/>
              </a:lnSpc>
              <a:spcBef>
                <a:spcPts val="800"/>
              </a:spcBef>
              <a:spcAft>
                <a:spcPts val="0"/>
              </a:spcAft>
              <a:buClr>
                <a:srgbClr val="273239"/>
              </a:buClr>
              <a:buSzPts val="1350"/>
              <a:buFont typeface="Nunito"/>
              <a:buAutoNum type="arabicPeriod"/>
            </a:pPr>
            <a:r>
              <a:rPr lang="en" sz="1800">
                <a:solidFill>
                  <a:srgbClr val="4B4F58"/>
                </a:solidFill>
                <a:latin typeface="Lato"/>
                <a:ea typeface="Lato"/>
                <a:cs typeface="Lato"/>
                <a:sym typeface="Lato"/>
              </a:rPr>
              <a:t>Tester should understand the code well</a:t>
            </a:r>
            <a:endParaRPr sz="1800">
              <a:solidFill>
                <a:srgbClr val="4B4F58"/>
              </a:solidFill>
              <a:latin typeface="Lato"/>
              <a:ea typeface="Lato"/>
              <a:cs typeface="Lato"/>
              <a:sym typeface="Lato"/>
            </a:endParaRPr>
          </a:p>
          <a:p>
            <a:pPr indent="-314325" lvl="0" marL="685800" rtl="0" algn="l">
              <a:lnSpc>
                <a:spcPct val="158000"/>
              </a:lnSpc>
              <a:spcBef>
                <a:spcPts val="0"/>
              </a:spcBef>
              <a:spcAft>
                <a:spcPts val="0"/>
              </a:spcAft>
              <a:buClr>
                <a:srgbClr val="273239"/>
              </a:buClr>
              <a:buSzPts val="1350"/>
              <a:buFont typeface="Nunito"/>
              <a:buAutoNum type="arabicPeriod"/>
            </a:pPr>
            <a:r>
              <a:rPr lang="en" sz="1800">
                <a:solidFill>
                  <a:srgbClr val="4B4F58"/>
                </a:solidFill>
                <a:latin typeface="Lato"/>
                <a:ea typeface="Lato"/>
                <a:cs typeface="Lato"/>
                <a:sym typeface="Lato"/>
              </a:rPr>
              <a:t>Tester should write some code for test cases and execute them</a:t>
            </a:r>
            <a:endParaRPr sz="1800">
              <a:solidFill>
                <a:srgbClr val="4B4F58"/>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Tools required for White box testing:</a:t>
            </a:r>
            <a:endParaRPr/>
          </a:p>
        </p:txBody>
      </p:sp>
      <p:sp>
        <p:nvSpPr>
          <p:cNvPr id="161" name="Google Shape;161;p25"/>
          <p:cNvSpPr txBox="1"/>
          <p:nvPr/>
        </p:nvSpPr>
        <p:spPr>
          <a:xfrm>
            <a:off x="860050" y="1311900"/>
            <a:ext cx="2864100" cy="3113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PyUnit</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Sqlmap</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Nmap</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Parasoft Jtest</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Nunit</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VeraUnit</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CppUnit</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Bugzilla</a:t>
            </a:r>
            <a:endParaRPr sz="1800">
              <a:solidFill>
                <a:srgbClr val="4B4F58"/>
              </a:solidFill>
              <a:latin typeface="Lato"/>
              <a:ea typeface="Lato"/>
              <a:cs typeface="Lato"/>
              <a:sym typeface="Lato"/>
            </a:endParaRPr>
          </a:p>
          <a:p>
            <a:pPr indent="0" lvl="0" marL="0" rtl="0" algn="l">
              <a:lnSpc>
                <a:spcPct val="115000"/>
              </a:lnSpc>
              <a:spcBef>
                <a:spcPts val="800"/>
              </a:spcBef>
              <a:spcAft>
                <a:spcPts val="800"/>
              </a:spcAft>
              <a:buNone/>
            </a:pPr>
            <a:r>
              <a:t/>
            </a:r>
            <a:endParaRPr sz="1800">
              <a:solidFill>
                <a:srgbClr val="4B4F58"/>
              </a:solidFill>
              <a:latin typeface="Lato"/>
              <a:ea typeface="Lato"/>
              <a:cs typeface="Lato"/>
              <a:sym typeface="Lato"/>
            </a:endParaRPr>
          </a:p>
        </p:txBody>
      </p:sp>
      <p:sp>
        <p:nvSpPr>
          <p:cNvPr id="162" name="Google Shape;162;p25"/>
          <p:cNvSpPr txBox="1"/>
          <p:nvPr/>
        </p:nvSpPr>
        <p:spPr>
          <a:xfrm>
            <a:off x="4295975" y="1287750"/>
            <a:ext cx="3000000" cy="2055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Fiddler</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JSUnit.net</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OpenGrok</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Wireshark</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HP Fortify</a:t>
            </a:r>
            <a:endParaRPr sz="1800">
              <a:solidFill>
                <a:srgbClr val="4B4F58"/>
              </a:solidFill>
              <a:latin typeface="Lato"/>
              <a:ea typeface="Lato"/>
              <a:cs typeface="Lato"/>
              <a:sym typeface="Lato"/>
            </a:endParaRPr>
          </a:p>
          <a:p>
            <a:pPr indent="-342900" lvl="0" marL="457200" rtl="0" algn="l">
              <a:lnSpc>
                <a:spcPct val="115000"/>
              </a:lnSpc>
              <a:spcBef>
                <a:spcPts val="0"/>
              </a:spcBef>
              <a:spcAft>
                <a:spcPts val="0"/>
              </a:spcAft>
              <a:buClr>
                <a:srgbClr val="4B4F58"/>
              </a:buClr>
              <a:buSzPts val="1800"/>
              <a:buFont typeface="Lato"/>
              <a:buChar char="●"/>
            </a:pPr>
            <a:r>
              <a:rPr lang="en" sz="1800">
                <a:solidFill>
                  <a:srgbClr val="4B4F58"/>
                </a:solidFill>
                <a:latin typeface="Lato"/>
                <a:ea typeface="Lato"/>
                <a:cs typeface="Lato"/>
                <a:sym typeface="Lato"/>
              </a:rPr>
              <a:t>CSUnit</a:t>
            </a:r>
            <a:endParaRPr sz="1800">
              <a:solidFill>
                <a:srgbClr val="4B4F58"/>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of White box Testing</a:t>
            </a:r>
            <a:r>
              <a:rPr lang="en"/>
              <a:t>:</a:t>
            </a:r>
            <a:endParaRPr/>
          </a:p>
        </p:txBody>
      </p:sp>
      <p:sp>
        <p:nvSpPr>
          <p:cNvPr id="168" name="Google Shape;168;p26"/>
          <p:cNvSpPr txBox="1"/>
          <p:nvPr/>
        </p:nvSpPr>
        <p:spPr>
          <a:xfrm>
            <a:off x="860050" y="1311900"/>
            <a:ext cx="7558200" cy="3601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Code coverage analysis</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Access to the source code</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Knowledge of programming languages</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Identifying logical errors</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Integration testing</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Unit testing</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Optimization of code</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Security testing</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Verification of Design</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Check for Accurate Code</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Identifying Coding Mistakes</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Path Examination</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Determining the Dead Code</a:t>
            </a:r>
            <a:endParaRPr sz="1500">
              <a:solidFill>
                <a:srgbClr val="4B4F58"/>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of Whitebox Testing</a:t>
            </a:r>
            <a:r>
              <a:rPr lang="en"/>
              <a:t>:</a:t>
            </a:r>
            <a:endParaRPr/>
          </a:p>
        </p:txBody>
      </p:sp>
      <p:sp>
        <p:nvSpPr>
          <p:cNvPr id="174" name="Google Shape;174;p27"/>
          <p:cNvSpPr txBox="1"/>
          <p:nvPr/>
        </p:nvSpPr>
        <p:spPr>
          <a:xfrm>
            <a:off x="860050" y="1311900"/>
            <a:ext cx="7558200" cy="2274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Thorough Testing:</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Code Optimization: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Early Detection of Defects: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Integration with SDLC: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Detection of Complex Defects: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Comprehensive Test Cases: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Testers can ensure that the code meets coding standards and is optimized for performance.</a:t>
            </a:r>
            <a:endParaRPr sz="1500">
              <a:solidFill>
                <a:srgbClr val="4B4F58"/>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729450" y="646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Disadvantages of White box Testing</a:t>
            </a:r>
            <a:r>
              <a:rPr lang="en"/>
              <a:t>:</a:t>
            </a:r>
            <a:endParaRPr/>
          </a:p>
        </p:txBody>
      </p:sp>
      <p:sp>
        <p:nvSpPr>
          <p:cNvPr id="180" name="Google Shape;180;p28"/>
          <p:cNvSpPr txBox="1"/>
          <p:nvPr/>
        </p:nvSpPr>
        <p:spPr>
          <a:xfrm>
            <a:off x="860050" y="1311900"/>
            <a:ext cx="7558200" cy="2008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Programming Knowledge and Source Code Access: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Overemphasis on Internal Workings: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Bias in Testing: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Test Case Overhead: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Dependency on Tester Expertise: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Inability to Detect Missing Functionalities: </a:t>
            </a:r>
            <a:endParaRPr sz="1500">
              <a:solidFill>
                <a:srgbClr val="4B4F58"/>
              </a:solidFill>
              <a:latin typeface="Lato"/>
              <a:ea typeface="Lato"/>
              <a:cs typeface="Lato"/>
              <a:sym typeface="Lato"/>
            </a:endParaRPr>
          </a:p>
          <a:p>
            <a:pPr indent="-323850" lvl="0" marL="457200" rtl="0" algn="l">
              <a:lnSpc>
                <a:spcPct val="115000"/>
              </a:lnSpc>
              <a:spcBef>
                <a:spcPts val="0"/>
              </a:spcBef>
              <a:spcAft>
                <a:spcPts val="0"/>
              </a:spcAft>
              <a:buClr>
                <a:srgbClr val="4B4F58"/>
              </a:buClr>
              <a:buSzPts val="1500"/>
              <a:buFont typeface="Lato"/>
              <a:buChar char="●"/>
            </a:pPr>
            <a:r>
              <a:rPr lang="en" sz="1500">
                <a:solidFill>
                  <a:srgbClr val="4B4F58"/>
                </a:solidFill>
                <a:latin typeface="Lato"/>
                <a:ea typeface="Lato"/>
                <a:cs typeface="Lato"/>
                <a:sym typeface="Lato"/>
              </a:rPr>
              <a:t>Increased Production Errors: </a:t>
            </a:r>
            <a:endParaRPr sz="1500">
              <a:solidFill>
                <a:srgbClr val="4B4F58"/>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9"/>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86" name="Google Shape;186;p29"/>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