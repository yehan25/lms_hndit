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0"/>
  </p:notesMasterIdLst>
  <p:handoutMasterIdLst>
    <p:handoutMasterId r:id="rId21"/>
  </p:handoutMasterIdLst>
  <p:sldIdLst>
    <p:sldId id="266" r:id="rId2"/>
    <p:sldId id="288" r:id="rId3"/>
    <p:sldId id="278" r:id="rId4"/>
    <p:sldId id="267" r:id="rId5"/>
    <p:sldId id="268" r:id="rId6"/>
    <p:sldId id="280" r:id="rId7"/>
    <p:sldId id="279" r:id="rId8"/>
    <p:sldId id="281" r:id="rId9"/>
    <p:sldId id="284" r:id="rId10"/>
    <p:sldId id="283" r:id="rId11"/>
    <p:sldId id="285" r:id="rId12"/>
    <p:sldId id="282" r:id="rId13"/>
    <p:sldId id="289" r:id="rId14"/>
    <p:sldId id="290" r:id="rId15"/>
    <p:sldId id="291" r:id="rId16"/>
    <p:sldId id="292" r:id="rId17"/>
    <p:sldId id="286" r:id="rId18"/>
    <p:sldId id="270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94660"/>
  </p:normalViewPr>
  <p:slideViewPr>
    <p:cSldViewPr>
      <p:cViewPr varScale="1">
        <p:scale>
          <a:sx n="83" d="100"/>
          <a:sy n="83" d="100"/>
        </p:scale>
        <p:origin x="145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 dirty="0"/>
              <a:t>10/30/2017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err="1"/>
              <a:t>Janaka</a:t>
            </a:r>
            <a:r>
              <a:rPr lang="en-US" dirty="0"/>
              <a:t> </a:t>
            </a:r>
            <a:r>
              <a:rPr lang="en-US" dirty="0" err="1"/>
              <a:t>Rajakaruna</a:t>
            </a:r>
            <a:r>
              <a:rPr lang="en-US" dirty="0"/>
              <a:t> –ATI, </a:t>
            </a:r>
            <a:r>
              <a:rPr lang="en-US" dirty="0" err="1"/>
              <a:t>Dehiwala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2A269-7B69-4BF1-9596-5810FCB20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0097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96D030-A517-4755-842F-F0344B6BC535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061362-0E92-40F3-9F4C-C8E58336F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620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84EAC3-4C14-4605-A30A-D574BA5D5FA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34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E0067-C206-4C92-BFFA-60D34B2EA0C0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F20F-9AE3-419A-821D-602EAF11E961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7C41E-EBD2-42B3-9CB6-03756827793F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6AC2-9105-457B-B0FC-293712EB24A9}" type="datetime1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AB696-F69B-4C33-9D90-C896CCF76C8C}" type="datetime1">
              <a:rPr lang="en-US" smtClean="0"/>
              <a:t>3/18/2024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D6169-F6DF-4EA9-BC57-A034BAF002AE}" type="datetime1">
              <a:rPr lang="en-US" smtClean="0"/>
              <a:t>3/18/2024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40AD-42C1-4BFC-8638-1CFB8B7E5B0A}" type="datetime1">
              <a:rPr lang="en-US" smtClean="0"/>
              <a:t>3/18/2024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E336D-67E7-40AA-A437-CABD2C391E70}" type="datetime1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99A40-9FB4-4368-B542-516D39F011E5}" type="datetime1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2F3B0-F1DB-4154-B049-F065B767EE07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259A6-51DA-4526-A6B0-7DB4AB0C481E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F7698-6A49-450E-BBCB-2751A7E4C20B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/>
              <a:t>Expressions and Operators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HNDIT2012 Fundamentals of Computer Programming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9142" y="1302626"/>
            <a:ext cx="6447501" cy="990600"/>
          </a:xfrm>
        </p:spPr>
        <p:txBody>
          <a:bodyPr/>
          <a:lstStyle/>
          <a:p>
            <a:r>
              <a:rPr lang="en-US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2133600"/>
            <a:ext cx="4419600" cy="3257550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Assignment Operators</a:t>
            </a:r>
          </a:p>
          <a:p>
            <a:r>
              <a:rPr lang="en-US" dirty="0"/>
              <a:t>Arithmetic Operators</a:t>
            </a:r>
          </a:p>
          <a:p>
            <a:r>
              <a:rPr lang="en-US" dirty="0"/>
              <a:t>Relational Operators</a:t>
            </a:r>
          </a:p>
          <a:p>
            <a:r>
              <a:rPr lang="en-US" dirty="0"/>
              <a:t>Bitwise Operators</a:t>
            </a:r>
          </a:p>
          <a:p>
            <a:r>
              <a:rPr lang="en-US" dirty="0"/>
              <a:t>Logical Operators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43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85900" y="1257300"/>
            <a:ext cx="6172200" cy="742950"/>
          </a:xfrm>
        </p:spPr>
        <p:txBody>
          <a:bodyPr>
            <a:normAutofit fontScale="90000"/>
          </a:bodyPr>
          <a:lstStyle/>
          <a:p>
            <a:r>
              <a:rPr b="1"/>
              <a:t>Assignment Operator (=)</a:t>
            </a:r>
            <a:br>
              <a:rPr b="1"/>
            </a:b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501" y="1828800"/>
            <a:ext cx="5918297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92528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272005"/>
              </p:ext>
            </p:extLst>
          </p:nvPr>
        </p:nvGraphicFramePr>
        <p:xfrm>
          <a:off x="1524000" y="2057400"/>
          <a:ext cx="60960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Operator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+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Additive operator (also used for String concatenation)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-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Subtraction operator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*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Multiplication operator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/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Division operator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%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Remainder operator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++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Increment operator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--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Decrement operator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209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Precedence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1396673"/>
              </p:ext>
            </p:extLst>
          </p:nvPr>
        </p:nvGraphicFramePr>
        <p:xfrm>
          <a:off x="2438400" y="2477687"/>
          <a:ext cx="5257800" cy="951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57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5307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489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75656">
                <a:tc>
                  <a:txBody>
                    <a:bodyPr/>
                    <a:lstStyle/>
                    <a:p>
                      <a:r>
                        <a:rPr lang="en-US" sz="2400" b="1" dirty="0"/>
                        <a:t>*</a:t>
                      </a:r>
                    </a:p>
                  </a:txBody>
                  <a:tcPr marL="274879" marR="274879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/</a:t>
                      </a:r>
                    </a:p>
                  </a:txBody>
                  <a:tcPr marL="274879" marR="274879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%</a:t>
                      </a:r>
                    </a:p>
                  </a:txBody>
                  <a:tcPr marL="274879" marR="274879" marT="34290" marB="3429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5656">
                <a:tc>
                  <a:txBody>
                    <a:bodyPr/>
                    <a:lstStyle/>
                    <a:p>
                      <a:r>
                        <a:rPr lang="en-US" sz="2400" b="1" dirty="0"/>
                        <a:t>+</a:t>
                      </a:r>
                    </a:p>
                  </a:txBody>
                  <a:tcPr marL="274879" marR="274879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</a:p>
                  </a:txBody>
                  <a:tcPr marL="274879" marR="274879" marT="34290" marB="34290"/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 marL="274879" marR="274879" marT="34290" marB="3429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362199" y="3730536"/>
            <a:ext cx="5715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Gill Sans MT" panose="020B0502020104020203" pitchFamily="34" charset="0"/>
              </a:rPr>
              <a:t>When operators of equal precedence appear in the same expression they are evaluated from left to right;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40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 Operator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508397" y="2477691"/>
          <a:ext cx="6716152" cy="3144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807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5807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53162">
                <a:tc>
                  <a:txBody>
                    <a:bodyPr/>
                    <a:lstStyle/>
                    <a:p>
                      <a:r>
                        <a:rPr lang="en-US" sz="1400" dirty="0"/>
                        <a:t>Pre Increment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Post Increment</a:t>
                      </a:r>
                    </a:p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91525">
                <a:tc>
                  <a:txBody>
                    <a:bodyPr/>
                    <a:lstStyle/>
                    <a:p>
                      <a:r>
                        <a:rPr lang="en-US" sz="1400" dirty="0" err="1"/>
                        <a:t>int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x,y</a:t>
                      </a:r>
                      <a:r>
                        <a:rPr lang="en-US" sz="1400" dirty="0"/>
                        <a:t>;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x= 5;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y = ++x;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 err="1"/>
                        <a:t>System.out.println</a:t>
                      </a:r>
                      <a:r>
                        <a:rPr lang="en-US" sz="1400" dirty="0"/>
                        <a:t> (“x = “</a:t>
                      </a:r>
                      <a:r>
                        <a:rPr lang="en-US" sz="1400" baseline="0" dirty="0"/>
                        <a:t> + x);</a:t>
                      </a:r>
                    </a:p>
                    <a:p>
                      <a:endParaRPr lang="en-US" sz="1400" baseline="0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System.out.println</a:t>
                      </a:r>
                      <a:r>
                        <a:rPr lang="en-US" sz="1400" dirty="0"/>
                        <a:t> (“y = “</a:t>
                      </a:r>
                      <a:r>
                        <a:rPr lang="en-US" sz="1400" baseline="0" dirty="0"/>
                        <a:t> + y);</a:t>
                      </a:r>
                      <a:endParaRPr lang="en-US" sz="1400" dirty="0"/>
                    </a:p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int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x,y</a:t>
                      </a:r>
                      <a:r>
                        <a:rPr lang="en-US" sz="1400" dirty="0"/>
                        <a:t>;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x= 5;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y = x++;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 err="1"/>
                        <a:t>System.out.println</a:t>
                      </a:r>
                      <a:r>
                        <a:rPr lang="en-US" sz="1400" dirty="0"/>
                        <a:t> (“x = “</a:t>
                      </a:r>
                      <a:r>
                        <a:rPr lang="en-US" sz="1400" baseline="0" dirty="0"/>
                        <a:t> + x);</a:t>
                      </a:r>
                    </a:p>
                    <a:p>
                      <a:endParaRPr lang="en-US" sz="1400" baseline="0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System.out.println</a:t>
                      </a:r>
                      <a:r>
                        <a:rPr lang="en-US" sz="1400" dirty="0"/>
                        <a:t> (“y = “</a:t>
                      </a:r>
                      <a:r>
                        <a:rPr lang="en-US" sz="1400" baseline="0" dirty="0"/>
                        <a:t> + y);</a:t>
                      </a:r>
                      <a:endParaRPr lang="en-US" sz="1400" dirty="0"/>
                    </a:p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5" name="Oval Callout 4"/>
          <p:cNvSpPr/>
          <p:nvPr/>
        </p:nvSpPr>
        <p:spPr>
          <a:xfrm>
            <a:off x="1217887" y="3529506"/>
            <a:ext cx="1146941" cy="508438"/>
          </a:xfrm>
          <a:prstGeom prst="wedgeEllipseCallout">
            <a:avLst>
              <a:gd name="adj1" fmla="val -49699"/>
              <a:gd name="adj2" fmla="val 531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x=x+1;</a:t>
            </a:r>
          </a:p>
          <a:p>
            <a:pPr algn="ctr"/>
            <a:r>
              <a:rPr lang="en-US" sz="1350" dirty="0"/>
              <a:t>y=x;</a:t>
            </a:r>
          </a:p>
        </p:txBody>
      </p:sp>
      <p:sp>
        <p:nvSpPr>
          <p:cNvPr id="6" name="Oval Callout 5"/>
          <p:cNvSpPr/>
          <p:nvPr/>
        </p:nvSpPr>
        <p:spPr>
          <a:xfrm>
            <a:off x="4560177" y="3529505"/>
            <a:ext cx="1146941" cy="508438"/>
          </a:xfrm>
          <a:prstGeom prst="wedgeEllipseCallout">
            <a:avLst>
              <a:gd name="adj1" fmla="val -49699"/>
              <a:gd name="adj2" fmla="val 531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y=x;</a:t>
            </a:r>
          </a:p>
          <a:p>
            <a:pPr algn="ctr"/>
            <a:r>
              <a:rPr lang="en-US" sz="1350" dirty="0"/>
              <a:t>x=x+1;</a:t>
            </a:r>
          </a:p>
        </p:txBody>
      </p:sp>
    </p:spTree>
    <p:extLst>
      <p:ext uri="{BB962C8B-B14F-4D97-AF65-F5344CB8AC3E}">
        <p14:creationId xmlns:p14="http://schemas.microsoft.com/office/powerpoint/2010/main" val="1508569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the output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582" t="54089" r="30279" b="26355"/>
          <a:stretch/>
        </p:blipFill>
        <p:spPr>
          <a:xfrm>
            <a:off x="381786" y="2686050"/>
            <a:ext cx="8393042" cy="209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244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85900" y="971550"/>
            <a:ext cx="6172200" cy="571500"/>
          </a:xfrm>
        </p:spPr>
        <p:txBody>
          <a:bodyPr>
            <a:normAutofit fontScale="90000"/>
          </a:bodyPr>
          <a:lstStyle/>
          <a:p>
            <a:r>
              <a:rPr b="1"/>
              <a:t>Relational Operators</a:t>
            </a:r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3052" y="1714500"/>
            <a:ext cx="6203891" cy="348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68407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Which of the following are relational expressions in Java?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 == 3</a:t>
            </a:r>
          </a:p>
          <a:p>
            <a:r>
              <a:rPr lang="en-US" dirty="0"/>
              <a:t>x = 3</a:t>
            </a:r>
          </a:p>
          <a:p>
            <a:r>
              <a:rPr lang="en-US" dirty="0"/>
              <a:t>x &gt;= 3</a:t>
            </a:r>
          </a:p>
          <a:p>
            <a:r>
              <a:rPr lang="en-US" dirty="0"/>
              <a:t>x * 3</a:t>
            </a:r>
          </a:p>
          <a:p>
            <a:r>
              <a:rPr lang="en-US" dirty="0"/>
              <a:t>3 &lt; x</a:t>
            </a:r>
          </a:p>
          <a:p>
            <a:r>
              <a:rPr lang="en-US" dirty="0"/>
              <a:t>x - 3 &lt;= 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346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2200" dirty="0" smtClean="0"/>
              <a:t>For </a:t>
            </a:r>
            <a:r>
              <a:rPr lang="en-US" sz="2200" dirty="0"/>
              <a:t>each of the following statements, assign variable names for the unknowns and rewrite the statements as relational expressions.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3233" y="2857500"/>
            <a:ext cx="7514035" cy="3143251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A customer's age is 65 or more.</a:t>
            </a:r>
          </a:p>
          <a:p>
            <a:pPr>
              <a:lnSpc>
                <a:spcPct val="120000"/>
              </a:lnSpc>
            </a:pPr>
            <a:r>
              <a:rPr lang="en-US" dirty="0"/>
              <a:t>The temperature is less than 0 degrees.</a:t>
            </a:r>
          </a:p>
          <a:p>
            <a:pPr>
              <a:lnSpc>
                <a:spcPct val="120000"/>
              </a:lnSpc>
            </a:pPr>
            <a:r>
              <a:rPr lang="en-US" dirty="0"/>
              <a:t>A person's height is over 6 feet.</a:t>
            </a:r>
          </a:p>
          <a:p>
            <a:pPr>
              <a:lnSpc>
                <a:spcPct val="120000"/>
              </a:lnSpc>
            </a:pPr>
            <a:r>
              <a:rPr lang="en-US" dirty="0"/>
              <a:t>The current month is 12 (December).</a:t>
            </a:r>
          </a:p>
          <a:p>
            <a:pPr>
              <a:lnSpc>
                <a:spcPct val="120000"/>
              </a:lnSpc>
            </a:pPr>
            <a:r>
              <a:rPr lang="en-US" dirty="0"/>
              <a:t>A person is older than 55 or has been at the company for more than 25 years.</a:t>
            </a:r>
          </a:p>
          <a:p>
            <a:pPr>
              <a:lnSpc>
                <a:spcPct val="120000"/>
              </a:lnSpc>
            </a:pPr>
            <a:r>
              <a:rPr lang="en-US" dirty="0"/>
              <a:t>A width of a wall is less than 4 </a:t>
            </a:r>
            <a:r>
              <a:rPr lang="en-US" dirty="0" smtClean="0"/>
              <a:t>meters </a:t>
            </a:r>
            <a:r>
              <a:rPr lang="en-US" dirty="0"/>
              <a:t>but more than 3 </a:t>
            </a:r>
            <a:r>
              <a:rPr lang="en-US" dirty="0" smtClean="0"/>
              <a:t>meters.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An employee's department number is less than 500 but greater than 1, and they've been at the company more than 25 years.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415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Logical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6730" y="5076824"/>
            <a:ext cx="7512078" cy="2343151"/>
          </a:xfrm>
        </p:spPr>
        <p:txBody>
          <a:bodyPr/>
          <a:lstStyle/>
          <a:p>
            <a:r>
              <a:rPr lang="en-US" dirty="0"/>
              <a:t>short circuit logical operators evaluate second expression only if that is needed.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600200"/>
            <a:ext cx="613012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34609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Given that a = 5, b = 2, c = 4, and d = 5, what is the result of each of the following Java expression?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a == 5</a:t>
            </a:r>
          </a:p>
          <a:p>
            <a:r>
              <a:rPr lang="en-US" sz="3000" dirty="0"/>
              <a:t>b * d == c * c</a:t>
            </a:r>
          </a:p>
          <a:p>
            <a:r>
              <a:rPr lang="en-US" sz="3000" dirty="0"/>
              <a:t>d % b * c &gt; 5 || c % b * d &lt; 7</a:t>
            </a:r>
          </a:p>
          <a:p>
            <a:r>
              <a:rPr lang="en-US" sz="3000" dirty="0"/>
              <a:t>d % b * c &gt; 5 &amp;&amp; c % b * d &lt; 7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732519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85900" y="971550"/>
            <a:ext cx="6172200" cy="685800"/>
          </a:xfrm>
        </p:spPr>
        <p:txBody>
          <a:bodyPr>
            <a:normAutofit fontScale="90000"/>
          </a:bodyPr>
          <a:lstStyle/>
          <a:p>
            <a:r>
              <a:rPr b="1"/>
              <a:t>Bitwise Operators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85900" y="2000250"/>
            <a:ext cx="6172200" cy="51435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Acts on individual bits of an integer</a:t>
            </a:r>
          </a:p>
          <a:p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71650" y="2400300"/>
            <a:ext cx="5200650" cy="3024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268237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508398" y="2477691"/>
          <a:ext cx="1298524" cy="140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2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3633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p&amp;q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2242605" y="2477691"/>
          <a:ext cx="1298524" cy="140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2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3633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p|q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/>
          </p:nvPr>
        </p:nvGraphicFramePr>
        <p:xfrm>
          <a:off x="4083229" y="2477691"/>
          <a:ext cx="1298524" cy="140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2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3633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q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p^q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/>
          </p:nvPr>
        </p:nvGraphicFramePr>
        <p:xfrm>
          <a:off x="5722876" y="2477691"/>
          <a:ext cx="955624" cy="84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2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63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~p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189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212" r="43816"/>
          <a:stretch/>
        </p:blipFill>
        <p:spPr bwMode="auto">
          <a:xfrm>
            <a:off x="648393" y="2035579"/>
            <a:ext cx="7763135" cy="3352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Shift Operators</a:t>
            </a:r>
          </a:p>
        </p:txBody>
      </p:sp>
    </p:spTree>
    <p:extLst>
      <p:ext uri="{BB962C8B-B14F-4D97-AF65-F5344CB8AC3E}">
        <p14:creationId xmlns:p14="http://schemas.microsoft.com/office/powerpoint/2010/main" val="1251872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33400"/>
            <a:ext cx="7728437" cy="56890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class Test {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	public </a:t>
            </a:r>
            <a:r>
              <a:rPr lang="en-US" sz="1800" dirty="0"/>
              <a:t>static void main(String </a:t>
            </a:r>
            <a:r>
              <a:rPr lang="en-US" sz="1800" dirty="0" err="1"/>
              <a:t>args</a:t>
            </a:r>
            <a:r>
              <a:rPr lang="en-US" sz="1800" dirty="0"/>
              <a:t>[]) {</a:t>
            </a:r>
          </a:p>
          <a:p>
            <a:pPr marL="0" indent="0">
              <a:buNone/>
            </a:pPr>
            <a:r>
              <a:rPr lang="en-US" sz="1800" dirty="0"/>
              <a:t>     </a:t>
            </a:r>
            <a:r>
              <a:rPr lang="en-US" sz="1800" dirty="0" smtClean="0"/>
              <a:t>		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/>
              <a:t>a = 60;	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 smtClean="0"/>
              <a:t>		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/>
              <a:t>b = 13;	</a:t>
            </a:r>
          </a:p>
          <a:p>
            <a:pPr marL="0" indent="0">
              <a:buNone/>
            </a:pPr>
            <a:r>
              <a:rPr lang="en-US" sz="1800" dirty="0"/>
              <a:t>     </a:t>
            </a:r>
            <a:r>
              <a:rPr lang="en-US" sz="1800" dirty="0" smtClean="0"/>
              <a:t>		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/>
              <a:t>c = 0;</a:t>
            </a:r>
          </a:p>
          <a:p>
            <a:pPr marL="0" indent="0">
              <a:buNone/>
            </a:pPr>
            <a:r>
              <a:rPr lang="en-US" sz="1800" dirty="0"/>
              <a:t>     </a:t>
            </a:r>
            <a:r>
              <a:rPr lang="en-US" sz="1800" dirty="0" smtClean="0"/>
              <a:t>		c </a:t>
            </a:r>
            <a:r>
              <a:rPr lang="en-US" sz="1800" dirty="0"/>
              <a:t>= a &amp; b;       </a:t>
            </a:r>
          </a:p>
          <a:p>
            <a:pPr marL="0" indent="0">
              <a:buNone/>
            </a:pPr>
            <a:r>
              <a:rPr lang="en-US" sz="1800" dirty="0"/>
              <a:t>     </a:t>
            </a:r>
            <a:r>
              <a:rPr lang="en-US" sz="1800" dirty="0" smtClean="0"/>
              <a:t>		</a:t>
            </a:r>
            <a:r>
              <a:rPr lang="en-US" sz="1800" dirty="0" err="1" smtClean="0"/>
              <a:t>System.out.println</a:t>
            </a:r>
            <a:r>
              <a:rPr lang="en-US" sz="1800" dirty="0"/>
              <a:t>("a &amp; b = " + c );</a:t>
            </a:r>
          </a:p>
          <a:p>
            <a:pPr marL="0" indent="0">
              <a:buNone/>
            </a:pPr>
            <a:r>
              <a:rPr lang="en-US" sz="1800" dirty="0"/>
              <a:t>     </a:t>
            </a:r>
            <a:r>
              <a:rPr lang="en-US" sz="1800" dirty="0" smtClean="0"/>
              <a:t>		c </a:t>
            </a:r>
            <a:r>
              <a:rPr lang="en-US" sz="1800" dirty="0"/>
              <a:t>= a | b; </a:t>
            </a:r>
          </a:p>
          <a:p>
            <a:pPr marL="0" indent="0">
              <a:buNone/>
            </a:pPr>
            <a:r>
              <a:rPr lang="en-US" sz="1800" dirty="0" smtClean="0"/>
              <a:t>		</a:t>
            </a:r>
            <a:r>
              <a:rPr lang="en-US" sz="1800" dirty="0" err="1" smtClean="0"/>
              <a:t>System.out.println</a:t>
            </a:r>
            <a:r>
              <a:rPr lang="en-US" sz="1800" dirty="0"/>
              <a:t>("a | b = " + c );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 smtClean="0"/>
              <a:t>		c </a:t>
            </a:r>
            <a:r>
              <a:rPr lang="en-US" sz="1800" dirty="0"/>
              <a:t>= a ^ b; </a:t>
            </a:r>
          </a:p>
          <a:p>
            <a:pPr marL="0" indent="0">
              <a:buNone/>
            </a:pPr>
            <a:r>
              <a:rPr lang="en-US" sz="1800" dirty="0" smtClean="0"/>
              <a:t>		</a:t>
            </a:r>
            <a:r>
              <a:rPr lang="en-US" sz="1800" dirty="0" err="1" smtClean="0"/>
              <a:t>System.out.println</a:t>
            </a:r>
            <a:r>
              <a:rPr lang="en-US" sz="1800" dirty="0"/>
              <a:t>("a ^ b = " + c );</a:t>
            </a:r>
          </a:p>
          <a:p>
            <a:pPr marL="0" indent="0">
              <a:buNone/>
            </a:pPr>
            <a:r>
              <a:rPr lang="en-US" sz="1800" dirty="0"/>
              <a:t>     </a:t>
            </a:r>
            <a:r>
              <a:rPr lang="en-US" sz="1800" dirty="0" smtClean="0"/>
              <a:t>		c </a:t>
            </a:r>
            <a:r>
              <a:rPr lang="en-US" sz="1800" dirty="0"/>
              <a:t>= ~a; </a:t>
            </a:r>
          </a:p>
          <a:p>
            <a:pPr marL="0" indent="0">
              <a:buNone/>
            </a:pPr>
            <a:r>
              <a:rPr lang="en-US" sz="1800" dirty="0" smtClean="0"/>
              <a:t>		</a:t>
            </a:r>
            <a:r>
              <a:rPr lang="en-US" sz="1800" dirty="0" err="1" smtClean="0"/>
              <a:t>System.out.println</a:t>
            </a:r>
            <a:r>
              <a:rPr lang="en-US" sz="1800" dirty="0"/>
              <a:t>("~a = " + c );</a:t>
            </a:r>
          </a:p>
          <a:p>
            <a:pPr marL="0" indent="0">
              <a:buNone/>
            </a:pPr>
            <a:r>
              <a:rPr lang="en-US" sz="1800" dirty="0"/>
              <a:t>     </a:t>
            </a:r>
            <a:r>
              <a:rPr lang="en-US" sz="1800" dirty="0" smtClean="0"/>
              <a:t>		c </a:t>
            </a:r>
            <a:r>
              <a:rPr lang="en-US" sz="1800" dirty="0"/>
              <a:t>= a &lt;&lt; 2;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 smtClean="0"/>
              <a:t>		</a:t>
            </a:r>
            <a:r>
              <a:rPr lang="en-US" sz="1800" dirty="0" err="1" smtClean="0"/>
              <a:t>System.out.println</a:t>
            </a:r>
            <a:r>
              <a:rPr lang="en-US" sz="1800" dirty="0"/>
              <a:t>("a &lt;&lt; 2 = " + c );</a:t>
            </a:r>
          </a:p>
          <a:p>
            <a:pPr marL="0" indent="0">
              <a:buNone/>
            </a:pPr>
            <a:r>
              <a:rPr lang="en-US" sz="1800" dirty="0"/>
              <a:t>     </a:t>
            </a:r>
            <a:r>
              <a:rPr lang="en-US" sz="1800" dirty="0" smtClean="0"/>
              <a:t>		c </a:t>
            </a:r>
            <a:r>
              <a:rPr lang="en-US" sz="1800" dirty="0"/>
              <a:t>= a &gt;&gt; 2; </a:t>
            </a:r>
          </a:p>
          <a:p>
            <a:pPr marL="0" indent="0">
              <a:buNone/>
            </a:pPr>
            <a:r>
              <a:rPr lang="en-US" sz="1800" dirty="0" smtClean="0"/>
              <a:t>		</a:t>
            </a:r>
            <a:r>
              <a:rPr lang="en-US" sz="1800" dirty="0" err="1" smtClean="0"/>
              <a:t>System.out.println</a:t>
            </a:r>
            <a:r>
              <a:rPr lang="en-US" sz="1800" dirty="0"/>
              <a:t>("a &gt;&gt; 2  = " + c );</a:t>
            </a:r>
          </a:p>
          <a:p>
            <a:pPr marL="0" indent="0">
              <a:buNone/>
            </a:pPr>
            <a:r>
              <a:rPr lang="en-US" sz="1800" dirty="0" smtClean="0"/>
              <a:t>	}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49413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5FFD810-C661-419B-93E8-384119AD6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3A8CA36-4FAD-43C0-A8D0-C1C06F843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1F90F0D-5409-4D3F-8F2A-D4A6511A2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026" name="Picture 2" descr="Operator Precedence Operators Precedence Parentheses () unary - ppt download">
            <a:extLst>
              <a:ext uri="{FF2B5EF4-FFF2-40B4-BE49-F238E27FC236}">
                <a16:creationId xmlns:a16="http://schemas.microsoft.com/office/drawing/2014/main" xmlns="" id="{AA6C44A7-26A4-4A17-83C4-DB455FA72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0960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5241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713345"/>
                <a:ext cx="7572666" cy="4726371"/>
              </a:xfrm>
            </p:spPr>
            <p:txBody>
              <a:bodyPr>
                <a:normAutofit fontScale="62500" lnSpcReduction="20000"/>
              </a:bodyPr>
              <a:lstStyle/>
              <a:p>
                <a:endParaRPr lang="en-US" dirty="0"/>
              </a:p>
              <a:p>
                <a:r>
                  <a:rPr lang="en-US" dirty="0" smtClean="0"/>
                  <a:t>Write </a:t>
                </a:r>
                <a:r>
                  <a:rPr lang="en-US" dirty="0"/>
                  <a:t>a program to convert the distance given in m to km and m</a:t>
                </a:r>
              </a:p>
              <a:p>
                <a:r>
                  <a:rPr lang="en-US" dirty="0" smtClean="0"/>
                  <a:t>Write </a:t>
                </a:r>
                <a:r>
                  <a:rPr lang="en-US" dirty="0"/>
                  <a:t>a program to convert temperature in Fahrenheit in to Celsius</a:t>
                </a:r>
              </a:p>
              <a:p>
                <a:pPr marL="0" indent="0">
                  <a:buNone/>
                </a:pPr>
                <a:r>
                  <a:rPr lang="en-US" dirty="0"/>
                  <a:t>		C= (F − 32) × 5/9</a:t>
                </a:r>
              </a:p>
              <a:p>
                <a:pPr marL="0" indent="0">
                  <a:buNone/>
                </a:pPr>
                <a:r>
                  <a:rPr lang="en-US" dirty="0"/>
                  <a:t>	Test your code for following values</a:t>
                </a:r>
              </a:p>
              <a:p>
                <a:pPr lvl="2"/>
                <a:r>
                  <a:rPr lang="en-US" dirty="0"/>
                  <a:t>45 F = 7.22 C</a:t>
                </a:r>
              </a:p>
              <a:p>
                <a:pPr lvl="2"/>
                <a:r>
                  <a:rPr lang="en-US" dirty="0"/>
                  <a:t>-87 F = -66.11 C</a:t>
                </a:r>
              </a:p>
              <a:p>
                <a:r>
                  <a:rPr lang="en-US" dirty="0" smtClean="0"/>
                  <a:t>Write </a:t>
                </a:r>
                <a:r>
                  <a:rPr lang="en-US" dirty="0"/>
                  <a:t>a program to print individual digits of a 3 digit number</a:t>
                </a:r>
              </a:p>
              <a:p>
                <a:r>
                  <a:rPr lang="en-US" dirty="0" smtClean="0"/>
                  <a:t>Calculate </a:t>
                </a:r>
                <a:r>
                  <a:rPr lang="en-US" dirty="0"/>
                  <a:t>the area of a circle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 smtClean="0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 err="1"/>
                  <a:t>Math.</a:t>
                </a:r>
                <a:r>
                  <a:rPr lang="en-US" b="1" dirty="0" err="1"/>
                  <a:t>PI</a:t>
                </a:r>
                <a:r>
                  <a:rPr lang="en-US" b="1" dirty="0"/>
                  <a:t> will give the value of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You have to </a:t>
                </a:r>
                <a:r>
                  <a:rPr lang="en-US" dirty="0" smtClean="0"/>
                  <a:t>import</a:t>
                </a:r>
                <a:r>
                  <a:rPr lang="en-US" dirty="0"/>
                  <a:t> </a:t>
                </a:r>
                <a:r>
                  <a:rPr lang="en-US" b="1" dirty="0" err="1"/>
                  <a:t>java</a:t>
                </a:r>
                <a:r>
                  <a:rPr lang="en-US" dirty="0" err="1"/>
                  <a:t>.lang.Math</a:t>
                </a:r>
                <a:r>
                  <a:rPr lang="en-US" dirty="0" smtClean="0"/>
                  <a:t>.*;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 smtClean="0"/>
                  <a:t>Calculate </a:t>
                </a:r>
                <a:r>
                  <a:rPr lang="en-US" dirty="0"/>
                  <a:t>the roots of a quadratic equation. Assign values for </a:t>
                </a:r>
                <a:r>
                  <a:rPr lang="en-US" dirty="0" err="1"/>
                  <a:t>a,b,c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713345"/>
                <a:ext cx="7572666" cy="4726371"/>
              </a:xfrm>
              <a:blipFill rotWithShape="0">
                <a:blip r:embed="rId2"/>
                <a:stretch>
                  <a:fillRect l="-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538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919</TotalTime>
  <Words>476</Words>
  <Application>Microsoft Office PowerPoint</Application>
  <PresentationFormat>On-screen Show (4:3)</PresentationFormat>
  <Paragraphs>175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 Math</vt:lpstr>
      <vt:lpstr>Gill Sans MT</vt:lpstr>
      <vt:lpstr>HNDIT</vt:lpstr>
      <vt:lpstr>HNDIT2012 Fundamentals of Computer Programming</vt:lpstr>
      <vt:lpstr>Operators</vt:lpstr>
      <vt:lpstr>Assignment Operator (=) </vt:lpstr>
      <vt:lpstr>Arithmetic operators</vt:lpstr>
      <vt:lpstr>Operator Precedence</vt:lpstr>
      <vt:lpstr>Increment Operator</vt:lpstr>
      <vt:lpstr>Write the output </vt:lpstr>
      <vt:lpstr>Relational Operators</vt:lpstr>
      <vt:lpstr>Which of the following are relational expressions in Java? </vt:lpstr>
      <vt:lpstr>For each of the following statements, assign variable names for the unknowns and rewrite the statements as relational expressions.</vt:lpstr>
      <vt:lpstr>Logical Operators</vt:lpstr>
      <vt:lpstr>Given that a = 5, b = 2, c = 4, and d = 5, what is the result of each of the following Java expression?</vt:lpstr>
      <vt:lpstr>Bitwise Operators</vt:lpstr>
      <vt:lpstr>PowerPoint Presentation</vt:lpstr>
      <vt:lpstr>Shift Operators</vt:lpstr>
      <vt:lpstr>PowerPoint Presentation</vt:lpstr>
      <vt:lpstr>PowerPoint Presentation</vt:lpstr>
      <vt:lpstr>Exercise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JAVA</dc:title>
  <dc:creator>Janaka</dc:creator>
  <cp:lastModifiedBy>USER</cp:lastModifiedBy>
  <cp:revision>306</cp:revision>
  <dcterms:created xsi:type="dcterms:W3CDTF">2006-08-16T00:00:00Z</dcterms:created>
  <dcterms:modified xsi:type="dcterms:W3CDTF">2024-03-18T11:57:05Z</dcterms:modified>
</cp:coreProperties>
</file>