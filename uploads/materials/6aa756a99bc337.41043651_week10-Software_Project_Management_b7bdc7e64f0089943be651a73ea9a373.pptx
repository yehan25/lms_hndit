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314" r:id="rId3"/>
    <p:sldId id="299" r:id="rId4"/>
    <p:sldId id="300" r:id="rId5"/>
    <p:sldId id="301" r:id="rId6"/>
    <p:sldId id="302" r:id="rId7"/>
    <p:sldId id="306" r:id="rId8"/>
    <p:sldId id="309" r:id="rId9"/>
    <p:sldId id="311" r:id="rId10"/>
    <p:sldId id="312" r:id="rId11"/>
    <p:sldId id="313" r:id="rId12"/>
    <p:sldId id="315" r:id="rId13"/>
    <p:sldId id="316" r:id="rId14"/>
    <p:sldId id="317" r:id="rId15"/>
    <p:sldId id="318" r:id="rId16"/>
    <p:sldId id="319" r:id="rId17"/>
    <p:sldId id="320" r:id="rId18"/>
    <p:sldId id="321" r:id="rId19"/>
    <p:sldId id="323" r:id="rId20"/>
    <p:sldId id="324" r:id="rId21"/>
    <p:sldId id="325" r:id="rId22"/>
    <p:sldId id="326" r:id="rId23"/>
    <p:sldId id="327" r:id="rId24"/>
    <p:sldId id="328" r:id="rId25"/>
    <p:sldId id="329" r:id="rId26"/>
    <p:sldId id="298" r:id="rId27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3793" autoAdjust="0"/>
    <p:restoredTop sz="94660"/>
  </p:normalViewPr>
  <p:slideViewPr>
    <p:cSldViewPr>
      <p:cViewPr varScale="1">
        <p:scale>
          <a:sx n="108" d="100"/>
          <a:sy n="108" d="100"/>
        </p:scale>
        <p:origin x="1812" y="108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2057404"/>
            <a:ext cx="9144000" cy="2566851"/>
          </a:xfrm>
          <a:prstGeom prst="rect">
            <a:avLst/>
          </a:prstGeom>
        </p:spPr>
      </p:pic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8DD56F-A681-4805-A5A2-3EFEAD22C2F4}" type="datetimeFigureOut">
              <a:rPr lang="en-US" smtClean="0"/>
              <a:t>6/8/2026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205F43-80E2-4640-A934-E79BFFCB5CAF}" type="slidenum">
              <a:rPr lang="en-US" smtClean="0"/>
              <a:t>‹#›</a:t>
            </a:fld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295433" y="4800600"/>
            <a:ext cx="8696169" cy="609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18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37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56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75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594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13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32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50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/>
              <a:t>Click to edit Chapter Title style</a:t>
            </a:r>
          </a:p>
        </p:txBody>
      </p:sp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4953000" y="2362205"/>
            <a:ext cx="3886200" cy="1981199"/>
          </a:xfrm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Click to edit Course Title style</a:t>
            </a:r>
          </a:p>
        </p:txBody>
      </p:sp>
    </p:spTree>
    <p:extLst>
      <p:ext uri="{BB962C8B-B14F-4D97-AF65-F5344CB8AC3E}">
        <p14:creationId xmlns:p14="http://schemas.microsoft.com/office/powerpoint/2010/main" val="130212749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8DD56F-A681-4805-A5A2-3EFEAD22C2F4}" type="datetimeFigureOut">
              <a:rPr lang="en-US" smtClean="0"/>
              <a:t>6/8/2026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205F43-80E2-4640-A934-E79BFFCB5CA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7817285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4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189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377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566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754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5943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131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32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509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8DD56F-A681-4805-A5A2-3EFEAD22C2F4}" type="datetimeFigureOut">
              <a:rPr lang="en-US" smtClean="0"/>
              <a:t>6/8/2026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205F43-80E2-4640-A934-E79BFFCB5CA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944108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4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4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8DD56F-A681-4805-A5A2-3EFEAD22C2F4}" type="datetimeFigureOut">
              <a:rPr lang="en-US" smtClean="0"/>
              <a:t>6/8/2026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205F43-80E2-4640-A934-E79BFFCB5CA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3481567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189" indent="0">
              <a:buNone/>
              <a:defRPr sz="2000" b="1"/>
            </a:lvl2pPr>
            <a:lvl3pPr marL="914377" indent="0">
              <a:buNone/>
              <a:defRPr sz="1800" b="1"/>
            </a:lvl3pPr>
            <a:lvl4pPr marL="1371566" indent="0">
              <a:buNone/>
              <a:defRPr sz="1600" b="1"/>
            </a:lvl4pPr>
            <a:lvl5pPr marL="1828754" indent="0">
              <a:buNone/>
              <a:defRPr sz="1600" b="1"/>
            </a:lvl5pPr>
            <a:lvl6pPr marL="2285943" indent="0">
              <a:buNone/>
              <a:defRPr sz="1600" b="1"/>
            </a:lvl6pPr>
            <a:lvl7pPr marL="2743131" indent="0">
              <a:buNone/>
              <a:defRPr sz="1600" b="1"/>
            </a:lvl7pPr>
            <a:lvl8pPr marL="3200320" indent="0">
              <a:buNone/>
              <a:defRPr sz="1600" b="1"/>
            </a:lvl8pPr>
            <a:lvl9pPr marL="3657509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7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189" indent="0">
              <a:buNone/>
              <a:defRPr sz="2000" b="1"/>
            </a:lvl2pPr>
            <a:lvl3pPr marL="914377" indent="0">
              <a:buNone/>
              <a:defRPr sz="1800" b="1"/>
            </a:lvl3pPr>
            <a:lvl4pPr marL="1371566" indent="0">
              <a:buNone/>
              <a:defRPr sz="1600" b="1"/>
            </a:lvl4pPr>
            <a:lvl5pPr marL="1828754" indent="0">
              <a:buNone/>
              <a:defRPr sz="1600" b="1"/>
            </a:lvl5pPr>
            <a:lvl6pPr marL="2285943" indent="0">
              <a:buNone/>
              <a:defRPr sz="1600" b="1"/>
            </a:lvl6pPr>
            <a:lvl7pPr marL="2743131" indent="0">
              <a:buNone/>
              <a:defRPr sz="1600" b="1"/>
            </a:lvl7pPr>
            <a:lvl8pPr marL="3200320" indent="0">
              <a:buNone/>
              <a:defRPr sz="1600" b="1"/>
            </a:lvl8pPr>
            <a:lvl9pPr marL="3657509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7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8DD56F-A681-4805-A5A2-3EFEAD22C2F4}" type="datetimeFigureOut">
              <a:rPr lang="en-US" smtClean="0"/>
              <a:t>6/8/2026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205F43-80E2-4640-A934-E79BFFCB5CA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1186128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8DD56F-A681-4805-A5A2-3EFEAD22C2F4}" type="datetimeFigureOut">
              <a:rPr lang="en-US" smtClean="0"/>
              <a:t>6/8/2026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205F43-80E2-4640-A934-E79BFFCB5CA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641964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8DD56F-A681-4805-A5A2-3EFEAD22C2F4}" type="datetimeFigureOut">
              <a:rPr lang="en-US" smtClean="0"/>
              <a:t>6/8/2026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205F43-80E2-4640-A934-E79BFFCB5CA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6664064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2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4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2" y="1435103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189" indent="0">
              <a:buNone/>
              <a:defRPr sz="1200"/>
            </a:lvl2pPr>
            <a:lvl3pPr marL="914377" indent="0">
              <a:buNone/>
              <a:defRPr sz="1000"/>
            </a:lvl3pPr>
            <a:lvl4pPr marL="1371566" indent="0">
              <a:buNone/>
              <a:defRPr sz="900"/>
            </a:lvl4pPr>
            <a:lvl5pPr marL="1828754" indent="0">
              <a:buNone/>
              <a:defRPr sz="900"/>
            </a:lvl5pPr>
            <a:lvl6pPr marL="2285943" indent="0">
              <a:buNone/>
              <a:defRPr sz="900"/>
            </a:lvl6pPr>
            <a:lvl7pPr marL="2743131" indent="0">
              <a:buNone/>
              <a:defRPr sz="900"/>
            </a:lvl7pPr>
            <a:lvl8pPr marL="3200320" indent="0">
              <a:buNone/>
              <a:defRPr sz="900"/>
            </a:lvl8pPr>
            <a:lvl9pPr marL="3657509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8DD56F-A681-4805-A5A2-3EFEAD22C2F4}" type="datetimeFigureOut">
              <a:rPr lang="en-US" smtClean="0"/>
              <a:t>6/8/2026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205F43-80E2-4640-A934-E79BFFCB5CA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4493237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189" indent="0">
              <a:buNone/>
              <a:defRPr sz="2800"/>
            </a:lvl2pPr>
            <a:lvl3pPr marL="914377" indent="0">
              <a:buNone/>
              <a:defRPr sz="2400"/>
            </a:lvl3pPr>
            <a:lvl4pPr marL="1371566" indent="0">
              <a:buNone/>
              <a:defRPr sz="2000"/>
            </a:lvl4pPr>
            <a:lvl5pPr marL="1828754" indent="0">
              <a:buNone/>
              <a:defRPr sz="2000"/>
            </a:lvl5pPr>
            <a:lvl6pPr marL="2285943" indent="0">
              <a:buNone/>
              <a:defRPr sz="2000"/>
            </a:lvl6pPr>
            <a:lvl7pPr marL="2743131" indent="0">
              <a:buNone/>
              <a:defRPr sz="2000"/>
            </a:lvl7pPr>
            <a:lvl8pPr marL="3200320" indent="0">
              <a:buNone/>
              <a:defRPr sz="2000"/>
            </a:lvl8pPr>
            <a:lvl9pPr marL="3657509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189" indent="0">
              <a:buNone/>
              <a:defRPr sz="1200"/>
            </a:lvl2pPr>
            <a:lvl3pPr marL="914377" indent="0">
              <a:buNone/>
              <a:defRPr sz="1000"/>
            </a:lvl3pPr>
            <a:lvl4pPr marL="1371566" indent="0">
              <a:buNone/>
              <a:defRPr sz="900"/>
            </a:lvl4pPr>
            <a:lvl5pPr marL="1828754" indent="0">
              <a:buNone/>
              <a:defRPr sz="900"/>
            </a:lvl5pPr>
            <a:lvl6pPr marL="2285943" indent="0">
              <a:buNone/>
              <a:defRPr sz="900"/>
            </a:lvl6pPr>
            <a:lvl7pPr marL="2743131" indent="0">
              <a:buNone/>
              <a:defRPr sz="900"/>
            </a:lvl7pPr>
            <a:lvl8pPr marL="3200320" indent="0">
              <a:buNone/>
              <a:defRPr sz="900"/>
            </a:lvl8pPr>
            <a:lvl9pPr marL="3657509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8DD56F-A681-4805-A5A2-3EFEAD22C2F4}" type="datetimeFigureOut">
              <a:rPr lang="en-US" smtClean="0"/>
              <a:t>6/8/2026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205F43-80E2-4640-A934-E79BFFCB5CA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1471842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8DD56F-A681-4805-A5A2-3EFEAD22C2F4}" type="datetimeFigureOut">
              <a:rPr lang="en-US" smtClean="0"/>
              <a:t>6/8/2026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205F43-80E2-4640-A934-E79BFFCB5CA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2277444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42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42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8DD56F-A681-4805-A5A2-3EFEAD22C2F4}" type="datetimeFigureOut">
              <a:rPr lang="en-US" smtClean="0"/>
              <a:t>6/8/2026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205F43-80E2-4640-A934-E79BFFCB5CA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861351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609600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905000"/>
            <a:ext cx="8229600" cy="42211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4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A8DD56F-A681-4805-A5A2-3EFEAD22C2F4}" type="datetimeFigureOut">
              <a:rPr lang="en-US" smtClean="0"/>
              <a:t>6/8/2026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4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4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A205F43-80E2-4640-A934-E79BFFCB5CAF}" type="slidenum">
              <a:rPr lang="en-US" smtClean="0"/>
              <a:t>‹#›</a:t>
            </a:fld>
            <a:endParaRPr lang="en-US"/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1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381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2038408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ctr" defTabSz="914377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891" indent="-342891" algn="l" defTabSz="914377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32" indent="-285744" algn="l" defTabSz="914377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2971" indent="-228594" algn="l" defTabSz="914377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160" indent="-228594" algn="l" defTabSz="914377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349" indent="-228594" algn="l" defTabSz="914377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537" indent="-228594" algn="l" defTabSz="914377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726" indent="-228594" algn="l" defTabSz="914377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8914" indent="-228594" algn="l" defTabSz="914377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103" indent="-228594" algn="l" defTabSz="914377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89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377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566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754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943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131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320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509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Software Project Management</a:t>
            </a:r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HNDIT 4012 Software Engineering</a:t>
            </a:r>
          </a:p>
        </p:txBody>
      </p:sp>
    </p:spTree>
    <p:extLst>
      <p:ext uri="{BB962C8B-B14F-4D97-AF65-F5344CB8AC3E}">
        <p14:creationId xmlns:p14="http://schemas.microsoft.com/office/powerpoint/2010/main" val="357841165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095953-F427-E5C6-C9B6-ADFB17B11A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Learning Outcomes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2420319-D489-6A20-8A4A-9EA9BED05AE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Define Software Project Management</a:t>
            </a:r>
          </a:p>
          <a:p>
            <a:r>
              <a:rPr lang="en-US" dirty="0"/>
              <a:t>Explain the role of a Project Manager</a:t>
            </a:r>
          </a:p>
          <a:p>
            <a:r>
              <a:rPr lang="en-US" dirty="0"/>
              <a:t>Identify project risks</a:t>
            </a:r>
          </a:p>
          <a:p>
            <a:r>
              <a:rPr lang="en-US" dirty="0"/>
              <a:t>Describe risk management activities</a:t>
            </a:r>
          </a:p>
          <a:p>
            <a:r>
              <a:rPr lang="en-US" dirty="0"/>
              <a:t>Understand people management</a:t>
            </a:r>
          </a:p>
        </p:txBody>
      </p:sp>
    </p:spTree>
    <p:extLst>
      <p:ext uri="{BB962C8B-B14F-4D97-AF65-F5344CB8AC3E}">
        <p14:creationId xmlns:p14="http://schemas.microsoft.com/office/powerpoint/2010/main" val="266968502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75E7DB-025D-1F12-55B2-12B89DCC5A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What is Software Project Management?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B42AC72-C392-56C4-E3FD-E1E91575610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Software Project Management is the process of-</a:t>
            </a:r>
          </a:p>
          <a:p>
            <a:pPr lvl="1"/>
            <a:r>
              <a:rPr lang="en-US" dirty="0"/>
              <a:t>Planning</a:t>
            </a:r>
          </a:p>
          <a:p>
            <a:pPr lvl="1"/>
            <a:r>
              <a:rPr lang="en-US" dirty="0"/>
              <a:t>Organizing</a:t>
            </a:r>
          </a:p>
          <a:p>
            <a:pPr lvl="1"/>
            <a:r>
              <a:rPr lang="en-US" dirty="0"/>
              <a:t>Monitoring</a:t>
            </a:r>
          </a:p>
          <a:p>
            <a:pPr lvl="1"/>
            <a:r>
              <a:rPr lang="en-US" dirty="0"/>
              <a:t>Controlling</a:t>
            </a:r>
          </a:p>
        </p:txBody>
      </p:sp>
    </p:spTree>
    <p:extLst>
      <p:ext uri="{BB962C8B-B14F-4D97-AF65-F5344CB8AC3E}">
        <p14:creationId xmlns:p14="http://schemas.microsoft.com/office/powerpoint/2010/main" val="116601872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DE48AD-FF6F-5D14-1732-43CDEF526A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Why Project Management is Important?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522CD6C-4A84-39D5-600F-FCA4C85702B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Software projects are subject to-</a:t>
            </a:r>
          </a:p>
          <a:p>
            <a:pPr lvl="1"/>
            <a:r>
              <a:rPr lang="en-US" dirty="0"/>
              <a:t>Budget constraints</a:t>
            </a:r>
          </a:p>
          <a:p>
            <a:pPr lvl="1"/>
            <a:r>
              <a:rPr lang="en-US" dirty="0"/>
              <a:t>Schedule constraints</a:t>
            </a:r>
          </a:p>
          <a:p>
            <a:pPr lvl="1"/>
            <a:r>
              <a:rPr lang="en-US" dirty="0"/>
              <a:t>Resource limitations</a:t>
            </a:r>
          </a:p>
          <a:p>
            <a:pPr lvl="1"/>
            <a:r>
              <a:rPr lang="en-US" dirty="0"/>
              <a:t>Customer expectations</a:t>
            </a:r>
          </a:p>
        </p:txBody>
      </p:sp>
    </p:spTree>
    <p:extLst>
      <p:ext uri="{BB962C8B-B14F-4D97-AF65-F5344CB8AC3E}">
        <p14:creationId xmlns:p14="http://schemas.microsoft.com/office/powerpoint/2010/main" val="56444702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91883C-B9D2-7A24-FDEF-012F8AE75E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Why Software Projects are Difficult to Manage?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0E0413D-5A86-6CE8-9175-E8F2CDC6AC3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Challenge 1: Software is Intangible</a:t>
            </a:r>
          </a:p>
          <a:p>
            <a:r>
              <a:rPr lang="en-US" dirty="0"/>
              <a:t>Challenge 2: Projects are Unique</a:t>
            </a:r>
          </a:p>
          <a:p>
            <a:r>
              <a:rPr lang="en-US" dirty="0"/>
              <a:t>Challenge 3: Software Processes Vary</a:t>
            </a:r>
          </a:p>
        </p:txBody>
      </p:sp>
    </p:spTree>
    <p:extLst>
      <p:ext uri="{BB962C8B-B14F-4D97-AF65-F5344CB8AC3E}">
        <p14:creationId xmlns:p14="http://schemas.microsoft.com/office/powerpoint/2010/main" val="63873292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A14F5C-44E4-14C1-4DA6-2F7B7995AF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Role of a Software Project Manager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F7D4A43-F734-6425-BB17-B6F67C19905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Project Planning</a:t>
            </a:r>
          </a:p>
          <a:p>
            <a:r>
              <a:rPr lang="en-US" dirty="0"/>
              <a:t>Risk Management</a:t>
            </a:r>
          </a:p>
          <a:p>
            <a:r>
              <a:rPr lang="en-US" dirty="0"/>
              <a:t>People Management</a:t>
            </a:r>
          </a:p>
          <a:p>
            <a:r>
              <a:rPr lang="en-US" dirty="0"/>
              <a:t>Reporting</a:t>
            </a:r>
          </a:p>
          <a:p>
            <a:r>
              <a:rPr lang="en-US" dirty="0"/>
              <a:t>Proposal Writing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4114033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8A38C6-1731-7AEB-7395-5F994CCFF1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Project Planning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4185320-59BF-EFC3-862D-1FFF274E226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Defining project objectives</a:t>
            </a:r>
          </a:p>
          <a:p>
            <a:r>
              <a:rPr lang="en-US" dirty="0"/>
              <a:t>Deliverables and milestones</a:t>
            </a:r>
          </a:p>
          <a:p>
            <a:r>
              <a:rPr lang="en-US" dirty="0"/>
              <a:t>Work Breakdown Structure (WBS)</a:t>
            </a:r>
          </a:p>
          <a:p>
            <a:r>
              <a:rPr lang="en-US" dirty="0"/>
              <a:t>Activity identification</a:t>
            </a:r>
          </a:p>
          <a:p>
            <a:r>
              <a:rPr lang="en-US" dirty="0"/>
              <a:t>Activity sequencing</a:t>
            </a:r>
          </a:p>
          <a:p>
            <a:r>
              <a:rPr lang="en-US" dirty="0"/>
              <a:t>Project scheduling</a:t>
            </a:r>
          </a:p>
        </p:txBody>
      </p:sp>
    </p:spTree>
    <p:extLst>
      <p:ext uri="{BB962C8B-B14F-4D97-AF65-F5344CB8AC3E}">
        <p14:creationId xmlns:p14="http://schemas.microsoft.com/office/powerpoint/2010/main" val="196645886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D9F8FD-2375-1696-5F6D-E58F445AF8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Project Risk Management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98B8223-1A3A-B4D6-DEA7-35ED1BFDC07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Types of software project risks</a:t>
            </a:r>
          </a:p>
          <a:p>
            <a:r>
              <a:rPr lang="en-US" dirty="0"/>
              <a:t>Risk identification</a:t>
            </a:r>
          </a:p>
          <a:p>
            <a:r>
              <a:rPr lang="en-US" dirty="0"/>
              <a:t>Risk analysis</a:t>
            </a:r>
          </a:p>
          <a:p>
            <a:r>
              <a:rPr lang="en-US" dirty="0"/>
              <a:t>Risk response planning</a:t>
            </a:r>
          </a:p>
          <a:p>
            <a:r>
              <a:rPr lang="en-US" dirty="0"/>
              <a:t>Risk monitoring and control</a:t>
            </a:r>
          </a:p>
        </p:txBody>
      </p:sp>
    </p:spTree>
    <p:extLst>
      <p:ext uri="{BB962C8B-B14F-4D97-AF65-F5344CB8AC3E}">
        <p14:creationId xmlns:p14="http://schemas.microsoft.com/office/powerpoint/2010/main" val="325433809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DF85CC-538B-6CF3-B523-250078F5F0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is a Risk?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DC33086-53B0-8D3F-4A51-594F44F6A30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 risk is an uncertain event that may negatively affect a project.</a:t>
            </a:r>
          </a:p>
          <a:p>
            <a:r>
              <a:rPr lang="en-US" dirty="0"/>
              <a:t>Examples-</a:t>
            </a:r>
          </a:p>
          <a:p>
            <a:pPr lvl="1"/>
            <a:r>
              <a:rPr lang="en-US" dirty="0"/>
              <a:t>Team member resigns</a:t>
            </a:r>
          </a:p>
          <a:p>
            <a:pPr lvl="1"/>
            <a:r>
              <a:rPr lang="en-US" dirty="0"/>
              <a:t>Technology failure</a:t>
            </a:r>
          </a:p>
          <a:p>
            <a:pPr lvl="1"/>
            <a:r>
              <a:rPr lang="en-US" dirty="0"/>
              <a:t>Requirement changes</a:t>
            </a:r>
          </a:p>
          <a:p>
            <a:pPr lvl="1"/>
            <a:r>
              <a:rPr lang="en-US" dirty="0"/>
              <a:t>Budget reduction</a:t>
            </a:r>
          </a:p>
        </p:txBody>
      </p:sp>
    </p:spTree>
    <p:extLst>
      <p:ext uri="{BB962C8B-B14F-4D97-AF65-F5344CB8AC3E}">
        <p14:creationId xmlns:p14="http://schemas.microsoft.com/office/powerpoint/2010/main" val="168786967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AB319A-F28F-AA50-0B27-68F226BD42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Types of Risks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E5C64AE-DF70-9467-E110-F682DF2F42C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Project Risks-</a:t>
            </a:r>
          </a:p>
          <a:p>
            <a:pPr lvl="1"/>
            <a:r>
              <a:rPr lang="en-US" dirty="0"/>
              <a:t>Staff shortages/Delays in delivery</a:t>
            </a:r>
          </a:p>
          <a:p>
            <a:r>
              <a:rPr lang="en-US" dirty="0"/>
              <a:t>Product Risks</a:t>
            </a:r>
          </a:p>
          <a:p>
            <a:pPr lvl="1"/>
            <a:r>
              <a:rPr lang="en-US" dirty="0"/>
              <a:t>Poor performance/Security vulnerabilities</a:t>
            </a:r>
          </a:p>
          <a:p>
            <a:r>
              <a:rPr lang="en-US" dirty="0"/>
              <a:t>Business Risks</a:t>
            </a:r>
          </a:p>
          <a:p>
            <a:pPr lvl="1"/>
            <a:r>
              <a:rPr lang="en-US" dirty="0"/>
              <a:t>Market changes/Customer cancellation</a:t>
            </a:r>
          </a:p>
        </p:txBody>
      </p:sp>
    </p:spTree>
    <p:extLst>
      <p:ext uri="{BB962C8B-B14F-4D97-AF65-F5344CB8AC3E}">
        <p14:creationId xmlns:p14="http://schemas.microsoft.com/office/powerpoint/2010/main" val="270362528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7B9C9B-75ED-6CBC-E5AD-E77ABD884D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Risk Management Process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557C052-71A8-1D77-5204-7CF83F15428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Risk Identification</a:t>
            </a:r>
          </a:p>
          <a:p>
            <a:r>
              <a:rPr lang="en-US" dirty="0"/>
              <a:t>Risk Analysis</a:t>
            </a:r>
          </a:p>
          <a:p>
            <a:r>
              <a:rPr lang="en-US" dirty="0"/>
              <a:t>Risk Planning</a:t>
            </a:r>
          </a:p>
          <a:p>
            <a:r>
              <a:rPr lang="en-US" dirty="0"/>
              <a:t>Risk Monitoring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AE74EEF-CE32-9DB1-E974-3F56B320A01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47800" y="4333613"/>
            <a:ext cx="6429314" cy="1981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7981517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E53434-DB82-EBA4-4018-1156F9AACC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Risk Identification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D0C9CF2-B8D1-966D-8178-18AE99295D8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Identify Possible Risks</a:t>
            </a:r>
          </a:p>
          <a:p>
            <a:r>
              <a:rPr lang="en-US" dirty="0"/>
              <a:t>Examples-</a:t>
            </a:r>
          </a:p>
          <a:p>
            <a:pPr lvl="1"/>
            <a:r>
              <a:rPr lang="en-US" dirty="0"/>
              <a:t>Staff turnover</a:t>
            </a:r>
          </a:p>
          <a:p>
            <a:pPr lvl="1"/>
            <a:r>
              <a:rPr lang="en-US" dirty="0"/>
              <a:t>Requirement changes</a:t>
            </a:r>
          </a:p>
          <a:p>
            <a:pPr lvl="1"/>
            <a:r>
              <a:rPr lang="en-US" dirty="0"/>
              <a:t>Hardware failures</a:t>
            </a:r>
          </a:p>
          <a:p>
            <a:pPr lvl="1"/>
            <a:r>
              <a:rPr lang="en-US" dirty="0"/>
              <a:t>Security threats</a:t>
            </a:r>
          </a:p>
          <a:p>
            <a:pPr lvl="1"/>
            <a:r>
              <a:rPr lang="en-US" dirty="0"/>
              <a:t>Supplier delays</a:t>
            </a:r>
          </a:p>
        </p:txBody>
      </p:sp>
    </p:spTree>
    <p:extLst>
      <p:ext uri="{BB962C8B-B14F-4D97-AF65-F5344CB8AC3E}">
        <p14:creationId xmlns:p14="http://schemas.microsoft.com/office/powerpoint/2010/main" val="108822904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6CC53C-EF05-AB01-2B60-2B0B8D834B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Risk Analysis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3B21930A-3C66-80B1-D442-CAB01706DAA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76400" y="1600200"/>
            <a:ext cx="5667375" cy="44005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418952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413A4A-B8FF-4071-CD9A-74250D9AB7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Risk Planning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8CD6AB56-ED05-3C96-E0BB-183D0B46ABE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14823" y="1905000"/>
            <a:ext cx="5114354" cy="4343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367486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25EAC2-CC41-AADF-108E-476BFF4ADB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Risk Monitoring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A9C6B22-FB81-CE83-E8E0-F1BC3A77763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Team morale</a:t>
            </a:r>
          </a:p>
          <a:p>
            <a:r>
              <a:rPr lang="en-US" dirty="0"/>
              <a:t>Project progress</a:t>
            </a:r>
          </a:p>
          <a:p>
            <a:r>
              <a:rPr lang="en-US" dirty="0"/>
              <a:t>Budget status</a:t>
            </a:r>
          </a:p>
          <a:p>
            <a:r>
              <a:rPr lang="en-US" dirty="0"/>
              <a:t>Technical issues</a:t>
            </a:r>
          </a:p>
        </p:txBody>
      </p:sp>
    </p:spTree>
    <p:extLst>
      <p:ext uri="{BB962C8B-B14F-4D97-AF65-F5344CB8AC3E}">
        <p14:creationId xmlns:p14="http://schemas.microsoft.com/office/powerpoint/2010/main" val="163928350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49CE10-40AE-0B3D-9697-EE532EB7DF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Managing People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4674444-4E3A-93A6-1942-1CBF8837EC9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People are the most valuable asset in software projects.</a:t>
            </a:r>
          </a:p>
          <a:p>
            <a:r>
              <a:rPr lang="en-US" dirty="0"/>
              <a:t>Motivate staff</a:t>
            </a:r>
          </a:p>
          <a:p>
            <a:r>
              <a:rPr lang="en-US" dirty="0"/>
              <a:t>Resolve conflicts</a:t>
            </a:r>
          </a:p>
          <a:p>
            <a:r>
              <a:rPr lang="en-US" dirty="0"/>
              <a:t>Improve communication</a:t>
            </a:r>
          </a:p>
          <a:p>
            <a:r>
              <a:rPr lang="en-US" dirty="0"/>
              <a:t>Build strong teams</a:t>
            </a:r>
          </a:p>
        </p:txBody>
      </p:sp>
    </p:spTree>
    <p:extLst>
      <p:ext uri="{BB962C8B-B14F-4D97-AF65-F5344CB8AC3E}">
        <p14:creationId xmlns:p14="http://schemas.microsoft.com/office/powerpoint/2010/main" val="42727915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AF7598-15C1-4EBD-8F66-700C386A37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Teamwork in Software Projects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90DF64E-0686-360D-8365-FEE891D232F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 software team may consist of-</a:t>
            </a:r>
          </a:p>
          <a:p>
            <a:pPr lvl="1"/>
            <a:r>
              <a:rPr lang="en-US" dirty="0"/>
              <a:t>Project Manager</a:t>
            </a:r>
          </a:p>
          <a:p>
            <a:pPr lvl="1"/>
            <a:r>
              <a:rPr lang="en-US" dirty="0"/>
              <a:t>Business Analyst</a:t>
            </a:r>
          </a:p>
          <a:p>
            <a:pPr lvl="1"/>
            <a:r>
              <a:rPr lang="en-US" dirty="0"/>
              <a:t>Software Developers</a:t>
            </a:r>
          </a:p>
          <a:p>
            <a:pPr lvl="1"/>
            <a:r>
              <a:rPr lang="en-US" dirty="0"/>
              <a:t>Testers</a:t>
            </a:r>
          </a:p>
          <a:p>
            <a:pPr lvl="1"/>
            <a:r>
              <a:rPr lang="en-US" dirty="0"/>
              <a:t>UI/UX Designers</a:t>
            </a:r>
          </a:p>
          <a:p>
            <a:pPr lvl="1"/>
            <a:r>
              <a:rPr lang="en-US" dirty="0"/>
              <a:t>DevOps Engineers</a:t>
            </a:r>
          </a:p>
        </p:txBody>
      </p:sp>
    </p:spTree>
    <p:extLst>
      <p:ext uri="{BB962C8B-B14F-4D97-AF65-F5344CB8AC3E}">
        <p14:creationId xmlns:p14="http://schemas.microsoft.com/office/powerpoint/2010/main" val="10716113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F08B3A-EFD5-18EB-BE34-D337570C73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Characteristics of Effective Teams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13FDF4F-EF7C-8381-F782-C5C152FD99D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Clear goals</a:t>
            </a:r>
          </a:p>
          <a:p>
            <a:r>
              <a:rPr lang="en-US" dirty="0"/>
              <a:t>Open communication</a:t>
            </a:r>
          </a:p>
          <a:p>
            <a:r>
              <a:rPr lang="en-US" dirty="0"/>
              <a:t>Trust</a:t>
            </a:r>
          </a:p>
          <a:p>
            <a:r>
              <a:rPr lang="en-US" dirty="0"/>
              <a:t>Cooperation</a:t>
            </a:r>
          </a:p>
          <a:p>
            <a:r>
              <a:rPr lang="en-US" dirty="0"/>
              <a:t>Strong leadership</a:t>
            </a:r>
          </a:p>
          <a:p>
            <a:r>
              <a:rPr lang="en-US" dirty="0"/>
              <a:t>Shared responsibility</a:t>
            </a:r>
          </a:p>
        </p:txBody>
      </p:sp>
    </p:spTree>
    <p:extLst>
      <p:ext uri="{BB962C8B-B14F-4D97-AF65-F5344CB8AC3E}">
        <p14:creationId xmlns:p14="http://schemas.microsoft.com/office/powerpoint/2010/main" val="52866639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AAD869-1FC2-8DCA-E331-C7627F1AD8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Project Scheduling Process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3255FB5-13B2-B1E6-BD8C-0B1EBE70D0A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Main Steps</a:t>
            </a:r>
          </a:p>
          <a:p>
            <a:pPr lvl="1"/>
            <a:r>
              <a:rPr lang="en-US" dirty="0"/>
              <a:t>Identify Activities </a:t>
            </a:r>
          </a:p>
          <a:p>
            <a:pPr lvl="1"/>
            <a:r>
              <a:rPr lang="en-US" dirty="0"/>
              <a:t>Estimate Effort </a:t>
            </a:r>
          </a:p>
          <a:p>
            <a:pPr lvl="1"/>
            <a:r>
              <a:rPr lang="en-US" dirty="0"/>
              <a:t>Determine Dependencies </a:t>
            </a:r>
          </a:p>
          <a:p>
            <a:pPr lvl="1"/>
            <a:r>
              <a:rPr lang="en-US" dirty="0"/>
              <a:t>Allocate Resources </a:t>
            </a:r>
          </a:p>
          <a:p>
            <a:pPr lvl="1"/>
            <a:r>
              <a:rPr lang="en-US" dirty="0"/>
              <a:t>Create Schedule </a:t>
            </a:r>
          </a:p>
          <a:p>
            <a:pPr lvl="1"/>
            <a:r>
              <a:rPr lang="en-US" dirty="0"/>
              <a:t>Monitor Progress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4523136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F199EA-F713-EF3C-B006-F2CC466B57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Identifying Project Activities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F59AA9B-E90D-EE52-9C6E-F3A01F1E132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r>
              <a:rPr lang="en-US" dirty="0"/>
              <a:t>A task that must be completed during the project.</a:t>
            </a:r>
          </a:p>
          <a:p>
            <a:r>
              <a:rPr lang="en-US" dirty="0"/>
              <a:t>Examples</a:t>
            </a:r>
          </a:p>
          <a:p>
            <a:pPr lvl="1"/>
            <a:r>
              <a:rPr lang="en-US" dirty="0"/>
              <a:t>Requirements Analysis</a:t>
            </a:r>
          </a:p>
          <a:p>
            <a:pPr lvl="1"/>
            <a:r>
              <a:rPr lang="en-US" dirty="0"/>
              <a:t>System Design</a:t>
            </a:r>
          </a:p>
          <a:p>
            <a:pPr lvl="1"/>
            <a:r>
              <a:rPr lang="en-US" dirty="0"/>
              <a:t>Database Design</a:t>
            </a:r>
          </a:p>
          <a:p>
            <a:pPr lvl="1"/>
            <a:r>
              <a:rPr lang="en-US" dirty="0"/>
              <a:t>Coding</a:t>
            </a:r>
          </a:p>
          <a:p>
            <a:pPr lvl="1"/>
            <a:r>
              <a:rPr lang="en-US" dirty="0"/>
              <a:t>Testing</a:t>
            </a:r>
          </a:p>
          <a:p>
            <a:pPr lvl="1"/>
            <a:r>
              <a:rPr lang="en-US" dirty="0"/>
              <a:t>Deployment</a:t>
            </a:r>
          </a:p>
        </p:txBody>
      </p:sp>
    </p:spTree>
    <p:extLst>
      <p:ext uri="{BB962C8B-B14F-4D97-AF65-F5344CB8AC3E}">
        <p14:creationId xmlns:p14="http://schemas.microsoft.com/office/powerpoint/2010/main" val="2323913962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8F4439-6D7D-4BBB-302F-76DB88A729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Milestones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4F10327-1BA7-15D5-7909-D6EB74934F4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A milestone is a significant project event or achievement.</a:t>
            </a:r>
          </a:p>
          <a:p>
            <a:r>
              <a:rPr lang="en-US" dirty="0"/>
              <a:t>Examples</a:t>
            </a:r>
          </a:p>
          <a:p>
            <a:pPr lvl="1"/>
            <a:r>
              <a:rPr lang="en-US" dirty="0"/>
              <a:t>Requirements Approved</a:t>
            </a:r>
          </a:p>
          <a:p>
            <a:pPr lvl="1"/>
            <a:r>
              <a:rPr lang="en-US" dirty="0"/>
              <a:t>Design Completed</a:t>
            </a:r>
          </a:p>
          <a:p>
            <a:pPr lvl="1"/>
            <a:r>
              <a:rPr lang="en-US" dirty="0"/>
              <a:t>Prototype Delivered</a:t>
            </a:r>
          </a:p>
          <a:p>
            <a:pPr lvl="1"/>
            <a:r>
              <a:rPr lang="en-US" dirty="0"/>
              <a:t>Testing Completed</a:t>
            </a:r>
          </a:p>
          <a:p>
            <a:pPr lvl="1"/>
            <a:r>
              <a:rPr lang="en-US" dirty="0"/>
              <a:t>Final System Released</a:t>
            </a:r>
          </a:p>
        </p:txBody>
      </p:sp>
    </p:spTree>
    <p:extLst>
      <p:ext uri="{BB962C8B-B14F-4D97-AF65-F5344CB8AC3E}">
        <p14:creationId xmlns:p14="http://schemas.microsoft.com/office/powerpoint/2010/main" val="616997123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7CE213-A5FE-33F5-0AAA-A48CC94E24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Types of Dependencies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DD05DFB-72C1-3522-C53C-828950D03ED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Finish-to-Start</a:t>
            </a:r>
          </a:p>
          <a:p>
            <a:r>
              <a:rPr lang="en-US" dirty="0"/>
              <a:t>Start-to-Start</a:t>
            </a:r>
          </a:p>
          <a:p>
            <a:r>
              <a:rPr lang="en-US" dirty="0"/>
              <a:t>Finish-to-Finish</a:t>
            </a:r>
          </a:p>
          <a:p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F3FE71D-6ACC-A84B-B127-18647B81770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00200" y="3505200"/>
            <a:ext cx="5734050" cy="3276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36327832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014827-8704-2B9F-00DA-6E96072FA7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Activity Network Diagram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267CDE6-509C-1289-FED5-24800972FDC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Activities</a:t>
            </a:r>
          </a:p>
          <a:p>
            <a:r>
              <a:rPr lang="en-US" dirty="0"/>
              <a:t>Dependencies</a:t>
            </a:r>
          </a:p>
          <a:p>
            <a:r>
              <a:rPr lang="en-US" dirty="0"/>
              <a:t>Task sequence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4667D39-8F7B-6320-FB5B-6032AFFE03B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62200" y="3886200"/>
            <a:ext cx="5443640" cy="23923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3445301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F6F0B5-A4ED-481C-3AE6-5F2A71DB96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is a Gantt Chart?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3FCE81EF-A15A-536F-DB70-D726E7C7421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76450" y="1905000"/>
            <a:ext cx="4991100" cy="40576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1123574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BABB56-C90B-D455-801E-D79C7D5D6E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Critical Path Concept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B0E4D06-F957-5B2F-C71A-B2E4EFD5D84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The sequence of activities that determines the minimum project completion time.</a:t>
            </a:r>
          </a:p>
          <a:p>
            <a:r>
              <a:rPr lang="en-US" dirty="0"/>
              <a:t>Longest path in project schedule</a:t>
            </a:r>
          </a:p>
          <a:p>
            <a:r>
              <a:rPr lang="en-US" dirty="0"/>
              <a:t>No delay allowed</a:t>
            </a:r>
          </a:p>
          <a:p>
            <a:r>
              <a:rPr lang="en-US" dirty="0"/>
              <a:t>Delay in critical activity delays entire project</a:t>
            </a:r>
          </a:p>
        </p:txBody>
      </p:sp>
    </p:spTree>
    <p:extLst>
      <p:ext uri="{BB962C8B-B14F-4D97-AF65-F5344CB8AC3E}">
        <p14:creationId xmlns:p14="http://schemas.microsoft.com/office/powerpoint/2010/main" val="754839985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DAC1E9-F053-47D4-88A2-C0FFF40330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Discussion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A2B021F-27B2-466F-9E6F-B01EA7267C2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Characteristics of Software Projects</a:t>
            </a:r>
          </a:p>
          <a:p>
            <a:r>
              <a:rPr lang="en-US" dirty="0"/>
              <a:t>Project Success and Failure Factors</a:t>
            </a:r>
          </a:p>
          <a:p>
            <a:r>
              <a:rPr lang="en-US" dirty="0"/>
              <a:t>Role of a Software Project Manager </a:t>
            </a:r>
          </a:p>
        </p:txBody>
      </p:sp>
    </p:spTree>
    <p:extLst>
      <p:ext uri="{BB962C8B-B14F-4D97-AF65-F5344CB8AC3E}">
        <p14:creationId xmlns:p14="http://schemas.microsoft.com/office/powerpoint/2010/main" val="1232848513"/>
      </p:ext>
    </p:extLst>
  </p:cSld>
  <p:clrMapOvr>
    <a:masterClrMapping/>
  </p:clrMapOvr>
</p:sld>
</file>

<file path=ppt/theme/theme1.xml><?xml version="1.0" encoding="utf-8"?>
<a:theme xmlns:a="http://schemas.openxmlformats.org/drawingml/2006/main" name="SLIATE LMS Template Powerpoint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resentation1" id="{47D6EB70-AC5D-4C93-8EC9-DDBA92A97C78}" vid="{AD4A3A70-3E62-4EFF-A645-92967231B92E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SLIATE LMS Template Powerpoint</Template>
  <TotalTime>4625</TotalTime>
  <Words>426</Words>
  <Application>Microsoft Office PowerPoint</Application>
  <PresentationFormat>On-screen Show (4:3)</PresentationFormat>
  <Paragraphs>141</Paragraphs>
  <Slides>26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26</vt:i4>
      </vt:variant>
    </vt:vector>
  </HeadingPairs>
  <TitlesOfParts>
    <vt:vector size="29" baseType="lpstr">
      <vt:lpstr>Arial</vt:lpstr>
      <vt:lpstr>Calibri</vt:lpstr>
      <vt:lpstr>SLIATE LMS Template Powerpoint</vt:lpstr>
      <vt:lpstr>HNDIT 4012 Software Engineering</vt:lpstr>
      <vt:lpstr>Learning Outcomes</vt:lpstr>
      <vt:lpstr>What is Software Project Management?</vt:lpstr>
      <vt:lpstr>Why Project Management is Important?</vt:lpstr>
      <vt:lpstr>Why Software Projects are Difficult to Manage?</vt:lpstr>
      <vt:lpstr>Role of a Software Project Manager</vt:lpstr>
      <vt:lpstr>Project Planning</vt:lpstr>
      <vt:lpstr>Project Risk Management</vt:lpstr>
      <vt:lpstr>What is a Risk?</vt:lpstr>
      <vt:lpstr>Types of Risks</vt:lpstr>
      <vt:lpstr>Risk Management Process</vt:lpstr>
      <vt:lpstr>Risk Identification</vt:lpstr>
      <vt:lpstr>Risk Analysis</vt:lpstr>
      <vt:lpstr>Risk Planning</vt:lpstr>
      <vt:lpstr>Risk Monitoring</vt:lpstr>
      <vt:lpstr>Managing People</vt:lpstr>
      <vt:lpstr>Teamwork in Software Projects</vt:lpstr>
      <vt:lpstr>Characteristics of Effective Teams</vt:lpstr>
      <vt:lpstr>Project Scheduling Process</vt:lpstr>
      <vt:lpstr>Identifying Project Activities</vt:lpstr>
      <vt:lpstr>Milestones</vt:lpstr>
      <vt:lpstr>Types of Dependencies</vt:lpstr>
      <vt:lpstr>Activity Network Diagram</vt:lpstr>
      <vt:lpstr>What is a Gantt Chart?</vt:lpstr>
      <vt:lpstr>Critical Path Concept</vt:lpstr>
      <vt:lpstr>Discussion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HNDIT 2312-Principles of Software Engineering</dc:title>
  <dc:creator>Windows User</dc:creator>
  <cp:lastModifiedBy>Gayan Sudharshana</cp:lastModifiedBy>
  <cp:revision>65</cp:revision>
  <dcterms:created xsi:type="dcterms:W3CDTF">2018-06-02T18:39:01Z</dcterms:created>
  <dcterms:modified xsi:type="dcterms:W3CDTF">2026-06-08T17:17:36Z</dcterms:modified>
</cp:coreProperties>
</file>