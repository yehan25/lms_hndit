
<file path=[Content_Types].xml><?xml version="1.0" encoding="utf-8"?>
<Types xmlns="http://schemas.openxmlformats.org/package/2006/content-types">
  <Default Extension="png" ContentType="image/png"/>
  <Default Extension="pdf" ContentType="application/pd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5" r:id="rId19"/>
    <p:sldId id="274" r:id="rId20"/>
    <p:sldId id="276" r:id="rId21"/>
    <p:sldId id="277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>
      <p:cViewPr varScale="1">
        <p:scale>
          <a:sx n="81" d="100"/>
          <a:sy n="81" d="100"/>
        </p:scale>
        <p:origin x="1526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0"/>
            <a:ext cx="9144000" cy="25668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Chapter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53000" y="23622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Course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DD56F-A681-4805-A5A2-3EFEAD22C2F4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d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d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d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pd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6.pd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d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d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pd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2.pd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8.pd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d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Week 2: Software Process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HNDIT 4012-Software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3578411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Software process</a:t>
            </a:r>
          </a:p>
          <a:p>
            <a:r>
              <a:rPr lang="en-GB" dirty="0"/>
              <a:t>Process flow</a:t>
            </a:r>
          </a:p>
          <a:p>
            <a:r>
              <a:rPr lang="en-GB" dirty="0"/>
              <a:t>Software process models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47800" y="6340475"/>
            <a:ext cx="6019800" cy="365125"/>
          </a:xfrm>
        </p:spPr>
        <p:txBody>
          <a:bodyPr/>
          <a:lstStyle/>
          <a:p>
            <a:r>
              <a:rPr lang="en-US" dirty="0"/>
              <a:t>Extracted from Ian </a:t>
            </a:r>
            <a:r>
              <a:rPr lang="en-US" dirty="0" err="1"/>
              <a:t>Sommerville</a:t>
            </a:r>
            <a:r>
              <a:rPr lang="en-US" dirty="0"/>
              <a:t> 2011, Software Engineering, 9th edition. Chapter 2</a:t>
            </a:r>
          </a:p>
        </p:txBody>
      </p:sp>
    </p:spTree>
    <p:extLst>
      <p:ext uri="{BB962C8B-B14F-4D97-AF65-F5344CB8AC3E}">
        <p14:creationId xmlns:p14="http://schemas.microsoft.com/office/powerpoint/2010/main" val="4236168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software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A structured set of activities required to develop a software system. </a:t>
            </a:r>
          </a:p>
          <a:p>
            <a:r>
              <a:rPr lang="en-GB" dirty="0"/>
              <a:t>Many different software processes but all involve:</a:t>
            </a:r>
          </a:p>
          <a:p>
            <a:pPr lvl="1"/>
            <a:r>
              <a:rPr lang="en-GB" dirty="0"/>
              <a:t>Specification – defining what the system should do;</a:t>
            </a:r>
          </a:p>
          <a:p>
            <a:pPr lvl="1"/>
            <a:r>
              <a:rPr lang="en-GB" dirty="0"/>
              <a:t>Design and implementation – defining the organization of the system and implementing the system;</a:t>
            </a:r>
          </a:p>
          <a:p>
            <a:pPr lvl="1"/>
            <a:r>
              <a:rPr lang="en-GB" dirty="0"/>
              <a:t>Validation – checking that it does what the customer wants;</a:t>
            </a:r>
          </a:p>
          <a:p>
            <a:pPr lvl="1"/>
            <a:r>
              <a:rPr lang="en-GB" dirty="0"/>
              <a:t>Evolution – changing the system in response to changing customer needs.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47800" y="6340475"/>
            <a:ext cx="6019800" cy="365125"/>
          </a:xfrm>
        </p:spPr>
        <p:txBody>
          <a:bodyPr/>
          <a:lstStyle/>
          <a:p>
            <a:r>
              <a:rPr lang="en-US" dirty="0"/>
              <a:t>Extracted from Ian </a:t>
            </a:r>
            <a:r>
              <a:rPr lang="en-US" dirty="0" err="1"/>
              <a:t>Sommerville</a:t>
            </a:r>
            <a:r>
              <a:rPr lang="en-US" dirty="0"/>
              <a:t> 2011, Software Engineering, 9th edition. Chapter 2</a:t>
            </a:r>
          </a:p>
        </p:txBody>
      </p:sp>
    </p:spTree>
    <p:extLst>
      <p:ext uri="{BB962C8B-B14F-4D97-AF65-F5344CB8AC3E}">
        <p14:creationId xmlns:p14="http://schemas.microsoft.com/office/powerpoint/2010/main" val="1426725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Plan-driven and agile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Plan-driven processes are processes where all of the process activities are planned in advance and progress is measured against this plan. </a:t>
            </a:r>
          </a:p>
          <a:p>
            <a:r>
              <a:rPr lang="en-GB" dirty="0"/>
              <a:t>In agile processes, planning is incremental and it is easier to change the process to reflect changing customer requirements. </a:t>
            </a:r>
          </a:p>
          <a:p>
            <a:r>
              <a:rPr lang="en-GB" dirty="0"/>
              <a:t>In practice, most practical processes include elements of both plan-driven and agile approaches. 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47800" y="6340475"/>
            <a:ext cx="6019800" cy="365125"/>
          </a:xfrm>
        </p:spPr>
        <p:txBody>
          <a:bodyPr/>
          <a:lstStyle/>
          <a:p>
            <a:r>
              <a:rPr lang="en-US" dirty="0"/>
              <a:t>Extracted from Ian </a:t>
            </a:r>
            <a:r>
              <a:rPr lang="en-US" dirty="0" err="1"/>
              <a:t>Sommerville</a:t>
            </a:r>
            <a:r>
              <a:rPr lang="en-US" dirty="0"/>
              <a:t> 2011, Software Engineering, 9th edition. Chapter 2</a:t>
            </a:r>
          </a:p>
        </p:txBody>
      </p:sp>
    </p:spTree>
    <p:extLst>
      <p:ext uri="{BB962C8B-B14F-4D97-AF65-F5344CB8AC3E}">
        <p14:creationId xmlns:p14="http://schemas.microsoft.com/office/powerpoint/2010/main" val="4282381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specification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The process of establishing what services are required and the constraints on the system’s operation and development.</a:t>
            </a:r>
          </a:p>
          <a:p>
            <a:r>
              <a:rPr lang="en-GB" dirty="0"/>
              <a:t>Requirements engineering process</a:t>
            </a:r>
          </a:p>
          <a:p>
            <a:pPr lvl="1"/>
            <a:r>
              <a:rPr lang="en-GB" dirty="0"/>
              <a:t>Feasibility study</a:t>
            </a:r>
          </a:p>
          <a:p>
            <a:pPr lvl="2"/>
            <a:r>
              <a:rPr lang="en-GB" dirty="0"/>
              <a:t>Is it technically and financially feasible to build the system?</a:t>
            </a:r>
          </a:p>
          <a:p>
            <a:pPr lvl="1"/>
            <a:r>
              <a:rPr lang="en-GB" dirty="0"/>
              <a:t>Requirements elicitation and analysis</a:t>
            </a:r>
          </a:p>
          <a:p>
            <a:pPr lvl="2"/>
            <a:r>
              <a:rPr lang="en-GB" dirty="0"/>
              <a:t>What do the system stakeholders require or expect from the system?</a:t>
            </a:r>
          </a:p>
          <a:p>
            <a:pPr lvl="1"/>
            <a:r>
              <a:rPr lang="en-GB" dirty="0"/>
              <a:t>Requirements specification	</a:t>
            </a:r>
          </a:p>
          <a:p>
            <a:pPr lvl="2"/>
            <a:r>
              <a:rPr lang="en-GB" dirty="0"/>
              <a:t>Defining the requirements in detail</a:t>
            </a:r>
          </a:p>
          <a:p>
            <a:pPr lvl="1"/>
            <a:r>
              <a:rPr lang="en-GB" dirty="0"/>
              <a:t>Requirements validation</a:t>
            </a:r>
          </a:p>
          <a:p>
            <a:pPr lvl="2"/>
            <a:r>
              <a:rPr lang="en-GB" dirty="0"/>
              <a:t>Checking the validity of the requirements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47800" y="6340475"/>
            <a:ext cx="6019800" cy="365125"/>
          </a:xfrm>
        </p:spPr>
        <p:txBody>
          <a:bodyPr/>
          <a:lstStyle/>
          <a:p>
            <a:r>
              <a:rPr lang="en-US" dirty="0"/>
              <a:t>Extracted from Ian </a:t>
            </a:r>
            <a:r>
              <a:rPr lang="en-US" dirty="0" err="1"/>
              <a:t>Sommerville</a:t>
            </a:r>
            <a:r>
              <a:rPr lang="en-US" dirty="0"/>
              <a:t> 2011, Software Engineering, 9th edition. Chapter 2</a:t>
            </a:r>
          </a:p>
        </p:txBody>
      </p:sp>
    </p:spTree>
    <p:extLst>
      <p:ext uri="{BB962C8B-B14F-4D97-AF65-F5344CB8AC3E}">
        <p14:creationId xmlns:p14="http://schemas.microsoft.com/office/powerpoint/2010/main" val="2512978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The requirements engineering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2.4 RE-process.eps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762000" y="2081708"/>
            <a:ext cx="7395542" cy="3859548"/>
          </a:xfrm>
          <a:prstGeom prst="rect">
            <a:avLst/>
          </a:prstGeom>
        </p:spPr>
      </p:pic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47800" y="6340475"/>
            <a:ext cx="6019800" cy="365125"/>
          </a:xfrm>
        </p:spPr>
        <p:txBody>
          <a:bodyPr/>
          <a:lstStyle/>
          <a:p>
            <a:r>
              <a:rPr lang="en-US" dirty="0"/>
              <a:t>Extracted from Ian </a:t>
            </a:r>
            <a:r>
              <a:rPr lang="en-US" dirty="0" err="1"/>
              <a:t>Sommerville</a:t>
            </a:r>
            <a:r>
              <a:rPr lang="en-US" dirty="0"/>
              <a:t> 2011, Software Engineering, 9th edition. Chapter 2</a:t>
            </a:r>
          </a:p>
        </p:txBody>
      </p:sp>
    </p:spTree>
    <p:extLst>
      <p:ext uri="{BB962C8B-B14F-4D97-AF65-F5344CB8AC3E}">
        <p14:creationId xmlns:p14="http://schemas.microsoft.com/office/powerpoint/2010/main" val="2851719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Software design and implementation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The process of converting the system specification into an executable system.</a:t>
            </a:r>
          </a:p>
          <a:p>
            <a:r>
              <a:rPr lang="en-GB" dirty="0"/>
              <a:t>Software design</a:t>
            </a:r>
          </a:p>
          <a:p>
            <a:pPr lvl="1"/>
            <a:r>
              <a:rPr lang="en-GB" dirty="0"/>
              <a:t>Design a software structure that realises the specification;</a:t>
            </a:r>
          </a:p>
          <a:p>
            <a:r>
              <a:rPr lang="en-GB" dirty="0"/>
              <a:t>Implementation</a:t>
            </a:r>
          </a:p>
          <a:p>
            <a:pPr lvl="1"/>
            <a:r>
              <a:rPr lang="en-GB" dirty="0"/>
              <a:t>Translate this structure into an executable program;</a:t>
            </a:r>
          </a:p>
          <a:p>
            <a:r>
              <a:rPr lang="en-GB" dirty="0"/>
              <a:t>The activities of design and implementation are closely related and may be inter-leaved.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47800" y="6340475"/>
            <a:ext cx="6019800" cy="365125"/>
          </a:xfrm>
        </p:spPr>
        <p:txBody>
          <a:bodyPr/>
          <a:lstStyle/>
          <a:p>
            <a:r>
              <a:rPr lang="en-US" dirty="0"/>
              <a:t>Extracted from Ian </a:t>
            </a:r>
            <a:r>
              <a:rPr lang="en-US" dirty="0" err="1"/>
              <a:t>Sommerville</a:t>
            </a:r>
            <a:r>
              <a:rPr lang="en-US" dirty="0"/>
              <a:t> 2011, Software Engineering, 9th edition. Chapter 2</a:t>
            </a:r>
          </a:p>
        </p:txBody>
      </p:sp>
    </p:spTree>
    <p:extLst>
      <p:ext uri="{BB962C8B-B14F-4D97-AF65-F5344CB8AC3E}">
        <p14:creationId xmlns:p14="http://schemas.microsoft.com/office/powerpoint/2010/main" val="2305548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 general model of the design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2.5 Design-process.eps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1314243" y="1524000"/>
            <a:ext cx="6211739" cy="4638099"/>
          </a:xfrm>
          <a:prstGeom prst="rect">
            <a:avLst/>
          </a:prstGeom>
        </p:spPr>
      </p:pic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47800" y="6340475"/>
            <a:ext cx="6019800" cy="365125"/>
          </a:xfrm>
        </p:spPr>
        <p:txBody>
          <a:bodyPr/>
          <a:lstStyle/>
          <a:p>
            <a:r>
              <a:rPr lang="en-US" dirty="0"/>
              <a:t>Extracted from Ian </a:t>
            </a:r>
            <a:r>
              <a:rPr lang="en-US" dirty="0" err="1"/>
              <a:t>Sommerville</a:t>
            </a:r>
            <a:r>
              <a:rPr lang="en-US" dirty="0"/>
              <a:t> 2011, Software Engineering, 9th edition. Chapter 2</a:t>
            </a:r>
          </a:p>
        </p:txBody>
      </p:sp>
    </p:spTree>
    <p:extLst>
      <p:ext uri="{BB962C8B-B14F-4D97-AF65-F5344CB8AC3E}">
        <p14:creationId xmlns:p14="http://schemas.microsoft.com/office/powerpoint/2010/main" val="1798928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i="1" dirty="0"/>
              <a:t>Architectural design,</a:t>
            </a:r>
            <a:r>
              <a:rPr lang="en-GB" dirty="0"/>
              <a:t> where you identify the overall structure of the system, the principal components (sometimes called sub-systems or modules), their relationships and how they are distributed.</a:t>
            </a:r>
          </a:p>
          <a:p>
            <a:r>
              <a:rPr lang="en-GB" i="1" dirty="0"/>
              <a:t>Interface design,</a:t>
            </a:r>
            <a:r>
              <a:rPr lang="en-GB" dirty="0"/>
              <a:t> where you define the interfaces between system components. </a:t>
            </a:r>
          </a:p>
          <a:p>
            <a:r>
              <a:rPr lang="en-GB" i="1" dirty="0"/>
              <a:t>Component design, </a:t>
            </a:r>
            <a:r>
              <a:rPr lang="en-GB" dirty="0"/>
              <a:t>where you take each system component and design how it will operate. </a:t>
            </a:r>
          </a:p>
          <a:p>
            <a:r>
              <a:rPr lang="en-GB" i="1" dirty="0"/>
              <a:t>Database design, </a:t>
            </a:r>
            <a:r>
              <a:rPr lang="en-GB" dirty="0"/>
              <a:t>where you design the system data structures and how these are to be represented in a database.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47800" y="6340475"/>
            <a:ext cx="6019800" cy="365125"/>
          </a:xfrm>
        </p:spPr>
        <p:txBody>
          <a:bodyPr/>
          <a:lstStyle/>
          <a:p>
            <a:r>
              <a:rPr lang="en-US" dirty="0"/>
              <a:t>Extracted from Ian </a:t>
            </a:r>
            <a:r>
              <a:rPr lang="en-US" dirty="0" err="1"/>
              <a:t>Sommerville</a:t>
            </a:r>
            <a:r>
              <a:rPr lang="en-US" dirty="0"/>
              <a:t> 2011, Software Engineering, 9th edition. Chapter 2</a:t>
            </a:r>
          </a:p>
        </p:txBody>
      </p:sp>
    </p:spTree>
    <p:extLst>
      <p:ext uri="{BB962C8B-B14F-4D97-AF65-F5344CB8AC3E}">
        <p14:creationId xmlns:p14="http://schemas.microsoft.com/office/powerpoint/2010/main" val="554606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validation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Validation is intended to show that a system conforms to its specification and meets the requirements of the system customer.</a:t>
            </a:r>
          </a:p>
          <a:p>
            <a:r>
              <a:rPr lang="en-GB" dirty="0"/>
              <a:t>Involves checking and review processes and system testing.</a:t>
            </a:r>
          </a:p>
          <a:p>
            <a:r>
              <a:rPr lang="en-GB" dirty="0"/>
              <a:t>System testing involves executing the system with test cases that are derived from the specification of the real data to be processed by the system.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47800" y="6340475"/>
            <a:ext cx="6019800" cy="365125"/>
          </a:xfrm>
        </p:spPr>
        <p:txBody>
          <a:bodyPr/>
          <a:lstStyle/>
          <a:p>
            <a:r>
              <a:rPr lang="en-US" dirty="0"/>
              <a:t>Extracted from Ian </a:t>
            </a:r>
            <a:r>
              <a:rPr lang="en-US" dirty="0" err="1"/>
              <a:t>Sommerville</a:t>
            </a:r>
            <a:r>
              <a:rPr lang="en-US" dirty="0"/>
              <a:t> 2011, Software Engineering, 9th edition. Chapter 2</a:t>
            </a:r>
          </a:p>
        </p:txBody>
      </p:sp>
    </p:spTree>
    <p:extLst>
      <p:ext uri="{BB962C8B-B14F-4D97-AF65-F5344CB8AC3E}">
        <p14:creationId xmlns:p14="http://schemas.microsoft.com/office/powerpoint/2010/main" val="3124521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Stages of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2.6 Testing-process.eps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1676400" y="2895600"/>
            <a:ext cx="6277535" cy="1707049"/>
          </a:xfrm>
          <a:prstGeom prst="rect">
            <a:avLst/>
          </a:prstGeom>
        </p:spPr>
      </p:pic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47800" y="6340475"/>
            <a:ext cx="6019800" cy="365125"/>
          </a:xfrm>
        </p:spPr>
        <p:txBody>
          <a:bodyPr/>
          <a:lstStyle/>
          <a:p>
            <a:r>
              <a:rPr lang="en-US" dirty="0"/>
              <a:t>Extracted from Ian </a:t>
            </a:r>
            <a:r>
              <a:rPr lang="en-US" dirty="0" err="1"/>
              <a:t>Sommerville</a:t>
            </a:r>
            <a:r>
              <a:rPr lang="en-US" dirty="0"/>
              <a:t> 2011, Software Engineering, 9th edition. Chapter 2</a:t>
            </a:r>
          </a:p>
        </p:txBody>
      </p:sp>
    </p:spTree>
    <p:extLst>
      <p:ext uri="{BB962C8B-B14F-4D97-AF65-F5344CB8AC3E}">
        <p14:creationId xmlns:p14="http://schemas.microsoft.com/office/powerpoint/2010/main" val="535234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Testing stages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Development or component testing</a:t>
            </a:r>
          </a:p>
          <a:p>
            <a:pPr lvl="1"/>
            <a:r>
              <a:rPr lang="en-GB" dirty="0"/>
              <a:t>Individual components are tested independently; </a:t>
            </a:r>
          </a:p>
          <a:p>
            <a:pPr lvl="1"/>
            <a:r>
              <a:rPr lang="en-GB" dirty="0"/>
              <a:t>Components may be functions or objects or coherent groupings of these entities.</a:t>
            </a:r>
          </a:p>
          <a:p>
            <a:r>
              <a:rPr lang="en-GB" dirty="0"/>
              <a:t>System testing</a:t>
            </a:r>
          </a:p>
          <a:p>
            <a:pPr lvl="1"/>
            <a:r>
              <a:rPr lang="en-GB" dirty="0"/>
              <a:t>Testing of the system as a whole. Testing of emergent properties is particularly important.</a:t>
            </a:r>
          </a:p>
          <a:p>
            <a:r>
              <a:rPr lang="en-GB" dirty="0"/>
              <a:t>Acceptance testing</a:t>
            </a:r>
          </a:p>
          <a:p>
            <a:pPr lvl="1"/>
            <a:r>
              <a:rPr lang="en-GB" dirty="0"/>
              <a:t>Testing with customer data to check that the system meets the customer’s needs.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47800" y="6340475"/>
            <a:ext cx="6019800" cy="365125"/>
          </a:xfrm>
        </p:spPr>
        <p:txBody>
          <a:bodyPr/>
          <a:lstStyle/>
          <a:p>
            <a:r>
              <a:rPr lang="en-US" dirty="0"/>
              <a:t>Extracted from Ian </a:t>
            </a:r>
            <a:r>
              <a:rPr lang="en-US" dirty="0" err="1"/>
              <a:t>Sommerville</a:t>
            </a:r>
            <a:r>
              <a:rPr lang="en-US" dirty="0"/>
              <a:t> 2011, Software Engineering, 9th edition. Chapter 2</a:t>
            </a:r>
          </a:p>
        </p:txBody>
      </p:sp>
    </p:spTree>
    <p:extLst>
      <p:ext uri="{BB962C8B-B14F-4D97-AF65-F5344CB8AC3E}">
        <p14:creationId xmlns:p14="http://schemas.microsoft.com/office/powerpoint/2010/main" val="2911903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Testing phases in a plan-driven software process</a:t>
            </a:r>
            <a:br>
              <a:rPr lang="en-GB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2.7 Testing-phases.eps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274529" y="2186304"/>
            <a:ext cx="8647437" cy="2988016"/>
          </a:xfrm>
          <a:prstGeom prst="rect">
            <a:avLst/>
          </a:prstGeom>
        </p:spPr>
      </p:pic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47800" y="6340475"/>
            <a:ext cx="6019800" cy="365125"/>
          </a:xfrm>
        </p:spPr>
        <p:txBody>
          <a:bodyPr/>
          <a:lstStyle/>
          <a:p>
            <a:r>
              <a:rPr lang="en-US" dirty="0"/>
              <a:t>Extracted from Ian </a:t>
            </a:r>
            <a:r>
              <a:rPr lang="en-US" dirty="0" err="1"/>
              <a:t>Sommerville</a:t>
            </a:r>
            <a:r>
              <a:rPr lang="en-US" dirty="0"/>
              <a:t> 2011, Software Engineering, 9th edition. Chapter 2</a:t>
            </a:r>
          </a:p>
        </p:txBody>
      </p:sp>
    </p:spTree>
    <p:extLst>
      <p:ext uri="{BB962C8B-B14F-4D97-AF65-F5344CB8AC3E}">
        <p14:creationId xmlns:p14="http://schemas.microsoft.com/office/powerpoint/2010/main" val="19578289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evolution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Software is inherently flexible and can change. </a:t>
            </a:r>
          </a:p>
          <a:p>
            <a:r>
              <a:rPr lang="en-GB" dirty="0"/>
              <a:t>As requirements change through changing business circumstances, the software that supports the business must also evolve and change.</a:t>
            </a:r>
          </a:p>
          <a:p>
            <a:r>
              <a:rPr lang="en-GB" dirty="0"/>
              <a:t>Although there has been a demarcation between development and evolution (maintenance) this is increasingly irrelevant as fewer and fewer systems are completely new.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47800" y="6340475"/>
            <a:ext cx="6019800" cy="365125"/>
          </a:xfrm>
        </p:spPr>
        <p:txBody>
          <a:bodyPr/>
          <a:lstStyle/>
          <a:p>
            <a:r>
              <a:rPr lang="en-US" dirty="0"/>
              <a:t>Extracted from Ian </a:t>
            </a:r>
            <a:r>
              <a:rPr lang="en-US" dirty="0" err="1"/>
              <a:t>Sommerville</a:t>
            </a:r>
            <a:r>
              <a:rPr lang="en-US" dirty="0"/>
              <a:t> 2011, Software Engineering, 9th edition. Chapter 2</a:t>
            </a:r>
          </a:p>
        </p:txBody>
      </p:sp>
    </p:spTree>
    <p:extLst>
      <p:ext uri="{BB962C8B-B14F-4D97-AF65-F5344CB8AC3E}">
        <p14:creationId xmlns:p14="http://schemas.microsoft.com/office/powerpoint/2010/main" val="2423914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 evolution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2.8 System evolution.eps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1752600" y="2707497"/>
            <a:ext cx="6112314" cy="1880712"/>
          </a:xfrm>
          <a:prstGeom prst="rect">
            <a:avLst/>
          </a:prstGeom>
        </p:spPr>
      </p:pic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47800" y="6340475"/>
            <a:ext cx="6019800" cy="365125"/>
          </a:xfrm>
        </p:spPr>
        <p:txBody>
          <a:bodyPr/>
          <a:lstStyle/>
          <a:p>
            <a:r>
              <a:rPr lang="en-US" dirty="0"/>
              <a:t>Extracted from Ian </a:t>
            </a:r>
            <a:r>
              <a:rPr lang="en-US" dirty="0" err="1"/>
              <a:t>Sommerville</a:t>
            </a:r>
            <a:r>
              <a:rPr lang="en-US" dirty="0"/>
              <a:t> 2011, Software Engineering, 9th edition. Chapter 2</a:t>
            </a:r>
          </a:p>
        </p:txBody>
      </p:sp>
    </p:spTree>
    <p:extLst>
      <p:ext uri="{BB962C8B-B14F-4D97-AF65-F5344CB8AC3E}">
        <p14:creationId xmlns:p14="http://schemas.microsoft.com/office/powerpoint/2010/main" val="13658655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Process Flow</a:t>
            </a:r>
          </a:p>
        </p:txBody>
      </p:sp>
      <p:pic>
        <p:nvPicPr>
          <p:cNvPr id="4" name="Picture 5" descr="Fig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752600"/>
            <a:ext cx="3799046" cy="4221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47800" y="6340475"/>
            <a:ext cx="6019800" cy="365125"/>
          </a:xfrm>
        </p:spPr>
        <p:txBody>
          <a:bodyPr/>
          <a:lstStyle/>
          <a:p>
            <a:r>
              <a:rPr lang="en-US" dirty="0"/>
              <a:t>Extracted from Ian </a:t>
            </a:r>
            <a:r>
              <a:rPr lang="en-US" dirty="0" err="1"/>
              <a:t>Sommerville</a:t>
            </a:r>
            <a:r>
              <a:rPr lang="en-US" dirty="0"/>
              <a:t> 2011, Software Engineering, 9th edition. Chapter 2</a:t>
            </a:r>
          </a:p>
        </p:txBody>
      </p:sp>
    </p:spTree>
    <p:extLst>
      <p:ext uri="{BB962C8B-B14F-4D97-AF65-F5344CB8AC3E}">
        <p14:creationId xmlns:p14="http://schemas.microsoft.com/office/powerpoint/2010/main" val="27662470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process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The waterfall model</a:t>
            </a:r>
          </a:p>
          <a:p>
            <a:pPr lvl="1"/>
            <a:r>
              <a:rPr lang="en-GB" dirty="0"/>
              <a:t>Plan-driven model. Separate and distinct phases of specification and development.</a:t>
            </a:r>
          </a:p>
          <a:p>
            <a:r>
              <a:rPr lang="en-GB" dirty="0"/>
              <a:t>Incremental development(Evolutionary)</a:t>
            </a:r>
          </a:p>
          <a:p>
            <a:pPr lvl="1"/>
            <a:r>
              <a:rPr lang="en-GB" dirty="0"/>
              <a:t>Specification, development and validation are interleaved. May be plan-driven or agile.</a:t>
            </a:r>
          </a:p>
          <a:p>
            <a:r>
              <a:rPr lang="en-GB" dirty="0"/>
              <a:t>Reuse-oriented software engineering</a:t>
            </a:r>
          </a:p>
          <a:p>
            <a:pPr lvl="1"/>
            <a:r>
              <a:rPr lang="en-GB" dirty="0"/>
              <a:t>The system is assembled from existing components. May be plan-driven or agile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47800" y="6340475"/>
            <a:ext cx="6019800" cy="365125"/>
          </a:xfrm>
        </p:spPr>
        <p:txBody>
          <a:bodyPr/>
          <a:lstStyle/>
          <a:p>
            <a:r>
              <a:rPr lang="en-US" dirty="0"/>
              <a:t>Extracted from Ian </a:t>
            </a:r>
            <a:r>
              <a:rPr lang="en-US" dirty="0" err="1"/>
              <a:t>Sommerville</a:t>
            </a:r>
            <a:r>
              <a:rPr lang="en-US" dirty="0"/>
              <a:t> 2011, Software Engineering, 9th edition. Chapter 2</a:t>
            </a:r>
          </a:p>
        </p:txBody>
      </p:sp>
    </p:spTree>
    <p:extLst>
      <p:ext uri="{BB962C8B-B14F-4D97-AF65-F5344CB8AC3E}">
        <p14:creationId xmlns:p14="http://schemas.microsoft.com/office/powerpoint/2010/main" val="22829747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waterfall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There are separate identified phases in the waterfall model:</a:t>
            </a:r>
          </a:p>
          <a:p>
            <a:pPr lvl="1"/>
            <a:r>
              <a:rPr lang="en-GB" dirty="0"/>
              <a:t>Requirements analysis and definition</a:t>
            </a:r>
          </a:p>
          <a:p>
            <a:pPr lvl="1"/>
            <a:r>
              <a:rPr lang="en-GB" dirty="0"/>
              <a:t>System and software design</a:t>
            </a:r>
          </a:p>
          <a:p>
            <a:pPr lvl="1"/>
            <a:r>
              <a:rPr lang="en-GB" dirty="0"/>
              <a:t>Implementation and unit testing</a:t>
            </a:r>
          </a:p>
          <a:p>
            <a:pPr lvl="1"/>
            <a:r>
              <a:rPr lang="en-GB" dirty="0"/>
              <a:t>Integration and system testing</a:t>
            </a:r>
          </a:p>
          <a:p>
            <a:pPr lvl="1"/>
            <a:r>
              <a:rPr lang="en-GB" dirty="0"/>
              <a:t>Operation and maintenance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47800" y="6340475"/>
            <a:ext cx="6019800" cy="365125"/>
          </a:xfrm>
        </p:spPr>
        <p:txBody>
          <a:bodyPr/>
          <a:lstStyle/>
          <a:p>
            <a:r>
              <a:rPr lang="en-US" dirty="0"/>
              <a:t>Extracted from Ian </a:t>
            </a:r>
            <a:r>
              <a:rPr lang="en-US" dirty="0" err="1"/>
              <a:t>Sommerville</a:t>
            </a:r>
            <a:r>
              <a:rPr lang="en-US" dirty="0"/>
              <a:t> 2011, Software Engineering, 9th edition. Chapter 2</a:t>
            </a:r>
          </a:p>
        </p:txBody>
      </p:sp>
    </p:spTree>
    <p:extLst>
      <p:ext uri="{BB962C8B-B14F-4D97-AF65-F5344CB8AC3E}">
        <p14:creationId xmlns:p14="http://schemas.microsoft.com/office/powerpoint/2010/main" val="40907717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waterfall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2.1.Waterfall-model.eps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911053" y="1931942"/>
            <a:ext cx="7183698" cy="4039465"/>
          </a:xfrm>
          <a:prstGeom prst="rect">
            <a:avLst/>
          </a:prstGeom>
        </p:spPr>
      </p:pic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47800" y="6340475"/>
            <a:ext cx="6019800" cy="365125"/>
          </a:xfrm>
        </p:spPr>
        <p:txBody>
          <a:bodyPr/>
          <a:lstStyle/>
          <a:p>
            <a:r>
              <a:rPr lang="en-US" dirty="0"/>
              <a:t>Extracted from Ian </a:t>
            </a:r>
            <a:r>
              <a:rPr lang="en-US" dirty="0" err="1"/>
              <a:t>Sommerville</a:t>
            </a:r>
            <a:r>
              <a:rPr lang="en-US" dirty="0"/>
              <a:t> 2011, Software Engineering, 9th edition. Chapter 2</a:t>
            </a:r>
          </a:p>
        </p:txBody>
      </p:sp>
    </p:spTree>
    <p:extLst>
      <p:ext uri="{BB962C8B-B14F-4D97-AF65-F5344CB8AC3E}">
        <p14:creationId xmlns:p14="http://schemas.microsoft.com/office/powerpoint/2010/main" val="184773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waterfall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The main drawback of the waterfall model is the difficulty of accommodating change after the process is underway.</a:t>
            </a:r>
          </a:p>
          <a:p>
            <a:r>
              <a:rPr lang="en-GB" dirty="0"/>
              <a:t>Inflexible partitioning of the project into distinct stages makes it difficult to respond to changing customer requirements.</a:t>
            </a:r>
          </a:p>
          <a:p>
            <a:pPr lvl="1"/>
            <a:r>
              <a:rPr lang="en-GB" dirty="0"/>
              <a:t>Therefore, this model is only appropriate when the requirements are well-understood and changes will be fairly limited during the design process. </a:t>
            </a:r>
          </a:p>
          <a:p>
            <a:pPr lvl="1"/>
            <a:r>
              <a:rPr lang="en-GB" dirty="0"/>
              <a:t>Few business systems have stable requirements.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47800" y="6340475"/>
            <a:ext cx="6019800" cy="365125"/>
          </a:xfrm>
        </p:spPr>
        <p:txBody>
          <a:bodyPr/>
          <a:lstStyle/>
          <a:p>
            <a:r>
              <a:rPr lang="en-US" dirty="0"/>
              <a:t>Extracted from Ian </a:t>
            </a:r>
            <a:r>
              <a:rPr lang="en-US" dirty="0" err="1"/>
              <a:t>Sommerville</a:t>
            </a:r>
            <a:r>
              <a:rPr lang="en-US" dirty="0"/>
              <a:t> 2011, Software Engineering, 9th edition. Chapter 2</a:t>
            </a:r>
          </a:p>
        </p:txBody>
      </p:sp>
    </p:spTree>
    <p:extLst>
      <p:ext uri="{BB962C8B-B14F-4D97-AF65-F5344CB8AC3E}">
        <p14:creationId xmlns:p14="http://schemas.microsoft.com/office/powerpoint/2010/main" val="42142004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Incremental development(Evolutionary)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2.2 Incremental-dev.eps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457200" y="1892460"/>
            <a:ext cx="7517728" cy="4051928"/>
          </a:xfrm>
          <a:prstGeom prst="rect">
            <a:avLst/>
          </a:prstGeom>
        </p:spPr>
      </p:pic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47800" y="6340475"/>
            <a:ext cx="6019800" cy="365125"/>
          </a:xfrm>
        </p:spPr>
        <p:txBody>
          <a:bodyPr/>
          <a:lstStyle/>
          <a:p>
            <a:r>
              <a:rPr lang="en-US" dirty="0"/>
              <a:t>Extracted from Ian </a:t>
            </a:r>
            <a:r>
              <a:rPr lang="en-US" dirty="0" err="1"/>
              <a:t>Sommerville</a:t>
            </a:r>
            <a:r>
              <a:rPr lang="en-US" dirty="0"/>
              <a:t> 2011, Software Engineering, 9th edition. Chapter 2</a:t>
            </a:r>
          </a:p>
        </p:txBody>
      </p:sp>
    </p:spTree>
    <p:extLst>
      <p:ext uri="{BB962C8B-B14F-4D97-AF65-F5344CB8AC3E}">
        <p14:creationId xmlns:p14="http://schemas.microsoft.com/office/powerpoint/2010/main" val="40277302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Incremental delivery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Rather than deliver the system as a single delivery, the development and delivery is broken down into increments with each increment delivering part of the required functionality.</a:t>
            </a:r>
          </a:p>
          <a:p>
            <a:r>
              <a:rPr lang="en-GB" dirty="0"/>
              <a:t>User requirements are prioritised and the highest priority requirements are included in early increments.</a:t>
            </a:r>
          </a:p>
          <a:p>
            <a:r>
              <a:rPr lang="en-GB" dirty="0"/>
              <a:t>Once the development of an increment is started, the requirements are frozen though requirements for later increments can continue to evolve.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47800" y="6340475"/>
            <a:ext cx="6019800" cy="365125"/>
          </a:xfrm>
        </p:spPr>
        <p:txBody>
          <a:bodyPr/>
          <a:lstStyle/>
          <a:p>
            <a:r>
              <a:rPr lang="en-US" dirty="0"/>
              <a:t>Extracted from Ian </a:t>
            </a:r>
            <a:r>
              <a:rPr lang="en-US" dirty="0" err="1"/>
              <a:t>Sommerville</a:t>
            </a:r>
            <a:r>
              <a:rPr lang="en-US" dirty="0"/>
              <a:t> 2011, Software Engineering, 9th edition. Chapter 2</a:t>
            </a:r>
          </a:p>
        </p:txBody>
      </p:sp>
    </p:spTree>
    <p:extLst>
      <p:ext uri="{BB962C8B-B14F-4D97-AF65-F5344CB8AC3E}">
        <p14:creationId xmlns:p14="http://schemas.microsoft.com/office/powerpoint/2010/main" val="22133275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Incremental delivery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2.10 Incremental-delivery.eps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457200" y="2488504"/>
            <a:ext cx="8172017" cy="2767244"/>
          </a:xfrm>
          <a:prstGeom prst="rect">
            <a:avLst/>
          </a:prstGeom>
        </p:spPr>
      </p:pic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47800" y="6340475"/>
            <a:ext cx="6019800" cy="365125"/>
          </a:xfrm>
        </p:spPr>
        <p:txBody>
          <a:bodyPr/>
          <a:lstStyle/>
          <a:p>
            <a:r>
              <a:rPr lang="en-US" dirty="0"/>
              <a:t>Extracted from Ian </a:t>
            </a:r>
            <a:r>
              <a:rPr lang="en-US" dirty="0" err="1"/>
              <a:t>Sommerville</a:t>
            </a:r>
            <a:r>
              <a:rPr lang="en-US" dirty="0"/>
              <a:t> 2011, Software Engineering, 9th edition. Chapter 2</a:t>
            </a:r>
          </a:p>
        </p:txBody>
      </p:sp>
    </p:spTree>
    <p:extLst>
      <p:ext uri="{BB962C8B-B14F-4D97-AF65-F5344CB8AC3E}">
        <p14:creationId xmlns:p14="http://schemas.microsoft.com/office/powerpoint/2010/main" val="30720936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Incremental delivery advantages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Customer value can be delivered with each increment so system functionality is available earlier.</a:t>
            </a:r>
          </a:p>
          <a:p>
            <a:r>
              <a:rPr lang="en-GB" dirty="0"/>
              <a:t>Early increments act as a prototype to help elicit requirements for later increments.</a:t>
            </a:r>
          </a:p>
          <a:p>
            <a:r>
              <a:rPr lang="en-GB" dirty="0"/>
              <a:t>Lower risk of overall project failure.</a:t>
            </a:r>
          </a:p>
          <a:p>
            <a:r>
              <a:rPr lang="en-GB" dirty="0"/>
              <a:t>The highest priority system services tend to receive the most testing.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47800" y="6340475"/>
            <a:ext cx="6019800" cy="365125"/>
          </a:xfrm>
        </p:spPr>
        <p:txBody>
          <a:bodyPr/>
          <a:lstStyle/>
          <a:p>
            <a:r>
              <a:rPr lang="en-US" dirty="0"/>
              <a:t>Extracted from Ian </a:t>
            </a:r>
            <a:r>
              <a:rPr lang="en-US" dirty="0" err="1"/>
              <a:t>Sommerville</a:t>
            </a:r>
            <a:r>
              <a:rPr lang="en-US" dirty="0"/>
              <a:t> 2011, Software Engineering, 9th edition. Chapter 2</a:t>
            </a:r>
          </a:p>
        </p:txBody>
      </p:sp>
    </p:spTree>
    <p:extLst>
      <p:ext uri="{BB962C8B-B14F-4D97-AF65-F5344CB8AC3E}">
        <p14:creationId xmlns:p14="http://schemas.microsoft.com/office/powerpoint/2010/main" val="36798339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Incremental delivery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Most systems require a set of basic facilities that are used by different parts of the system. </a:t>
            </a:r>
          </a:p>
          <a:p>
            <a:pPr lvl="1"/>
            <a:r>
              <a:rPr lang="en-GB" dirty="0"/>
              <a:t>As requirements are not defined in detail until an increment is to be implemented, it can be hard to identify common facilities that are needed by all increments. </a:t>
            </a:r>
          </a:p>
          <a:p>
            <a:r>
              <a:rPr lang="en-GB" dirty="0"/>
              <a:t>The essence of iterative processes is that the specification is developed in conjunction with the software.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47800" y="6340475"/>
            <a:ext cx="6019800" cy="365125"/>
          </a:xfrm>
        </p:spPr>
        <p:txBody>
          <a:bodyPr/>
          <a:lstStyle/>
          <a:p>
            <a:r>
              <a:rPr lang="en-US" dirty="0"/>
              <a:t>Extracted from Ian </a:t>
            </a:r>
            <a:r>
              <a:rPr lang="en-US" dirty="0" err="1"/>
              <a:t>Sommerville</a:t>
            </a:r>
            <a:r>
              <a:rPr lang="en-US" dirty="0"/>
              <a:t> 2011, Software Engineering, 9th edition. Chapter 2</a:t>
            </a:r>
          </a:p>
        </p:txBody>
      </p:sp>
    </p:spTree>
    <p:extLst>
      <p:ext uri="{BB962C8B-B14F-4D97-AF65-F5344CB8AC3E}">
        <p14:creationId xmlns:p14="http://schemas.microsoft.com/office/powerpoint/2010/main" val="2959579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Incremental Development</a:t>
            </a:r>
            <a:br>
              <a:rPr lang="en-US" dirty="0"/>
            </a:br>
            <a:r>
              <a:rPr lang="en-US" dirty="0"/>
              <a:t>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Type 1: Exploratory Development</a:t>
            </a:r>
          </a:p>
          <a:p>
            <a:pPr lvl="1"/>
            <a:r>
              <a:rPr lang="en-US" dirty="0"/>
              <a:t>Spiral Model</a:t>
            </a:r>
          </a:p>
          <a:p>
            <a:r>
              <a:rPr lang="en-US" dirty="0"/>
              <a:t>Type 2: Throwaway Prototyping</a:t>
            </a:r>
          </a:p>
          <a:p>
            <a:pPr lvl="1"/>
            <a:r>
              <a:rPr lang="en-US" dirty="0"/>
              <a:t>Rapid Prototyping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47800" y="6340475"/>
            <a:ext cx="6019800" cy="365125"/>
          </a:xfrm>
        </p:spPr>
        <p:txBody>
          <a:bodyPr/>
          <a:lstStyle/>
          <a:p>
            <a:r>
              <a:rPr lang="en-US" dirty="0"/>
              <a:t>Extracted from Ian </a:t>
            </a:r>
            <a:r>
              <a:rPr lang="en-US" dirty="0" err="1"/>
              <a:t>Sommerville</a:t>
            </a:r>
            <a:r>
              <a:rPr lang="en-US" dirty="0"/>
              <a:t> 2011, Software Engineering, 9th edition. Chapter 1</a:t>
            </a:r>
          </a:p>
        </p:txBody>
      </p:sp>
    </p:spTree>
    <p:extLst>
      <p:ext uri="{BB962C8B-B14F-4D97-AF65-F5344CB8AC3E}">
        <p14:creationId xmlns:p14="http://schemas.microsoft.com/office/powerpoint/2010/main" val="11344732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Boehm’s spiral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Process is represented as a spiral rather than as a sequence of activities with backtracking.</a:t>
            </a:r>
          </a:p>
          <a:p>
            <a:r>
              <a:rPr lang="en-GB" dirty="0"/>
              <a:t>Each loop in the spiral represents a phase in the process. </a:t>
            </a:r>
          </a:p>
          <a:p>
            <a:r>
              <a:rPr lang="en-GB" dirty="0"/>
              <a:t>No fixed phases such as specification or design - loops in the spiral are chosen depending on what is required.</a:t>
            </a:r>
          </a:p>
          <a:p>
            <a:r>
              <a:rPr lang="en-GB" dirty="0"/>
              <a:t>Risks are explicitly assessed and resolved throughout the process.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47800" y="6340475"/>
            <a:ext cx="6019800" cy="365125"/>
          </a:xfrm>
        </p:spPr>
        <p:txBody>
          <a:bodyPr/>
          <a:lstStyle/>
          <a:p>
            <a:r>
              <a:rPr lang="en-US" dirty="0"/>
              <a:t>Extracted from Ian </a:t>
            </a:r>
            <a:r>
              <a:rPr lang="en-US" dirty="0" err="1"/>
              <a:t>Sommerville</a:t>
            </a:r>
            <a:r>
              <a:rPr lang="en-US" dirty="0"/>
              <a:t> 2011, Software Engineering, 9th edition. Chapter 2</a:t>
            </a:r>
          </a:p>
        </p:txBody>
      </p:sp>
    </p:spTree>
    <p:extLst>
      <p:ext uri="{BB962C8B-B14F-4D97-AF65-F5344CB8AC3E}">
        <p14:creationId xmlns:p14="http://schemas.microsoft.com/office/powerpoint/2010/main" val="2158093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Boehm’s spiral model of the software process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2.11 Spiral-model.eps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1007471" y="1644649"/>
            <a:ext cx="6986169" cy="4753301"/>
          </a:xfrm>
          <a:prstGeom prst="rect">
            <a:avLst/>
          </a:prstGeom>
        </p:spPr>
      </p:pic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47800" y="6340475"/>
            <a:ext cx="6019800" cy="365125"/>
          </a:xfrm>
        </p:spPr>
        <p:txBody>
          <a:bodyPr/>
          <a:lstStyle/>
          <a:p>
            <a:r>
              <a:rPr lang="en-US" dirty="0"/>
              <a:t>Extracted from Ian </a:t>
            </a:r>
            <a:r>
              <a:rPr lang="en-US" dirty="0" err="1"/>
              <a:t>Sommerville</a:t>
            </a:r>
            <a:r>
              <a:rPr lang="en-US" dirty="0"/>
              <a:t> 2011, Software Engineering, 9th edition. Chapter 2</a:t>
            </a:r>
          </a:p>
        </p:txBody>
      </p:sp>
    </p:spTree>
    <p:extLst>
      <p:ext uri="{BB962C8B-B14F-4D97-AF65-F5344CB8AC3E}">
        <p14:creationId xmlns:p14="http://schemas.microsoft.com/office/powerpoint/2010/main" val="36606770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Spiral model sectors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Objective setting</a:t>
            </a:r>
          </a:p>
          <a:p>
            <a:pPr lvl="1"/>
            <a:r>
              <a:rPr lang="en-GB" dirty="0"/>
              <a:t>Specific objectives for the phase are identified.</a:t>
            </a:r>
          </a:p>
          <a:p>
            <a:r>
              <a:rPr lang="en-GB" dirty="0"/>
              <a:t>Risk assessment and reduction</a:t>
            </a:r>
          </a:p>
          <a:p>
            <a:pPr lvl="1"/>
            <a:r>
              <a:rPr lang="en-GB" dirty="0"/>
              <a:t>Risks are assessed and activities put in place to reduce the key risks.</a:t>
            </a:r>
          </a:p>
          <a:p>
            <a:r>
              <a:rPr lang="en-GB" dirty="0"/>
              <a:t>Development and validation</a:t>
            </a:r>
          </a:p>
          <a:p>
            <a:pPr lvl="1"/>
            <a:r>
              <a:rPr lang="en-GB" dirty="0"/>
              <a:t>A development model for the system is chosen  which can be any of the generic models.</a:t>
            </a:r>
          </a:p>
          <a:p>
            <a:r>
              <a:rPr lang="en-GB" dirty="0"/>
              <a:t>Planning</a:t>
            </a:r>
          </a:p>
          <a:p>
            <a:pPr lvl="1"/>
            <a:r>
              <a:rPr lang="en-GB" dirty="0"/>
              <a:t>The project is reviewed and the next phase of the spiral is planned.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47800" y="6340475"/>
            <a:ext cx="6019800" cy="365125"/>
          </a:xfrm>
        </p:spPr>
        <p:txBody>
          <a:bodyPr/>
          <a:lstStyle/>
          <a:p>
            <a:r>
              <a:rPr lang="en-US" dirty="0"/>
              <a:t>Extracted from Ian </a:t>
            </a:r>
            <a:r>
              <a:rPr lang="en-US" dirty="0" err="1"/>
              <a:t>Sommerville</a:t>
            </a:r>
            <a:r>
              <a:rPr lang="en-US" dirty="0"/>
              <a:t> 2011, Software Engineering, 9th edition. Chapter 2</a:t>
            </a:r>
          </a:p>
        </p:txBody>
      </p:sp>
    </p:spTree>
    <p:extLst>
      <p:ext uri="{BB962C8B-B14F-4D97-AF65-F5344CB8AC3E}">
        <p14:creationId xmlns:p14="http://schemas.microsoft.com/office/powerpoint/2010/main" val="22606663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Spiral model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Spiral model has been very influential in helping people think about iteration in software processes and introducing the risk-driven approach to development.</a:t>
            </a:r>
          </a:p>
          <a:p>
            <a:r>
              <a:rPr lang="en-US" dirty="0"/>
              <a:t>In practice, however, the model is rarely used as published for practical software development.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47800" y="6340475"/>
            <a:ext cx="6019800" cy="365125"/>
          </a:xfrm>
        </p:spPr>
        <p:txBody>
          <a:bodyPr/>
          <a:lstStyle/>
          <a:p>
            <a:r>
              <a:rPr lang="en-US" dirty="0"/>
              <a:t>Extracted from Ian </a:t>
            </a:r>
            <a:r>
              <a:rPr lang="en-US" dirty="0" err="1"/>
              <a:t>Sommerville</a:t>
            </a:r>
            <a:r>
              <a:rPr lang="en-US" dirty="0"/>
              <a:t> 2011, Software Engineering, 9th edition. Chapter 2</a:t>
            </a:r>
          </a:p>
        </p:txBody>
      </p:sp>
    </p:spTree>
    <p:extLst>
      <p:ext uri="{BB962C8B-B14F-4D97-AF65-F5344CB8AC3E}">
        <p14:creationId xmlns:p14="http://schemas.microsoft.com/office/powerpoint/2010/main" val="2431906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prototyping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prototype is an initial version of a system used to demonstrate concepts and try out design options.</a:t>
            </a:r>
          </a:p>
          <a:p>
            <a:r>
              <a:rPr lang="en-US" dirty="0"/>
              <a:t>A prototype can be used in:</a:t>
            </a:r>
          </a:p>
          <a:p>
            <a:pPr lvl="1"/>
            <a:r>
              <a:rPr lang="en-US" dirty="0"/>
              <a:t>The requirements engineering process to help with requirements elicitation and validation;</a:t>
            </a:r>
          </a:p>
          <a:p>
            <a:pPr lvl="1"/>
            <a:r>
              <a:rPr lang="en-US" dirty="0"/>
              <a:t>In design processes to explore options and develop a UI design;</a:t>
            </a:r>
          </a:p>
          <a:p>
            <a:pPr lvl="1"/>
            <a:r>
              <a:rPr lang="en-US" dirty="0"/>
              <a:t>In the testing process to run back-to-back tests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47800" y="6340475"/>
            <a:ext cx="6019800" cy="365125"/>
          </a:xfrm>
        </p:spPr>
        <p:txBody>
          <a:bodyPr/>
          <a:lstStyle/>
          <a:p>
            <a:r>
              <a:rPr lang="en-US" dirty="0"/>
              <a:t>Extracted from Ian </a:t>
            </a:r>
            <a:r>
              <a:rPr lang="en-US" dirty="0" err="1"/>
              <a:t>Sommerville</a:t>
            </a:r>
            <a:r>
              <a:rPr lang="en-US" dirty="0"/>
              <a:t> 2011, Software Engineering, 9th edition. Chapter 2</a:t>
            </a:r>
          </a:p>
        </p:txBody>
      </p:sp>
    </p:spTree>
    <p:extLst>
      <p:ext uri="{BB962C8B-B14F-4D97-AF65-F5344CB8AC3E}">
        <p14:creationId xmlns:p14="http://schemas.microsoft.com/office/powerpoint/2010/main" val="30695241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prototyping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Improved system usability.</a:t>
            </a:r>
          </a:p>
          <a:p>
            <a:r>
              <a:rPr lang="en-US" dirty="0"/>
              <a:t>A closer match to users’ real needs.</a:t>
            </a:r>
          </a:p>
          <a:p>
            <a:r>
              <a:rPr lang="en-US" dirty="0"/>
              <a:t>Improved design quality.</a:t>
            </a:r>
          </a:p>
          <a:p>
            <a:r>
              <a:rPr lang="en-US" dirty="0"/>
              <a:t>Improved maintainability.</a:t>
            </a:r>
          </a:p>
          <a:p>
            <a:r>
              <a:rPr lang="en-US" dirty="0"/>
              <a:t>Reduced development effort.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47800" y="6340475"/>
            <a:ext cx="6019800" cy="365125"/>
          </a:xfrm>
        </p:spPr>
        <p:txBody>
          <a:bodyPr/>
          <a:lstStyle/>
          <a:p>
            <a:r>
              <a:rPr lang="en-US" dirty="0"/>
              <a:t>Extracted from Ian </a:t>
            </a:r>
            <a:r>
              <a:rPr lang="en-US" dirty="0" err="1"/>
              <a:t>Sommerville</a:t>
            </a:r>
            <a:r>
              <a:rPr lang="en-US" dirty="0"/>
              <a:t> 2011, Software Engineering, 9th edition. Chapter 2</a:t>
            </a:r>
          </a:p>
        </p:txBody>
      </p:sp>
    </p:spTree>
    <p:extLst>
      <p:ext uri="{BB962C8B-B14F-4D97-AF65-F5344CB8AC3E}">
        <p14:creationId xmlns:p14="http://schemas.microsoft.com/office/powerpoint/2010/main" val="16410983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The process of prototype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2.9 PrototypeProcess.eps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914400" y="2608351"/>
            <a:ext cx="7627164" cy="2162927"/>
          </a:xfrm>
          <a:prstGeom prst="rect">
            <a:avLst/>
          </a:prstGeom>
        </p:spPr>
      </p:pic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47800" y="6340475"/>
            <a:ext cx="6019800" cy="365125"/>
          </a:xfrm>
        </p:spPr>
        <p:txBody>
          <a:bodyPr/>
          <a:lstStyle/>
          <a:p>
            <a:r>
              <a:rPr lang="en-US" dirty="0"/>
              <a:t>Extracted from Ian </a:t>
            </a:r>
            <a:r>
              <a:rPr lang="en-US" dirty="0" err="1"/>
              <a:t>Sommerville</a:t>
            </a:r>
            <a:r>
              <a:rPr lang="en-US" dirty="0"/>
              <a:t> 2011, Software Engineering, 9th edition. Chapter 2</a:t>
            </a:r>
          </a:p>
        </p:txBody>
      </p:sp>
    </p:spTree>
    <p:extLst>
      <p:ext uri="{BB962C8B-B14F-4D97-AF65-F5344CB8AC3E}">
        <p14:creationId xmlns:p14="http://schemas.microsoft.com/office/powerpoint/2010/main" val="33796311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May be based on rapid prototyping languages or tools</a:t>
            </a:r>
          </a:p>
          <a:p>
            <a:r>
              <a:rPr lang="en-US" dirty="0"/>
              <a:t>May involve leaving out functionality</a:t>
            </a:r>
          </a:p>
          <a:p>
            <a:pPr lvl="1"/>
            <a:r>
              <a:rPr lang="en-US" dirty="0"/>
              <a:t>Prototype should focus on areas of the product that are not well-understood;</a:t>
            </a:r>
          </a:p>
          <a:p>
            <a:pPr lvl="1"/>
            <a:r>
              <a:rPr lang="en-US" dirty="0"/>
              <a:t>Error checking and recovery may not be included in the prototype;</a:t>
            </a:r>
          </a:p>
          <a:p>
            <a:pPr lvl="1"/>
            <a:r>
              <a:rPr lang="en-US" dirty="0"/>
              <a:t>Focus on functional rather than non-functional requirements such as reliability and security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47800" y="6340475"/>
            <a:ext cx="6019800" cy="365125"/>
          </a:xfrm>
        </p:spPr>
        <p:txBody>
          <a:bodyPr/>
          <a:lstStyle/>
          <a:p>
            <a:r>
              <a:rPr lang="en-US" dirty="0"/>
              <a:t>Extracted from Ian </a:t>
            </a:r>
            <a:r>
              <a:rPr lang="en-US" dirty="0" err="1"/>
              <a:t>Sommerville</a:t>
            </a:r>
            <a:r>
              <a:rPr lang="en-US" dirty="0"/>
              <a:t> 2011, Software Engineering, 9th edition. Chapter 2</a:t>
            </a:r>
          </a:p>
        </p:txBody>
      </p:sp>
    </p:spTree>
    <p:extLst>
      <p:ext uri="{BB962C8B-B14F-4D97-AF65-F5344CB8AC3E}">
        <p14:creationId xmlns:p14="http://schemas.microsoft.com/office/powerpoint/2010/main" val="5278979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Throw-away prototypes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Prototypes should be discarded after development as they are not a good basis for a production system:</a:t>
            </a:r>
          </a:p>
          <a:p>
            <a:pPr lvl="1"/>
            <a:r>
              <a:rPr lang="en-US" dirty="0"/>
              <a:t>It may be impossible to tune the system to meet non-functional requirements;</a:t>
            </a:r>
          </a:p>
          <a:p>
            <a:pPr lvl="1"/>
            <a:r>
              <a:rPr lang="en-US" dirty="0"/>
              <a:t>Prototypes are normally undocumented;</a:t>
            </a:r>
          </a:p>
          <a:p>
            <a:pPr lvl="1"/>
            <a:r>
              <a:rPr lang="en-US" dirty="0"/>
              <a:t>The prototype structure is usually degraded through rapid change;</a:t>
            </a:r>
          </a:p>
          <a:p>
            <a:pPr lvl="1"/>
            <a:r>
              <a:rPr lang="en-US" dirty="0"/>
              <a:t>The prototype probably will not meet normal </a:t>
            </a:r>
            <a:r>
              <a:rPr lang="en-US" dirty="0" err="1"/>
              <a:t>organisational</a:t>
            </a:r>
            <a:r>
              <a:rPr lang="en-US" dirty="0"/>
              <a:t> quality standards.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47800" y="6340475"/>
            <a:ext cx="6019800" cy="365125"/>
          </a:xfrm>
        </p:spPr>
        <p:txBody>
          <a:bodyPr/>
          <a:lstStyle/>
          <a:p>
            <a:r>
              <a:rPr lang="en-US" dirty="0"/>
              <a:t>Extracted from Ian </a:t>
            </a:r>
            <a:r>
              <a:rPr lang="en-US" dirty="0" err="1"/>
              <a:t>Sommerville</a:t>
            </a:r>
            <a:r>
              <a:rPr lang="en-US" dirty="0"/>
              <a:t> 2011, Software Engineering, 9th edition. Chapter 2</a:t>
            </a:r>
          </a:p>
        </p:txBody>
      </p:sp>
    </p:spTree>
    <p:extLst>
      <p:ext uri="{BB962C8B-B14F-4D97-AF65-F5344CB8AC3E}">
        <p14:creationId xmlns:p14="http://schemas.microsoft.com/office/powerpoint/2010/main" val="19261701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Reuse-oriented software engineering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Based on systematic reuse where systems are integrated from existing components or COTS (Commercial-off-the-shelf) systems.</a:t>
            </a:r>
          </a:p>
          <a:p>
            <a:r>
              <a:rPr lang="en-GB" dirty="0"/>
              <a:t>Process stages</a:t>
            </a:r>
          </a:p>
          <a:p>
            <a:pPr lvl="1"/>
            <a:r>
              <a:rPr lang="en-GB" dirty="0"/>
              <a:t>Component analysis;</a:t>
            </a:r>
          </a:p>
          <a:p>
            <a:pPr lvl="1"/>
            <a:r>
              <a:rPr lang="en-GB" dirty="0"/>
              <a:t>Requirements modification;</a:t>
            </a:r>
          </a:p>
          <a:p>
            <a:pPr lvl="1"/>
            <a:r>
              <a:rPr lang="en-GB" dirty="0"/>
              <a:t>System design with reuse;</a:t>
            </a:r>
          </a:p>
          <a:p>
            <a:pPr lvl="1"/>
            <a:r>
              <a:rPr lang="en-GB" dirty="0"/>
              <a:t>Development and integration.</a:t>
            </a:r>
          </a:p>
          <a:p>
            <a:r>
              <a:rPr lang="en-GB" dirty="0"/>
              <a:t>Reuse is now the standard approach for building many types of business system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47800" y="6340475"/>
            <a:ext cx="6019800" cy="365125"/>
          </a:xfrm>
        </p:spPr>
        <p:txBody>
          <a:bodyPr/>
          <a:lstStyle/>
          <a:p>
            <a:r>
              <a:rPr lang="en-US" dirty="0"/>
              <a:t>Extracted from Ian </a:t>
            </a:r>
            <a:r>
              <a:rPr lang="en-US" dirty="0" err="1"/>
              <a:t>Sommerville</a:t>
            </a:r>
            <a:r>
              <a:rPr lang="en-US" dirty="0"/>
              <a:t> 2011, Software Engineering, 9th edition. Chapter 2</a:t>
            </a:r>
          </a:p>
        </p:txBody>
      </p:sp>
    </p:spTree>
    <p:extLst>
      <p:ext uri="{BB962C8B-B14F-4D97-AF65-F5344CB8AC3E}">
        <p14:creationId xmlns:p14="http://schemas.microsoft.com/office/powerpoint/2010/main" val="40750551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Reuse-oriented software engineering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 descr="2.3 Reuse_based_process.eps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457200" y="2725509"/>
            <a:ext cx="8494383" cy="1773312"/>
          </a:xfrm>
          <a:prstGeom prst="rect">
            <a:avLst/>
          </a:prstGeom>
        </p:spPr>
      </p:pic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47800" y="6340475"/>
            <a:ext cx="6019800" cy="365125"/>
          </a:xfrm>
        </p:spPr>
        <p:txBody>
          <a:bodyPr/>
          <a:lstStyle/>
          <a:p>
            <a:r>
              <a:rPr lang="en-US" dirty="0"/>
              <a:t>Extracted from Ian </a:t>
            </a:r>
            <a:r>
              <a:rPr lang="en-US" dirty="0" err="1"/>
              <a:t>Sommerville</a:t>
            </a:r>
            <a:r>
              <a:rPr lang="en-US" dirty="0"/>
              <a:t> 2011, Software Engineering, 9th edition. Chapter 2</a:t>
            </a:r>
          </a:p>
        </p:txBody>
      </p:sp>
    </p:spTree>
    <p:extLst>
      <p:ext uri="{BB962C8B-B14F-4D97-AF65-F5344CB8AC3E}">
        <p14:creationId xmlns:p14="http://schemas.microsoft.com/office/powerpoint/2010/main" val="31669902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software component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Web services that are developed according to service standards and which are available for remote invocation. </a:t>
            </a:r>
          </a:p>
          <a:p>
            <a:r>
              <a:rPr lang="en-GB" dirty="0"/>
              <a:t>Collections of objects that are developed as a package to be integrated with a component framework such as .NET or J2EE.</a:t>
            </a:r>
          </a:p>
          <a:p>
            <a:r>
              <a:rPr lang="en-GB" dirty="0"/>
              <a:t>Stand-alone software systems (COTS) that are configured for use in a particular environment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47800" y="6340475"/>
            <a:ext cx="6019800" cy="365125"/>
          </a:xfrm>
        </p:spPr>
        <p:txBody>
          <a:bodyPr/>
          <a:lstStyle/>
          <a:p>
            <a:r>
              <a:rPr lang="en-US" dirty="0"/>
              <a:t>Extracted from Ian </a:t>
            </a:r>
            <a:r>
              <a:rPr lang="en-US" dirty="0" err="1"/>
              <a:t>Sommerville</a:t>
            </a:r>
            <a:r>
              <a:rPr lang="en-US" dirty="0"/>
              <a:t> 2011, Software Engineering, 9th edition. Chapter 2</a:t>
            </a:r>
          </a:p>
        </p:txBody>
      </p:sp>
    </p:spTree>
    <p:extLst>
      <p:ext uri="{BB962C8B-B14F-4D97-AF65-F5344CB8AC3E}">
        <p14:creationId xmlns:p14="http://schemas.microsoft.com/office/powerpoint/2010/main" val="40114994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Requirements engineering is the process of developing a software specification.</a:t>
            </a:r>
          </a:p>
          <a:p>
            <a:r>
              <a:rPr lang="en-GB" dirty="0"/>
              <a:t>Design and implementation processes are concerned with transforming a requirements specification into an executable software system. </a:t>
            </a:r>
          </a:p>
          <a:p>
            <a:r>
              <a:rPr lang="en-GB" dirty="0"/>
              <a:t>Software validation is the process of checking that the system conforms to its specification and that it meets the real needs of the users of the system.</a:t>
            </a:r>
          </a:p>
          <a:p>
            <a:r>
              <a:rPr lang="en-GB" dirty="0"/>
              <a:t>Software evolution takes place when you change existing software systems to meet new requirements. The software must evolve to remain useful.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6641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Software processes are the activities involved in producing a software system. Software process models are abstract representations of these processes.</a:t>
            </a:r>
          </a:p>
          <a:p>
            <a:r>
              <a:rPr lang="en-GB" dirty="0"/>
              <a:t>General process models describe the organization of software processes. Examples of these general models include the ‘waterfall’ model,  incremental development, and reuse-oriented development.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694496"/>
      </p:ext>
    </p:extLst>
  </p:cSld>
  <p:clrMapOvr>
    <a:masterClrMapping/>
  </p:clrMapOvr>
</p:sld>
</file>

<file path=ppt/theme/theme1.xml><?xml version="1.0" encoding="utf-8"?>
<a:theme xmlns:a="http://schemas.openxmlformats.org/drawingml/2006/main" name="SLIATE LMS Template Powerpoin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7D6EB70-AC5D-4C93-8EC9-DDBA92A97C78}" vid="{AD4A3A70-3E62-4EFF-A645-92967231B9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SLIATE LMS Template Powerpoint</Template>
  <TotalTime>155</TotalTime>
  <Words>2068</Words>
  <Application>Microsoft Office PowerPoint</Application>
  <PresentationFormat>On-screen Show (4:3)</PresentationFormat>
  <Paragraphs>203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SLIATE LMS Template Powerpoint</vt:lpstr>
      <vt:lpstr>HNDIT 4012-Software Engineering</vt:lpstr>
      <vt:lpstr>Topics covered</vt:lpstr>
      <vt:lpstr>The software process</vt:lpstr>
      <vt:lpstr>Plan-driven and agile processes</vt:lpstr>
      <vt:lpstr>Software specification</vt:lpstr>
      <vt:lpstr>The requirements engineering process</vt:lpstr>
      <vt:lpstr>Software design and implementation</vt:lpstr>
      <vt:lpstr>A general model of the design process</vt:lpstr>
      <vt:lpstr>Design activities</vt:lpstr>
      <vt:lpstr>Software validation</vt:lpstr>
      <vt:lpstr>Stages of testing</vt:lpstr>
      <vt:lpstr>Testing stages</vt:lpstr>
      <vt:lpstr>Testing phases in a plan-driven software process </vt:lpstr>
      <vt:lpstr>Software evolution</vt:lpstr>
      <vt:lpstr>System evolution </vt:lpstr>
      <vt:lpstr>Types of Process Flow</vt:lpstr>
      <vt:lpstr>Software process models</vt:lpstr>
      <vt:lpstr>The waterfall model</vt:lpstr>
      <vt:lpstr>The waterfall model</vt:lpstr>
      <vt:lpstr>The waterfall model</vt:lpstr>
      <vt:lpstr>Incremental development(Evolutionary)</vt:lpstr>
      <vt:lpstr>Incremental delivery</vt:lpstr>
      <vt:lpstr>Incremental delivery </vt:lpstr>
      <vt:lpstr>Incremental delivery advantages</vt:lpstr>
      <vt:lpstr>Incremental delivery problems</vt:lpstr>
      <vt:lpstr>Incremental Development Types</vt:lpstr>
      <vt:lpstr>Boehm’s spiral model</vt:lpstr>
      <vt:lpstr>Boehm’s spiral model of the software process </vt:lpstr>
      <vt:lpstr>Spiral model sectors</vt:lpstr>
      <vt:lpstr>Spiral model usage</vt:lpstr>
      <vt:lpstr>Software prototyping</vt:lpstr>
      <vt:lpstr>Benefits of prototyping</vt:lpstr>
      <vt:lpstr>The process of prototype development</vt:lpstr>
      <vt:lpstr>Prototype development</vt:lpstr>
      <vt:lpstr>Throw-away prototypes</vt:lpstr>
      <vt:lpstr>Reuse-oriented software engineering</vt:lpstr>
      <vt:lpstr>Reuse-oriented software engineering</vt:lpstr>
      <vt:lpstr>Types of software component</vt:lpstr>
      <vt:lpstr>Key points</vt:lpstr>
      <vt:lpstr>Key points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HNDIT 1213-Principles of Software Engineering</dc:title>
  <dc:creator>Windows User</dc:creator>
  <cp:lastModifiedBy>Gayan Sudharshana</cp:lastModifiedBy>
  <cp:revision>15</cp:revision>
  <dcterms:created xsi:type="dcterms:W3CDTF">2018-05-29T13:09:42Z</dcterms:created>
  <dcterms:modified xsi:type="dcterms:W3CDTF">2024-03-05T00:21:17Z</dcterms:modified>
</cp:coreProperties>
</file>