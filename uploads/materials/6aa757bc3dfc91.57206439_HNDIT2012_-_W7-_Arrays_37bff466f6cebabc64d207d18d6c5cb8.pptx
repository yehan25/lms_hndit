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handoutMasterIdLst>
    <p:handoutMasterId r:id="rId18"/>
  </p:handoutMasterIdLst>
  <p:sldIdLst>
    <p:sldId id="256" r:id="rId2"/>
    <p:sldId id="257" r:id="rId3"/>
    <p:sldId id="258" r:id="rId4"/>
    <p:sldId id="266" r:id="rId5"/>
    <p:sldId id="268" r:id="rId6"/>
    <p:sldId id="271" r:id="rId7"/>
    <p:sldId id="269" r:id="rId8"/>
    <p:sldId id="259" r:id="rId9"/>
    <p:sldId id="282" r:id="rId10"/>
    <p:sldId id="283" r:id="rId11"/>
    <p:sldId id="270" r:id="rId12"/>
    <p:sldId id="276" r:id="rId13"/>
    <p:sldId id="277" r:id="rId14"/>
    <p:sldId id="284" r:id="rId15"/>
    <p:sldId id="285" r:id="rId16"/>
    <p:sldId id="286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1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38" y="-84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557021-D219-41E7-806A-29196FF90234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 err="1"/>
              <a:t>Janaka</a:t>
            </a:r>
            <a:r>
              <a:rPr lang="en-US" dirty="0"/>
              <a:t> </a:t>
            </a:r>
            <a:r>
              <a:rPr lang="en-US" dirty="0" err="1"/>
              <a:t>Rajakaruna</a:t>
            </a:r>
            <a:r>
              <a:rPr lang="en-US" dirty="0"/>
              <a:t>, ATI- </a:t>
            </a:r>
            <a:r>
              <a:rPr lang="en-US" dirty="0" err="1"/>
              <a:t>Behiwala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83C39C-B51F-41FF-8787-BD90AB91E4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948946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7" name="Picture 3" descr="C:\Users\Dell PC\Desktop\mainpa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-18738" y="2133600"/>
            <a:ext cx="9162738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Chapter 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8600" y="22479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Course Title style</a:t>
            </a:r>
          </a:p>
        </p:txBody>
      </p:sp>
    </p:spTree>
    <p:extLst>
      <p:ext uri="{BB962C8B-B14F-4D97-AF65-F5344CB8AC3E}">
        <p14:creationId xmlns:p14="http://schemas.microsoft.com/office/powerpoint/2010/main" xmlns="" val="1302127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6" name="Picture 2" descr="C:\Users\Dell PC\Desktop\template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978172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94410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34815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11861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6419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66640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44932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14718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22774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861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2" descr="C:\Users\Dell PC\Desktop\template2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HNDIT 2012</a:t>
            </a:r>
            <a:br>
              <a:rPr lang="en-US" dirty="0"/>
            </a:br>
            <a:r>
              <a:rPr lang="en-US" dirty="0"/>
              <a:t>Fundamentals of Programming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429000"/>
          </a:xfrm>
        </p:spPr>
        <p:txBody>
          <a:bodyPr/>
          <a:lstStyle/>
          <a:p>
            <a:pPr algn="just"/>
            <a:r>
              <a:rPr lang="en-US" dirty="0"/>
              <a:t>An </a:t>
            </a:r>
            <a:r>
              <a:rPr lang="en-US" i="1" dirty="0"/>
              <a:t>array</a:t>
            </a:r>
            <a:r>
              <a:rPr lang="en-US" dirty="0"/>
              <a:t> is a container object that holds a fixed number of sequential collection of elements of a same type.</a:t>
            </a:r>
          </a:p>
          <a:p>
            <a:endParaRPr lang="en-US" dirty="0"/>
          </a:p>
        </p:txBody>
      </p:sp>
      <p:pic>
        <p:nvPicPr>
          <p:cNvPr id="4" name="Picture 3" descr="Illustration of an array as 10 boxes numbered 0 through 9; an index of 0 indicates the first element in the array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3124199"/>
            <a:ext cx="7010400" cy="2209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ontent Placeholder 1"/>
          <p:cNvSpPr txBox="1">
            <a:spLocks/>
          </p:cNvSpPr>
          <p:nvPr/>
        </p:nvSpPr>
        <p:spPr>
          <a:xfrm>
            <a:off x="457200" y="502920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dirty="0"/>
          </a:p>
          <a:p>
            <a:pPr algn="just"/>
            <a:r>
              <a:rPr lang="en-US" dirty="0"/>
              <a:t>Each item in an array is called an </a:t>
            </a:r>
            <a:r>
              <a:rPr lang="en-US" i="1" dirty="0"/>
              <a:t>element</a:t>
            </a:r>
            <a:endParaRPr lang="en-US" dirty="0"/>
          </a:p>
          <a:p>
            <a:pPr algn="just"/>
            <a:r>
              <a:rPr lang="en-US" dirty="0"/>
              <a:t>Each element is accessed by its numerical </a:t>
            </a:r>
            <a:r>
              <a:rPr lang="en-US" i="1" dirty="0"/>
              <a:t>index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Index numbering begins with 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Declaring an Array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209800"/>
            <a:ext cx="8229600" cy="14478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en-US" sz="2400" i="1" dirty="0" err="1"/>
              <a:t>dataType</a:t>
            </a:r>
            <a:r>
              <a:rPr lang="en-US" sz="2400" i="1" dirty="0"/>
              <a:t>[] </a:t>
            </a:r>
            <a:r>
              <a:rPr lang="en-US" sz="2400" i="1" dirty="0" err="1"/>
              <a:t>arrayRefVar</a:t>
            </a:r>
            <a:r>
              <a:rPr lang="en-US" sz="2400" i="1" dirty="0"/>
              <a:t>; </a:t>
            </a:r>
            <a:r>
              <a:rPr lang="en-US" sz="2400" dirty="0"/>
              <a:t>//declares an array of integers</a:t>
            </a:r>
            <a:endParaRPr lang="en-US" sz="2400" i="1" dirty="0"/>
          </a:p>
          <a:p>
            <a:pPr>
              <a:buNone/>
            </a:pPr>
            <a:r>
              <a:rPr lang="en-US" sz="2400" i="1" dirty="0" err="1"/>
              <a:t>dataType</a:t>
            </a:r>
            <a:r>
              <a:rPr lang="en-US" sz="2400" i="1" dirty="0"/>
              <a:t> </a:t>
            </a:r>
            <a:r>
              <a:rPr lang="en-US" sz="2400" i="1" dirty="0" err="1"/>
              <a:t>arrayRefVar</a:t>
            </a:r>
            <a:r>
              <a:rPr lang="en-US" sz="2400" i="1" dirty="0"/>
              <a:t>[]; </a:t>
            </a:r>
            <a:r>
              <a:rPr lang="en-US" sz="2400" dirty="0"/>
              <a:t>//declares an array of integers</a:t>
            </a:r>
          </a:p>
          <a:p>
            <a:pPr>
              <a:buNone/>
            </a:pPr>
            <a:r>
              <a:rPr lang="en-US" sz="2400" i="1" dirty="0" err="1"/>
              <a:t>arrayRefVar</a:t>
            </a:r>
            <a:r>
              <a:rPr lang="en-US" sz="2400" i="1" dirty="0"/>
              <a:t> </a:t>
            </a:r>
            <a:r>
              <a:rPr lang="en-US" sz="2400" dirty="0"/>
              <a:t>= </a:t>
            </a:r>
            <a:r>
              <a:rPr lang="en-US" sz="2400" i="1" dirty="0"/>
              <a:t>new </a:t>
            </a:r>
            <a:r>
              <a:rPr lang="en-US" sz="2400" i="1" dirty="0" err="1"/>
              <a:t>int</a:t>
            </a:r>
            <a:r>
              <a:rPr lang="en-US" sz="2400" i="1" dirty="0"/>
              <a:t>[10]; </a:t>
            </a:r>
            <a:r>
              <a:rPr lang="en-US" sz="2400" dirty="0"/>
              <a:t>// allocates memory for 10 integers</a:t>
            </a:r>
            <a:endParaRPr lang="en-US" sz="2400" i="1" dirty="0"/>
          </a:p>
          <a:p>
            <a:pPr>
              <a:buNone/>
            </a:pPr>
            <a:endParaRPr lang="en-US" sz="2400" i="1" dirty="0"/>
          </a:p>
        </p:txBody>
      </p:sp>
      <p:sp>
        <p:nvSpPr>
          <p:cNvPr id="4" name="Content Placeholder 1"/>
          <p:cNvSpPr txBox="1">
            <a:spLocks/>
          </p:cNvSpPr>
          <p:nvPr/>
        </p:nvSpPr>
        <p:spPr>
          <a:xfrm>
            <a:off x="457200" y="4648200"/>
            <a:ext cx="8229600" cy="1981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400" dirty="0" err="1"/>
              <a:t>int</a:t>
            </a:r>
            <a:r>
              <a:rPr lang="en-US" sz="2400" dirty="0"/>
              <a:t>[] Marks;	 	//declares an array of integers</a:t>
            </a:r>
          </a:p>
          <a:p>
            <a:pPr>
              <a:buNone/>
            </a:pPr>
            <a:r>
              <a:rPr lang="en-US" sz="2400" dirty="0"/>
              <a:t>int Marks[];	 	//declares an array of integers</a:t>
            </a:r>
          </a:p>
          <a:p>
            <a:pPr>
              <a:buNone/>
            </a:pPr>
            <a:r>
              <a:rPr lang="en-US" sz="2400" dirty="0"/>
              <a:t>Marks= new </a:t>
            </a:r>
            <a:r>
              <a:rPr lang="en-US" sz="2400" dirty="0" err="1"/>
              <a:t>int</a:t>
            </a:r>
            <a:r>
              <a:rPr lang="en-US" sz="2400" dirty="0"/>
              <a:t>[10];	 // allocates memory for 10 integers</a:t>
            </a:r>
          </a:p>
          <a:p>
            <a:pPr>
              <a:buNone/>
            </a:pPr>
            <a:r>
              <a:rPr lang="en-US" sz="2400" dirty="0"/>
              <a:t>Marks [0]=67;		// initialize first element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9279" y="1600200"/>
            <a:ext cx="1029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Syntax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9279" y="3962400"/>
            <a:ext cx="1269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Example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Declaring an Array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209800"/>
            <a:ext cx="8229600" cy="14478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en-US" sz="2400" i="1" dirty="0" err="1"/>
              <a:t>arrayRefVar</a:t>
            </a:r>
            <a:r>
              <a:rPr lang="en-US" sz="2400" i="1" dirty="0"/>
              <a:t> = new </a:t>
            </a:r>
            <a:r>
              <a:rPr lang="en-US" sz="2400" i="1" dirty="0" err="1"/>
              <a:t>dataType</a:t>
            </a:r>
            <a:r>
              <a:rPr lang="en-US" sz="2400" i="1" dirty="0"/>
              <a:t>[</a:t>
            </a:r>
            <a:r>
              <a:rPr lang="en-US" sz="2400" i="1" dirty="0" err="1"/>
              <a:t>arraySize</a:t>
            </a:r>
            <a:r>
              <a:rPr lang="en-US" sz="2400" i="1" dirty="0"/>
              <a:t>];</a:t>
            </a:r>
          </a:p>
          <a:p>
            <a:pPr>
              <a:buNone/>
            </a:pPr>
            <a:r>
              <a:rPr lang="en-US" sz="2400" i="1" dirty="0" err="1"/>
              <a:t>dataType</a:t>
            </a:r>
            <a:r>
              <a:rPr lang="en-US" sz="2400" i="1" dirty="0"/>
              <a:t>[] </a:t>
            </a:r>
            <a:r>
              <a:rPr lang="en-US" sz="2400" i="1" dirty="0" err="1"/>
              <a:t>arrayRefVar</a:t>
            </a:r>
            <a:r>
              <a:rPr lang="en-US" sz="2400" i="1" dirty="0"/>
              <a:t> = new </a:t>
            </a:r>
            <a:r>
              <a:rPr lang="en-US" sz="2400" i="1" dirty="0" err="1"/>
              <a:t>dataType</a:t>
            </a:r>
            <a:r>
              <a:rPr lang="en-US" sz="2400" i="1" dirty="0"/>
              <a:t>[</a:t>
            </a:r>
            <a:r>
              <a:rPr lang="en-US" sz="2400" i="1" dirty="0" err="1"/>
              <a:t>arraySize</a:t>
            </a:r>
            <a:r>
              <a:rPr lang="en-US" sz="2400" i="1" dirty="0"/>
              <a:t>];</a:t>
            </a:r>
          </a:p>
          <a:p>
            <a:pPr>
              <a:buNone/>
            </a:pPr>
            <a:endParaRPr lang="en-US" sz="2400" i="1" dirty="0"/>
          </a:p>
        </p:txBody>
      </p:sp>
      <p:sp>
        <p:nvSpPr>
          <p:cNvPr id="4" name="Content Placeholder 1"/>
          <p:cNvSpPr txBox="1">
            <a:spLocks/>
          </p:cNvSpPr>
          <p:nvPr/>
        </p:nvSpPr>
        <p:spPr>
          <a:xfrm>
            <a:off x="457200" y="4648200"/>
            <a:ext cx="8229600" cy="1981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400" dirty="0"/>
              <a:t>Marks= new </a:t>
            </a:r>
            <a:r>
              <a:rPr lang="en-US" sz="2400" dirty="0" err="1"/>
              <a:t>int</a:t>
            </a:r>
            <a:r>
              <a:rPr lang="en-US" sz="2400" dirty="0"/>
              <a:t>[10]; // allocates memory for 10 integers</a:t>
            </a:r>
          </a:p>
          <a:p>
            <a:pPr>
              <a:buNone/>
            </a:pPr>
            <a:r>
              <a:rPr lang="en-US" sz="2400" dirty="0"/>
              <a:t>int[] Marks= new 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9279" y="1600200"/>
            <a:ext cx="1029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Syntax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9279" y="3962400"/>
            <a:ext cx="1269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xmlns="" val="3237626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Declaring and Initializing an Array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209800"/>
            <a:ext cx="8229600" cy="14478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en-US" sz="2400" i="1" dirty="0" err="1"/>
              <a:t>dataType</a:t>
            </a:r>
            <a:r>
              <a:rPr lang="en-US" sz="2400" i="1" dirty="0"/>
              <a:t>[] </a:t>
            </a:r>
            <a:r>
              <a:rPr lang="en-US" sz="2400" i="1" dirty="0" err="1"/>
              <a:t>arrayRefVar</a:t>
            </a:r>
            <a:r>
              <a:rPr lang="en-US" sz="2400" i="1" dirty="0"/>
              <a:t> = {val0, val1, ...,};</a:t>
            </a:r>
          </a:p>
          <a:p>
            <a:pPr>
              <a:buNone/>
            </a:pPr>
            <a:endParaRPr lang="en-US" sz="2400" i="1" dirty="0"/>
          </a:p>
        </p:txBody>
      </p:sp>
      <p:sp>
        <p:nvSpPr>
          <p:cNvPr id="4" name="Content Placeholder 1"/>
          <p:cNvSpPr txBox="1">
            <a:spLocks/>
          </p:cNvSpPr>
          <p:nvPr/>
        </p:nvSpPr>
        <p:spPr>
          <a:xfrm>
            <a:off x="457200" y="4648200"/>
            <a:ext cx="8229600" cy="1981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400" dirty="0" err="1"/>
              <a:t>int</a:t>
            </a:r>
            <a:r>
              <a:rPr lang="en-US" sz="2400" dirty="0"/>
              <a:t>[] Marks= { 60, 45, 65,94, 78,72,62,78,88};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9279" y="1600200"/>
            <a:ext cx="1029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Syntax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9279" y="3962400"/>
            <a:ext cx="1269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xmlns="" val="2853460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4F89050-1F51-49D5-A7C5-04123DBFC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Length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5874A91-5228-4DF4-9E68-4A86A0E08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&lt;</a:t>
            </a:r>
            <a:r>
              <a:rPr lang="en-US" dirty="0" err="1"/>
              <a:t>array_reference</a:t>
            </a:r>
            <a:r>
              <a:rPr lang="en-US" dirty="0"/>
              <a:t>&gt;.length will provide the length of the array object.</a:t>
            </a:r>
          </a:p>
          <a:p>
            <a:r>
              <a:rPr lang="en-US" dirty="0"/>
              <a:t>For an example :</a:t>
            </a:r>
          </a:p>
          <a:p>
            <a:pPr marL="400050" lvl="1" indent="0">
              <a:buNone/>
            </a:pPr>
            <a:r>
              <a:rPr lang="en-US" dirty="0"/>
              <a:t>double[] </a:t>
            </a:r>
            <a:r>
              <a:rPr lang="en-US" dirty="0" err="1"/>
              <a:t>myList</a:t>
            </a:r>
            <a:r>
              <a:rPr lang="en-US" dirty="0"/>
              <a:t> = new double[10];</a:t>
            </a:r>
          </a:p>
          <a:p>
            <a:pPr marL="400050" lvl="1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myList.length</a:t>
            </a:r>
            <a:r>
              <a:rPr lang="en-US" dirty="0"/>
              <a:t>);</a:t>
            </a:r>
          </a:p>
          <a:p>
            <a:pPr lvl="1"/>
            <a:r>
              <a:rPr lang="en-US" dirty="0"/>
              <a:t>This would print value 10 as the output.</a:t>
            </a:r>
          </a:p>
          <a:p>
            <a:r>
              <a:rPr lang="en-US" dirty="0"/>
              <a:t>Array indices are start from 0 to &lt;</a:t>
            </a:r>
            <a:r>
              <a:rPr lang="en-US" dirty="0" err="1"/>
              <a:t>array_reference</a:t>
            </a:r>
            <a:r>
              <a:rPr lang="en-US" dirty="0"/>
              <a:t>&gt;.length-1.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248613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array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TestVar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{</a:t>
            </a:r>
          </a:p>
          <a:p>
            <a:pPr marL="0" indent="0">
              <a:buNone/>
            </a:pPr>
            <a:r>
              <a:rPr lang="en-US" dirty="0"/>
              <a:t>  public static void main(String[] </a:t>
            </a:r>
            <a:r>
              <a:rPr lang="en-US" dirty="0" err="1"/>
              <a:t>args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  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int</a:t>
            </a:r>
            <a:r>
              <a:rPr lang="en-US" dirty="0"/>
              <a:t> Marks[]= new </a:t>
            </a:r>
            <a:r>
              <a:rPr lang="en-US" dirty="0" err="1"/>
              <a:t>int</a:t>
            </a:r>
            <a:r>
              <a:rPr lang="en-US" dirty="0"/>
              <a:t>[10];	 // allocates memory for 10 integers</a:t>
            </a:r>
          </a:p>
          <a:p>
            <a:pPr marL="0" indent="0">
              <a:buNone/>
            </a:pPr>
            <a:r>
              <a:rPr lang="en-US" dirty="0"/>
              <a:t>	Marks [0]=67;</a:t>
            </a:r>
          </a:p>
          <a:p>
            <a:pPr marL="0" indent="0">
              <a:buNone/>
            </a:pPr>
            <a:r>
              <a:rPr lang="en-US" dirty="0"/>
              <a:t>	Marks[1]=49;</a:t>
            </a:r>
          </a:p>
          <a:p>
            <a:pPr marL="0" indent="0">
              <a:buNone/>
            </a:pPr>
            <a:r>
              <a:rPr lang="en-US" dirty="0"/>
              <a:t>	Marks[2]=57;</a:t>
            </a:r>
          </a:p>
          <a:p>
            <a:pPr marL="0" indent="0">
              <a:buNone/>
            </a:pPr>
            <a:r>
              <a:rPr lang="en-US" dirty="0"/>
              <a:t>	Marks[3]=68;</a:t>
            </a:r>
          </a:p>
          <a:p>
            <a:pPr marL="0" indent="0">
              <a:buNone/>
            </a:pPr>
            <a:r>
              <a:rPr lang="en-US" dirty="0"/>
              <a:t>	Marks[4]=74;</a:t>
            </a:r>
          </a:p>
          <a:p>
            <a:pPr marL="0" indent="0">
              <a:buNone/>
            </a:pPr>
            <a:r>
              <a:rPr lang="en-US" dirty="0"/>
              <a:t>	Marks[5]=81;</a:t>
            </a:r>
          </a:p>
          <a:p>
            <a:pPr marL="0" indent="0">
              <a:buNone/>
            </a:pPr>
            <a:r>
              <a:rPr lang="en-US" dirty="0"/>
              <a:t>	Marks[6]=78;</a:t>
            </a:r>
          </a:p>
          <a:p>
            <a:pPr marL="0" indent="0">
              <a:buNone/>
            </a:pPr>
            <a:r>
              <a:rPr lang="en-US" dirty="0"/>
              <a:t>	Marks[7]=64;</a:t>
            </a:r>
          </a:p>
          <a:p>
            <a:pPr marL="0" indent="0">
              <a:buNone/>
            </a:pPr>
            <a:r>
              <a:rPr lang="en-US" dirty="0"/>
              <a:t>	Marks[8]=91;</a:t>
            </a:r>
          </a:p>
          <a:p>
            <a:pPr marL="0" indent="0">
              <a:buNone/>
            </a:pPr>
            <a:r>
              <a:rPr lang="en-US" dirty="0"/>
              <a:t>	Marks[9]=54;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System.out.print</a:t>
            </a:r>
            <a:r>
              <a:rPr lang="en-US" dirty="0"/>
              <a:t>(Marks[0]);</a:t>
            </a:r>
          </a:p>
          <a:p>
            <a:pPr marL="0" indent="0">
              <a:buNone/>
            </a:pPr>
            <a:r>
              <a:rPr lang="en-US" dirty="0"/>
              <a:t>      }</a:t>
            </a:r>
          </a:p>
          <a:p>
            <a:pPr marL="0" indent="0">
              <a:buNone/>
            </a:pPr>
            <a:r>
              <a:rPr lang="en-US" dirty="0"/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xmlns="" val="527890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array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447800"/>
            <a:ext cx="8229600" cy="5029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/>
              <a:t>class Test</a:t>
            </a:r>
          </a:p>
          <a:p>
            <a:r>
              <a:rPr lang="en-US" sz="2400" dirty="0"/>
              <a:t>  {</a:t>
            </a:r>
          </a:p>
          <a:p>
            <a:r>
              <a:rPr lang="en-US" sz="2400" dirty="0"/>
              <a:t>  public static void main(String[] </a:t>
            </a:r>
            <a:r>
              <a:rPr lang="en-US" sz="2400" dirty="0" err="1"/>
              <a:t>args</a:t>
            </a:r>
            <a:r>
              <a:rPr lang="en-US" sz="2400" dirty="0"/>
              <a:t>)</a:t>
            </a:r>
          </a:p>
          <a:p>
            <a:r>
              <a:rPr lang="en-US" sz="2400" dirty="0"/>
              <a:t>      {</a:t>
            </a:r>
          </a:p>
          <a:p>
            <a:r>
              <a:rPr lang="en-US" sz="2400" dirty="0"/>
              <a:t>          </a:t>
            </a:r>
            <a:r>
              <a:rPr lang="en-US" sz="2400" dirty="0" err="1"/>
              <a:t>int</a:t>
            </a:r>
            <a:r>
              <a:rPr lang="en-US" sz="2400" dirty="0"/>
              <a:t> count = 0;</a:t>
            </a:r>
          </a:p>
          <a:p>
            <a:r>
              <a:rPr lang="en-US" sz="2400" dirty="0"/>
              <a:t>          </a:t>
            </a:r>
            <a:r>
              <a:rPr lang="en-US" sz="2400" dirty="0" err="1"/>
              <a:t>int</a:t>
            </a:r>
            <a:r>
              <a:rPr lang="en-US" sz="2400" dirty="0"/>
              <a:t>[] </a:t>
            </a:r>
            <a:r>
              <a:rPr lang="en-US" sz="2400" dirty="0" err="1"/>
              <a:t>arr</a:t>
            </a:r>
            <a:r>
              <a:rPr lang="en-US" sz="2400" dirty="0"/>
              <a:t> ={12,4,6,8,0,2,-2} ;</a:t>
            </a:r>
          </a:p>
          <a:p>
            <a:r>
              <a:rPr lang="en-US" sz="2400" dirty="0"/>
              <a:t>          while (count &lt; </a:t>
            </a:r>
            <a:r>
              <a:rPr lang="en-US" sz="2400" b="1" dirty="0" err="1">
                <a:solidFill>
                  <a:srgbClr val="FF0000"/>
                </a:solidFill>
              </a:rPr>
              <a:t>arr.length</a:t>
            </a:r>
            <a:r>
              <a:rPr lang="en-US" sz="2400" dirty="0"/>
              <a:t>) </a:t>
            </a:r>
          </a:p>
          <a:p>
            <a:r>
              <a:rPr lang="en-US" sz="2400" dirty="0"/>
              <a:t>	{</a:t>
            </a:r>
          </a:p>
          <a:p>
            <a:r>
              <a:rPr lang="en-US" sz="2400" dirty="0"/>
              <a:t>     	</a:t>
            </a:r>
            <a:r>
              <a:rPr lang="en-US" sz="2400" dirty="0" err="1"/>
              <a:t>System.out.println</a:t>
            </a:r>
            <a:r>
              <a:rPr lang="en-US" sz="2400" dirty="0"/>
              <a:t>(</a:t>
            </a:r>
            <a:r>
              <a:rPr lang="en-US" sz="2400" dirty="0" err="1"/>
              <a:t>arr</a:t>
            </a:r>
            <a:r>
              <a:rPr lang="en-US" sz="2400" dirty="0"/>
              <a:t> [count]);</a:t>
            </a:r>
          </a:p>
          <a:p>
            <a:r>
              <a:rPr lang="en-US" sz="2400" dirty="0"/>
              <a:t>     	count++;</a:t>
            </a:r>
          </a:p>
          <a:p>
            <a:r>
              <a:rPr lang="en-US" sz="2400" dirty="0"/>
              <a:t> 	}</a:t>
            </a:r>
          </a:p>
          <a:p>
            <a:r>
              <a:rPr lang="en-US" sz="2400" dirty="0"/>
              <a:t>      }</a:t>
            </a:r>
          </a:p>
          <a:p>
            <a:r>
              <a:rPr lang="en-US" sz="2400" dirty="0"/>
              <a:t>  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Enhanced For-Loop (For-Each Loop)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7800" y="2362200"/>
            <a:ext cx="5715000" cy="2667000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pPr>
              <a:buNone/>
            </a:pPr>
            <a:r>
              <a:rPr lang="en-US" dirty="0" err="1" smtClean="0"/>
              <a:t>int</a:t>
            </a:r>
            <a:r>
              <a:rPr lang="en-US" dirty="0" smtClean="0"/>
              <a:t>[] numbers = {1, 2, 3, 4};</a:t>
            </a:r>
          </a:p>
          <a:p>
            <a:pPr>
              <a:buNone/>
            </a:pPr>
            <a:r>
              <a:rPr lang="en-US" dirty="0" smtClean="0"/>
              <a:t>for (</a:t>
            </a:r>
            <a:r>
              <a:rPr lang="en-US" dirty="0" err="1" smtClean="0"/>
              <a:t>int</a:t>
            </a:r>
            <a:r>
              <a:rPr lang="en-US" dirty="0" smtClean="0"/>
              <a:t> num : numbers) {</a:t>
            </a:r>
          </a:p>
          <a:p>
            <a:pPr>
              <a:buNone/>
            </a:pPr>
            <a:r>
              <a:rPr lang="en-US" dirty="0" smtClean="0"/>
              <a:t>    </a:t>
            </a:r>
            <a:r>
              <a:rPr lang="en-US" dirty="0" err="1" smtClean="0"/>
              <a:t>System.out.println</a:t>
            </a:r>
            <a:r>
              <a:rPr lang="en-US" dirty="0" smtClean="0"/>
              <a:t>(num);</a:t>
            </a:r>
          </a:p>
          <a:p>
            <a:pPr>
              <a:buNone/>
            </a:pPr>
            <a:r>
              <a:rPr lang="en-US" dirty="0" smtClean="0"/>
              <a:t>}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Arrays Utility Class (from </a:t>
            </a:r>
            <a:r>
              <a:rPr lang="en-US" dirty="0" err="1" smtClean="0"/>
              <a:t>java.util</a:t>
            </a:r>
            <a:r>
              <a:rPr lang="en-US" dirty="0" smtClean="0"/>
              <a:t>)</a:t>
            </a:r>
            <a:br>
              <a:rPr lang="en-US" dirty="0" smtClean="0"/>
            </a:br>
            <a:r>
              <a:rPr lang="en-US" dirty="0" smtClean="0"/>
              <a:t>Helpful methods to manipulate </a:t>
            </a:r>
            <a:r>
              <a:rPr lang="en-US" dirty="0" smtClean="0"/>
              <a:t>arrays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Arrays.toString</a:t>
            </a:r>
            <a:r>
              <a:rPr lang="en-US" dirty="0" smtClean="0"/>
              <a:t>(array</a:t>
            </a:r>
            <a:r>
              <a:rPr lang="en-US" dirty="0" smtClean="0"/>
              <a:t>)</a:t>
            </a:r>
          </a:p>
          <a:p>
            <a:r>
              <a:rPr lang="en-US" dirty="0" err="1" smtClean="0"/>
              <a:t>Arrays.sort</a:t>
            </a:r>
            <a:r>
              <a:rPr lang="en-US" dirty="0" smtClean="0"/>
              <a:t>(array)</a:t>
            </a:r>
          </a:p>
          <a:p>
            <a:r>
              <a:rPr lang="en-US" dirty="0" err="1" smtClean="0"/>
              <a:t>Arrays.equals</a:t>
            </a:r>
            <a:r>
              <a:rPr lang="en-US" dirty="0" smtClean="0"/>
              <a:t>(arr1, arr2)</a:t>
            </a:r>
          </a:p>
          <a:p>
            <a:r>
              <a:rPr lang="en-US" dirty="0" err="1" smtClean="0"/>
              <a:t>Arrays.copyOf</a:t>
            </a:r>
            <a:r>
              <a:rPr lang="en-US" dirty="0" smtClean="0"/>
              <a:t>(array, </a:t>
            </a:r>
            <a:r>
              <a:rPr lang="en-US" dirty="0" err="1" smtClean="0"/>
              <a:t>newLength</a:t>
            </a:r>
            <a:r>
              <a:rPr lang="en-US" dirty="0" smtClean="0"/>
              <a:t>)</a:t>
            </a:r>
          </a:p>
          <a:p>
            <a:r>
              <a:rPr lang="en-US" dirty="0" err="1" smtClean="0"/>
              <a:t>Arrays.fill</a:t>
            </a:r>
            <a:r>
              <a:rPr lang="en-US" dirty="0" smtClean="0"/>
              <a:t>(array, value)</a:t>
            </a:r>
          </a:p>
          <a:p>
            <a:r>
              <a:rPr lang="en-US" dirty="0" err="1" smtClean="0"/>
              <a:t>Arrays.binarySearch</a:t>
            </a:r>
            <a:r>
              <a:rPr lang="en-US" dirty="0" smtClean="0"/>
              <a:t>(array, key)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Multidimensional Arrays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Represented in the form of rows and columns, also known as matrix. It is also known as </a:t>
            </a:r>
            <a:r>
              <a:rPr lang="en-US" b="1" dirty="0"/>
              <a:t>array</a:t>
            </a:r>
            <a:r>
              <a:rPr lang="en-US" dirty="0"/>
              <a:t> of </a:t>
            </a:r>
            <a:r>
              <a:rPr lang="en-US" b="1" dirty="0"/>
              <a:t>arrays</a:t>
            </a:r>
            <a:r>
              <a:rPr lang="en-US" dirty="0"/>
              <a:t> or list of </a:t>
            </a:r>
            <a:r>
              <a:rPr lang="en-US" b="1" dirty="0"/>
              <a:t>arrays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Data is accessed by row and column based </a:t>
            </a:r>
            <a:r>
              <a:rPr lang="en-US" dirty="0" smtClean="0"/>
              <a:t>index.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52891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Declaration of 2D arrays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209800"/>
            <a:ext cx="8229600" cy="17526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 err="1"/>
              <a:t>DataType</a:t>
            </a:r>
            <a:r>
              <a:rPr lang="en-US" sz="2400" dirty="0"/>
              <a:t>[][] </a:t>
            </a:r>
            <a:r>
              <a:rPr lang="en-US" sz="2400" dirty="0" err="1"/>
              <a:t>arrayName</a:t>
            </a:r>
            <a:r>
              <a:rPr lang="en-US" sz="2400" dirty="0"/>
              <a:t>; </a:t>
            </a:r>
          </a:p>
          <a:p>
            <a:pPr marL="0" indent="0">
              <a:buNone/>
            </a:pPr>
            <a:r>
              <a:rPr lang="en-US" sz="2400" dirty="0" err="1"/>
              <a:t>arrayName</a:t>
            </a:r>
            <a:r>
              <a:rPr lang="en-US" sz="2400" dirty="0"/>
              <a:t> = new </a:t>
            </a:r>
            <a:r>
              <a:rPr lang="en-US" sz="2400" dirty="0" err="1"/>
              <a:t>DataType</a:t>
            </a:r>
            <a:r>
              <a:rPr lang="en-US" sz="2400" dirty="0"/>
              <a:t>[rows][columns];</a:t>
            </a:r>
          </a:p>
          <a:p>
            <a:pPr>
              <a:buNone/>
            </a:pPr>
            <a:r>
              <a:rPr lang="en-US" sz="2400" i="1" dirty="0"/>
              <a:t>Or</a:t>
            </a:r>
          </a:p>
          <a:p>
            <a:pPr>
              <a:buNone/>
            </a:pPr>
            <a:r>
              <a:rPr lang="en-US" sz="2400" dirty="0" err="1"/>
              <a:t>DataType</a:t>
            </a:r>
            <a:r>
              <a:rPr lang="en-US" sz="2400" dirty="0"/>
              <a:t>[][] </a:t>
            </a:r>
            <a:r>
              <a:rPr lang="en-US" sz="2400" dirty="0" err="1"/>
              <a:t>arrayName</a:t>
            </a:r>
            <a:r>
              <a:rPr lang="en-US" sz="2400" dirty="0"/>
              <a:t> = new </a:t>
            </a:r>
            <a:r>
              <a:rPr lang="en-US" sz="2400" dirty="0" err="1"/>
              <a:t>DataType</a:t>
            </a:r>
            <a:r>
              <a:rPr lang="en-US" sz="2400" dirty="0"/>
              <a:t>[rows][columns];</a:t>
            </a:r>
            <a:endParaRPr lang="en-US" sz="2400" i="1" dirty="0"/>
          </a:p>
        </p:txBody>
      </p:sp>
      <p:sp>
        <p:nvSpPr>
          <p:cNvPr id="4" name="Content Placeholder 1"/>
          <p:cNvSpPr txBox="1">
            <a:spLocks/>
          </p:cNvSpPr>
          <p:nvPr/>
        </p:nvSpPr>
        <p:spPr>
          <a:xfrm>
            <a:off x="457200" y="4648200"/>
            <a:ext cx="8229600" cy="1981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400" dirty="0"/>
              <a:t>int[][] Marks; </a:t>
            </a:r>
          </a:p>
          <a:p>
            <a:pPr>
              <a:buNone/>
            </a:pPr>
            <a:r>
              <a:rPr lang="en-US" sz="2400" dirty="0"/>
              <a:t>Marks= new int[3][4]; // 3 rows and 4 columns</a:t>
            </a:r>
          </a:p>
          <a:p>
            <a:pPr>
              <a:buNone/>
            </a:pPr>
            <a:r>
              <a:rPr lang="en-US" sz="2400" dirty="0"/>
              <a:t>Or</a:t>
            </a:r>
          </a:p>
          <a:p>
            <a:pPr>
              <a:buNone/>
            </a:pPr>
            <a:r>
              <a:rPr lang="en-US" sz="2400" dirty="0"/>
              <a:t>int[][] Marks = new int[3][4];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9279" y="1600200"/>
            <a:ext cx="1029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Syntax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9279" y="3962400"/>
            <a:ext cx="1269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xmlns="" val="624435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Declaring and Initializing of 2D Arrays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209800"/>
            <a:ext cx="8229600" cy="14478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en-US" sz="2400" i="1" dirty="0" err="1"/>
              <a:t>dataType</a:t>
            </a:r>
            <a:r>
              <a:rPr lang="en-US" sz="2400" i="1" dirty="0"/>
              <a:t>[][] </a:t>
            </a:r>
            <a:r>
              <a:rPr lang="en-US" sz="2400" dirty="0" err="1"/>
              <a:t>arrayName</a:t>
            </a:r>
            <a:r>
              <a:rPr lang="en-US" sz="2400" i="1" dirty="0"/>
              <a:t> = {{val0, val1,val2},{val3,val4,val5} ...,};</a:t>
            </a:r>
          </a:p>
          <a:p>
            <a:pPr>
              <a:buNone/>
            </a:pPr>
            <a:endParaRPr lang="en-US" sz="2400" i="1" dirty="0"/>
          </a:p>
        </p:txBody>
      </p:sp>
      <p:sp>
        <p:nvSpPr>
          <p:cNvPr id="4" name="Content Placeholder 1"/>
          <p:cNvSpPr txBox="1">
            <a:spLocks/>
          </p:cNvSpPr>
          <p:nvPr/>
        </p:nvSpPr>
        <p:spPr>
          <a:xfrm>
            <a:off x="457200" y="4648200"/>
            <a:ext cx="8229600" cy="1981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400" dirty="0"/>
              <a:t>int[][] Marks= { {34,12,54},{67,78,56} }; // 2 rows and 3 columns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9279" y="1600200"/>
            <a:ext cx="1029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Syntax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9279" y="3962400"/>
            <a:ext cx="1269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xmlns="" val="29521334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Printing a 2D Array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1524000"/>
            <a:ext cx="7858125" cy="494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Fill 2D Array with user Inputs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676400"/>
            <a:ext cx="8353113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 </a:t>
            </a:r>
            <a:r>
              <a:rPr lang="en-US" dirty="0" err="1" smtClean="0"/>
              <a:t>vs</a:t>
            </a:r>
            <a:r>
              <a:rPr lang="en-US" dirty="0" smtClean="0"/>
              <a:t> </a:t>
            </a:r>
            <a:r>
              <a:rPr lang="en-US" dirty="0" err="1" smtClean="0"/>
              <a:t>ArrayList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905000"/>
          <a:ext cx="8229600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723900">
                <a:tc>
                  <a:txBody>
                    <a:bodyPr/>
                    <a:lstStyle/>
                    <a:p>
                      <a:r>
                        <a:rPr lang="en-US" dirty="0" smtClean="0"/>
                        <a:t>Feature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Array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ArrayList</a:t>
                      </a:r>
                      <a:endParaRPr lang="en-US" dirty="0"/>
                    </a:p>
                  </a:txBody>
                  <a:tcPr/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lang="en-US" dirty="0" smtClean="0"/>
                        <a:t>Fixed size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✅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❌ (dynamic)</a:t>
                      </a:r>
                      <a:endParaRPr lang="en-US" dirty="0"/>
                    </a:p>
                  </a:txBody>
                  <a:tcPr anchor="ctr"/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lang="en-US" dirty="0" smtClean="0"/>
                        <a:t>Type-safety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✅(primitives too)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✅ (only objects)</a:t>
                      </a:r>
                      <a:endParaRPr lang="en-US" dirty="0"/>
                    </a:p>
                  </a:txBody>
                  <a:tcPr anchor="ctr"/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lang="en-US" dirty="0" smtClean="0"/>
                        <a:t>Performance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Faster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Slightly slower</a:t>
                      </a:r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HNDIT</Template>
  <TotalTime>1231</TotalTime>
  <Words>449</Words>
  <Application>Microsoft Office PowerPoint</Application>
  <PresentationFormat>On-screen Show (4:3)</PresentationFormat>
  <Paragraphs>118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HNDIT</vt:lpstr>
      <vt:lpstr>HNDIT 2012 Fundamentals of Programming</vt:lpstr>
      <vt:lpstr>Array</vt:lpstr>
      <vt:lpstr>Declaring an Array</vt:lpstr>
      <vt:lpstr>Declaring an Array</vt:lpstr>
      <vt:lpstr>Declaring and Initializing an Array</vt:lpstr>
      <vt:lpstr>Array Length</vt:lpstr>
      <vt:lpstr>Accessing array elements</vt:lpstr>
      <vt:lpstr>Accessing array</vt:lpstr>
      <vt:lpstr>Enhanced For-Loop (For-Each Loop)</vt:lpstr>
      <vt:lpstr>Arrays Utility Class (from java.util) Helpful methods to manipulate arrays </vt:lpstr>
      <vt:lpstr>Multidimensional Arrays</vt:lpstr>
      <vt:lpstr>Declaration of 2D arrays</vt:lpstr>
      <vt:lpstr>Declaring and Initializing of 2D Arrays</vt:lpstr>
      <vt:lpstr>Printing a 2D Array</vt:lpstr>
      <vt:lpstr>Fill 2D Array with user Inputs</vt:lpstr>
      <vt:lpstr>Array vs ArrayList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in JAVA</dc:title>
  <dc:creator>Janaka</dc:creator>
  <cp:lastModifiedBy>student</cp:lastModifiedBy>
  <cp:revision>247</cp:revision>
  <dcterms:created xsi:type="dcterms:W3CDTF">2006-08-16T00:00:00Z</dcterms:created>
  <dcterms:modified xsi:type="dcterms:W3CDTF">2025-05-08T06:57:46Z</dcterms:modified>
</cp:coreProperties>
</file>