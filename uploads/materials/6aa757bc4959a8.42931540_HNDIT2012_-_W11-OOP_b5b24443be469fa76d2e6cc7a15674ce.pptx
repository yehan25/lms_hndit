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6" r:id="rId3"/>
    <p:sldId id="269" r:id="rId4"/>
    <p:sldId id="264" r:id="rId5"/>
    <p:sldId id="267" r:id="rId6"/>
    <p:sldId id="268" r:id="rId7"/>
    <p:sldId id="272" r:id="rId8"/>
    <p:sldId id="277" r:id="rId9"/>
    <p:sldId id="278" r:id="rId10"/>
    <p:sldId id="273" r:id="rId11"/>
    <p:sldId id="275" r:id="rId12"/>
    <p:sldId id="274" r:id="rId13"/>
    <p:sldId id="279" r:id="rId14"/>
    <p:sldId id="280" r:id="rId15"/>
    <p:sldId id="286" r:id="rId16"/>
    <p:sldId id="281" r:id="rId17"/>
    <p:sldId id="287" r:id="rId18"/>
    <p:sldId id="288" r:id="rId19"/>
    <p:sldId id="289" r:id="rId20"/>
    <p:sldId id="28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4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5/3/2023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4" y="2133600"/>
            <a:ext cx="12216984"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393909" y="4800600"/>
            <a:ext cx="11594892"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304800" y="2247902"/>
            <a:ext cx="51816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3921251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12192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118608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9103109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136438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8282036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7539724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995391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6231012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292588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168493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7508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0"/>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905000"/>
            <a:ext cx="109728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5/3/2023</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12192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3851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pPr marL="566928" indent="-457200"/>
            <a:r>
              <a:rPr lang="en-US" sz="2800" dirty="0" smtClean="0"/>
              <a:t>Week11: Object Oriented Programming concepts</a:t>
            </a:r>
            <a:endParaRPr lang="en-US" sz="2800" dirty="0"/>
          </a:p>
        </p:txBody>
      </p:sp>
      <p:sp>
        <p:nvSpPr>
          <p:cNvPr id="2" name="Title 1"/>
          <p:cNvSpPr>
            <a:spLocks noGrp="1"/>
          </p:cNvSpPr>
          <p:nvPr>
            <p:ph type="ctrTitle"/>
          </p:nvPr>
        </p:nvSpPr>
        <p:spPr/>
        <p:txBody>
          <a:bodyPr>
            <a:normAutofit fontScale="90000"/>
          </a:bodyPr>
          <a:lstStyle/>
          <a:p>
            <a:r>
              <a:rPr lang="en-US" dirty="0" smtClean="0"/>
              <a:t>HNDIT </a:t>
            </a:r>
            <a:r>
              <a:rPr lang="en-US" dirty="0"/>
              <a:t/>
            </a:r>
            <a:br>
              <a:rPr lang="en-US" dirty="0"/>
            </a:br>
            <a:r>
              <a:rPr lang="en-US" dirty="0" smtClean="0"/>
              <a:t>Fundamentals of Programming</a:t>
            </a:r>
            <a:endParaRPr lang="en-US" dirty="0"/>
          </a:p>
        </p:txBody>
      </p:sp>
    </p:spTree>
    <p:extLst>
      <p:ext uri="{BB962C8B-B14F-4D97-AF65-F5344CB8AC3E}">
        <p14:creationId xmlns:p14="http://schemas.microsoft.com/office/powerpoint/2010/main" val="4982879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introduction</a:t>
            </a:r>
            <a:endParaRPr lang="en-US" dirty="0"/>
          </a:p>
        </p:txBody>
      </p:sp>
      <p:sp>
        <p:nvSpPr>
          <p:cNvPr id="3" name="Content Placeholder 2"/>
          <p:cNvSpPr>
            <a:spLocks noGrp="1"/>
          </p:cNvSpPr>
          <p:nvPr>
            <p:ph idx="1"/>
          </p:nvPr>
        </p:nvSpPr>
        <p:spPr/>
        <p:txBody>
          <a:bodyPr/>
          <a:lstStyle/>
          <a:p>
            <a:r>
              <a:rPr lang="en-US" dirty="0"/>
              <a:t>In this module, you will realize the importance </a:t>
            </a:r>
            <a:r>
              <a:rPr lang="en-US" dirty="0" smtClean="0"/>
              <a:t>of object-oriented </a:t>
            </a:r>
            <a:r>
              <a:rPr lang="en-US" dirty="0"/>
              <a:t>thinking and learn how to design software using object-oriented techniques. </a:t>
            </a:r>
          </a:p>
        </p:txBody>
      </p:sp>
    </p:spTree>
    <p:extLst>
      <p:ext uri="{BB962C8B-B14F-4D97-AF65-F5344CB8AC3E}">
        <p14:creationId xmlns:p14="http://schemas.microsoft.com/office/powerpoint/2010/main" val="1737310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609600" y="1651000"/>
            <a:ext cx="10972800" cy="4475163"/>
          </a:xfrm>
        </p:spPr>
        <p:txBody>
          <a:bodyPr>
            <a:normAutofit lnSpcReduction="10000"/>
          </a:bodyPr>
          <a:lstStyle/>
          <a:p>
            <a:pPr algn="just"/>
            <a:r>
              <a:rPr lang="en-US" dirty="0" smtClean="0"/>
              <a:t>Structured and </a:t>
            </a:r>
            <a:r>
              <a:rPr lang="en-US" dirty="0"/>
              <a:t>Object Oriented </a:t>
            </a:r>
            <a:r>
              <a:rPr lang="en-US" dirty="0" smtClean="0"/>
              <a:t>Anal are </a:t>
            </a:r>
            <a:r>
              <a:rPr lang="en-US" dirty="0"/>
              <a:t>different techniques of developing a computer system.</a:t>
            </a:r>
            <a:endParaRPr lang="en-US" dirty="0" smtClean="0"/>
          </a:p>
          <a:p>
            <a:r>
              <a:rPr lang="en-US" dirty="0" smtClean="0"/>
              <a:t>Structured </a:t>
            </a:r>
          </a:p>
          <a:p>
            <a:pPr lvl="1"/>
            <a:r>
              <a:rPr lang="en-US" dirty="0"/>
              <a:t>I</a:t>
            </a:r>
            <a:r>
              <a:rPr lang="en-US" dirty="0" smtClean="0"/>
              <a:t>s </a:t>
            </a:r>
            <a:r>
              <a:rPr lang="en-US" dirty="0"/>
              <a:t>the traditional approach of software development based upon the waterfall </a:t>
            </a:r>
            <a:r>
              <a:rPr lang="en-US" dirty="0" smtClean="0"/>
              <a:t>model that </a:t>
            </a:r>
            <a:r>
              <a:rPr lang="en-US" dirty="0"/>
              <a:t>focus is only on process and procedures. </a:t>
            </a:r>
            <a:endParaRPr lang="en-US" dirty="0" smtClean="0"/>
          </a:p>
          <a:p>
            <a:r>
              <a:rPr lang="en-US" dirty="0" smtClean="0"/>
              <a:t>Object Oriented </a:t>
            </a:r>
          </a:p>
          <a:p>
            <a:pPr lvl="1"/>
            <a:r>
              <a:rPr lang="en-US" dirty="0"/>
              <a:t>Whereas in Object </a:t>
            </a:r>
            <a:r>
              <a:rPr lang="en-US" dirty="0" smtClean="0"/>
              <a:t>Oriented, </a:t>
            </a:r>
            <a:r>
              <a:rPr lang="en-US" dirty="0"/>
              <a:t>the focus is more on capturing the real world objects in the current scenario that are of importance to the system.</a:t>
            </a:r>
          </a:p>
        </p:txBody>
      </p:sp>
    </p:spTree>
    <p:extLst>
      <p:ext uri="{BB962C8B-B14F-4D97-AF65-F5344CB8AC3E}">
        <p14:creationId xmlns:p14="http://schemas.microsoft.com/office/powerpoint/2010/main" val="2397476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object-orientation? </a:t>
            </a:r>
          </a:p>
        </p:txBody>
      </p:sp>
      <p:sp>
        <p:nvSpPr>
          <p:cNvPr id="3" name="Content Placeholder 2"/>
          <p:cNvSpPr>
            <a:spLocks noGrp="1"/>
          </p:cNvSpPr>
          <p:nvPr>
            <p:ph idx="1"/>
          </p:nvPr>
        </p:nvSpPr>
        <p:spPr/>
        <p:txBody>
          <a:bodyPr/>
          <a:lstStyle/>
          <a:p>
            <a:pPr algn="just"/>
            <a:r>
              <a:rPr lang="en-US" dirty="0" smtClean="0"/>
              <a:t>In </a:t>
            </a:r>
            <a:r>
              <a:rPr lang="en-US" dirty="0"/>
              <a:t>object-orientation, your program will be split into several small, manageable, reusable programs. </a:t>
            </a:r>
            <a:endParaRPr lang="en-US" dirty="0" smtClean="0"/>
          </a:p>
          <a:p>
            <a:pPr algn="just"/>
            <a:endParaRPr lang="en-US" dirty="0" smtClean="0"/>
          </a:p>
          <a:p>
            <a:pPr algn="just"/>
            <a:r>
              <a:rPr lang="en-US" dirty="0" smtClean="0"/>
              <a:t>Each </a:t>
            </a:r>
            <a:r>
              <a:rPr lang="en-US" dirty="0"/>
              <a:t>small program has its own identity, data, logic and how it’s going to communicate with the rest of the other small programs. </a:t>
            </a:r>
          </a:p>
        </p:txBody>
      </p:sp>
    </p:spTree>
    <p:extLst>
      <p:ext uri="{BB962C8B-B14F-4D97-AF65-F5344CB8AC3E}">
        <p14:creationId xmlns:p14="http://schemas.microsoft.com/office/powerpoint/2010/main" val="2751762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5900"/>
            <a:ext cx="10972800" cy="1143000"/>
          </a:xfrm>
        </p:spPr>
        <p:txBody>
          <a:bodyPr/>
          <a:lstStyle/>
          <a:p>
            <a:r>
              <a:rPr lang="en-US" dirty="0" smtClean="0"/>
              <a:t>Object</a:t>
            </a:r>
            <a:endParaRPr lang="en-US" dirty="0"/>
          </a:p>
        </p:txBody>
      </p:sp>
      <p:sp>
        <p:nvSpPr>
          <p:cNvPr id="3" name="Content Placeholder 2"/>
          <p:cNvSpPr>
            <a:spLocks noGrp="1"/>
          </p:cNvSpPr>
          <p:nvPr>
            <p:ph idx="1"/>
          </p:nvPr>
        </p:nvSpPr>
        <p:spPr>
          <a:xfrm>
            <a:off x="609600" y="1431086"/>
            <a:ext cx="11239500" cy="5029199"/>
          </a:xfrm>
        </p:spPr>
        <p:txBody>
          <a:bodyPr>
            <a:normAutofit fontScale="70000" lnSpcReduction="20000"/>
          </a:bodyPr>
          <a:lstStyle/>
          <a:p>
            <a:r>
              <a:rPr lang="en-US" dirty="0"/>
              <a:t>When you think about Objects, you should think about the real-world situations. </a:t>
            </a:r>
            <a:endParaRPr lang="en-US" dirty="0" smtClean="0"/>
          </a:p>
          <a:p>
            <a:endParaRPr lang="en-US" dirty="0" smtClean="0"/>
          </a:p>
          <a:p>
            <a:r>
              <a:rPr lang="en-US" dirty="0" smtClean="0"/>
              <a:t>Object Orientation </a:t>
            </a:r>
            <a:r>
              <a:rPr lang="en-US" dirty="0"/>
              <a:t>was intended to be closer to the real world, hence, make it easier and more realistic. </a:t>
            </a:r>
            <a:endParaRPr lang="en-US" dirty="0" smtClean="0"/>
          </a:p>
          <a:p>
            <a:endParaRPr lang="en-US" dirty="0" smtClean="0"/>
          </a:p>
          <a:p>
            <a:r>
              <a:rPr lang="en-US" dirty="0" smtClean="0"/>
              <a:t>Objects </a:t>
            </a:r>
            <a:r>
              <a:rPr lang="en-US" dirty="0"/>
              <a:t>can be modelled according to the needs of the application. </a:t>
            </a:r>
            <a:endParaRPr lang="en-US" dirty="0" smtClean="0"/>
          </a:p>
          <a:p>
            <a:endParaRPr lang="en-US" dirty="0" smtClean="0"/>
          </a:p>
          <a:p>
            <a:r>
              <a:rPr lang="en-US" dirty="0" smtClean="0"/>
              <a:t>An </a:t>
            </a:r>
            <a:r>
              <a:rPr lang="en-US" dirty="0"/>
              <a:t>object may have a physical existence, like a car or an intangible conceptual existence, like a project. </a:t>
            </a:r>
            <a:endParaRPr lang="en-US" dirty="0" smtClean="0"/>
          </a:p>
          <a:p>
            <a:endParaRPr lang="en-US" dirty="0" smtClean="0"/>
          </a:p>
          <a:p>
            <a:r>
              <a:rPr lang="en-US" dirty="0" smtClean="0"/>
              <a:t>Each </a:t>
            </a:r>
            <a:r>
              <a:rPr lang="en-US" dirty="0"/>
              <a:t>Objects has its own attributes, and behavior</a:t>
            </a:r>
            <a:r>
              <a:rPr lang="en-US" dirty="0" smtClean="0"/>
              <a:t>.</a:t>
            </a:r>
          </a:p>
          <a:p>
            <a:endParaRPr lang="en-US" dirty="0" smtClean="0"/>
          </a:p>
          <a:p>
            <a:r>
              <a:rPr lang="en-US" dirty="0" smtClean="0"/>
              <a:t>Objects </a:t>
            </a:r>
            <a:r>
              <a:rPr lang="en-US" dirty="0"/>
              <a:t>are separate from one another. </a:t>
            </a:r>
            <a:endParaRPr lang="en-US" dirty="0" smtClean="0"/>
          </a:p>
          <a:p>
            <a:endParaRPr lang="en-US" dirty="0" smtClean="0"/>
          </a:p>
          <a:p>
            <a:r>
              <a:rPr lang="en-US" dirty="0" smtClean="0"/>
              <a:t>They </a:t>
            </a:r>
            <a:r>
              <a:rPr lang="en-US" dirty="0"/>
              <a:t>have their own existence, their own identity that is independent of other objects.</a:t>
            </a:r>
          </a:p>
        </p:txBody>
      </p:sp>
    </p:spTree>
    <p:extLst>
      <p:ext uri="{BB962C8B-B14F-4D97-AF65-F5344CB8AC3E}">
        <p14:creationId xmlns:p14="http://schemas.microsoft.com/office/powerpoint/2010/main" val="2921784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cont...</a:t>
            </a:r>
            <a:endParaRPr lang="en-US" dirty="0"/>
          </a:p>
        </p:txBody>
      </p:sp>
      <p:sp>
        <p:nvSpPr>
          <p:cNvPr id="3" name="Content Placeholder 2"/>
          <p:cNvSpPr>
            <a:spLocks noGrp="1"/>
          </p:cNvSpPr>
          <p:nvPr>
            <p:ph idx="1"/>
          </p:nvPr>
        </p:nvSpPr>
        <p:spPr/>
        <p:txBody>
          <a:bodyPr/>
          <a:lstStyle/>
          <a:p>
            <a:r>
              <a:rPr lang="en-US" dirty="0" smtClean="0"/>
              <a:t>Attributes</a:t>
            </a:r>
          </a:p>
          <a:p>
            <a:pPr lvl="1"/>
            <a:r>
              <a:rPr lang="en-US" dirty="0" smtClean="0"/>
              <a:t>It’s the characteristics or the properties of the Object</a:t>
            </a:r>
          </a:p>
          <a:p>
            <a:r>
              <a:rPr lang="en-US" dirty="0" smtClean="0"/>
              <a:t>Methods</a:t>
            </a:r>
          </a:p>
          <a:p>
            <a:pPr lvl="1"/>
            <a:r>
              <a:rPr lang="en-US" dirty="0" smtClean="0"/>
              <a:t>Methods are the things that the Object can do</a:t>
            </a:r>
          </a:p>
          <a:p>
            <a:endParaRPr lang="en-US" dirty="0"/>
          </a:p>
        </p:txBody>
      </p:sp>
      <p:pic>
        <p:nvPicPr>
          <p:cNvPr id="5122" name="Picture 2" descr="E:\HORIZON CAMPUS\download (1).jpg"/>
          <p:cNvPicPr>
            <a:picLocks noChangeAspect="1" noChangeArrowheads="1"/>
          </p:cNvPicPr>
          <p:nvPr/>
        </p:nvPicPr>
        <p:blipFill rotWithShape="1">
          <a:blip r:embed="rId2">
            <a:extLst>
              <a:ext uri="{28A0092B-C50C-407E-A947-70E740481C1C}">
                <a14:useLocalDpi xmlns:a14="http://schemas.microsoft.com/office/drawing/2010/main" val="0"/>
              </a:ext>
            </a:extLst>
          </a:blip>
          <a:srcRect t="13170" r="75164" b="64429"/>
          <a:stretch/>
        </p:blipFill>
        <p:spPr bwMode="auto">
          <a:xfrm>
            <a:off x="9845040" y="914400"/>
            <a:ext cx="1417320" cy="107963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E:\HORIZON CAMPUS\download (1).jpg"/>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t="38340" r="28696" b="30830"/>
          <a:stretch/>
        </p:blipFill>
        <p:spPr bwMode="auto">
          <a:xfrm>
            <a:off x="9337942" y="4953000"/>
            <a:ext cx="1215758" cy="14859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HORIZON CAMPUS\download (1).jpg"/>
          <p:cNvPicPr>
            <a:picLocks noChangeAspect="1" noChangeArrowheads="1"/>
          </p:cNvPicPr>
          <p:nvPr/>
        </p:nvPicPr>
        <p:blipFill rotWithShape="1">
          <a:blip r:embed="rId2">
            <a:extLst>
              <a:ext uri="{28A0092B-C50C-407E-A947-70E740481C1C}">
                <a14:useLocalDpi xmlns:a14="http://schemas.microsoft.com/office/drawing/2010/main" val="0"/>
              </a:ext>
            </a:extLst>
          </a:blip>
          <a:srcRect l="69629" t="32804" r="9067" b="39527"/>
          <a:stretch/>
        </p:blipFill>
        <p:spPr bwMode="auto">
          <a:xfrm>
            <a:off x="1524000" y="4953000"/>
            <a:ext cx="121576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E:\HORIZON CAMPUS\download (1).jpg"/>
          <p:cNvPicPr>
            <a:picLocks noChangeAspect="1" noChangeArrowheads="1"/>
          </p:cNvPicPr>
          <p:nvPr/>
        </p:nvPicPr>
        <p:blipFill rotWithShape="1">
          <a:blip r:embed="rId2">
            <a:extLst>
              <a:ext uri="{28A0092B-C50C-407E-A947-70E740481C1C}">
                <a14:useLocalDpi xmlns:a14="http://schemas.microsoft.com/office/drawing/2010/main" val="0"/>
              </a:ext>
            </a:extLst>
          </a:blip>
          <a:srcRect l="7611" t="79842" r="70757"/>
          <a:stretch/>
        </p:blipFill>
        <p:spPr bwMode="auto">
          <a:xfrm>
            <a:off x="8290559" y="1343025"/>
            <a:ext cx="1234441" cy="9715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E:\HORIZON CAMPUS\download (1).jpg"/>
          <p:cNvPicPr>
            <a:picLocks noChangeAspect="1" noChangeArrowheads="1"/>
          </p:cNvPicPr>
          <p:nvPr/>
        </p:nvPicPr>
        <p:blipFill rotWithShape="1">
          <a:blip r:embed="rId2">
            <a:extLst>
              <a:ext uri="{28A0092B-C50C-407E-A947-70E740481C1C}">
                <a14:useLocalDpi xmlns:a14="http://schemas.microsoft.com/office/drawing/2010/main" val="0"/>
              </a:ext>
            </a:extLst>
          </a:blip>
          <a:srcRect l="4006" t="36822" r="70357" b="39527"/>
          <a:stretch/>
        </p:blipFill>
        <p:spPr bwMode="auto">
          <a:xfrm>
            <a:off x="10119361" y="2514600"/>
            <a:ext cx="1463041" cy="11398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E:\HORIZON CAMPUS\download (1).jpg"/>
          <p:cNvPicPr>
            <a:picLocks noChangeAspect="1" noChangeArrowheads="1"/>
          </p:cNvPicPr>
          <p:nvPr/>
        </p:nvPicPr>
        <p:blipFill rotWithShape="1">
          <a:blip r:embed="rId2">
            <a:extLst>
              <a:ext uri="{28A0092B-C50C-407E-A947-70E740481C1C}">
                <a14:useLocalDpi xmlns:a14="http://schemas.microsoft.com/office/drawing/2010/main" val="0"/>
              </a:ext>
            </a:extLst>
          </a:blip>
          <a:srcRect l="63693" t="75889"/>
          <a:stretch/>
        </p:blipFill>
        <p:spPr bwMode="auto">
          <a:xfrm>
            <a:off x="5341622" y="4533900"/>
            <a:ext cx="2071904" cy="116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3775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8240" y="2590800"/>
            <a:ext cx="9875520" cy="1676400"/>
          </a:xfrm>
        </p:spPr>
        <p:txBody>
          <a:bodyPr>
            <a:normAutofit fontScale="92500"/>
          </a:bodyPr>
          <a:lstStyle/>
          <a:p>
            <a:pPr marL="0" indent="0" algn="ctr">
              <a:buNone/>
            </a:pPr>
            <a:r>
              <a:rPr lang="en-US" sz="4400" dirty="0"/>
              <a:t>The concepts and terms in object orientation </a:t>
            </a:r>
          </a:p>
          <a:p>
            <a:pPr marL="0" indent="0" algn="ctr">
              <a:buNone/>
            </a:pPr>
            <a:r>
              <a:rPr lang="en-US" sz="4400" dirty="0"/>
              <a:t> </a:t>
            </a:r>
            <a:r>
              <a:rPr lang="en-US" sz="3300" dirty="0"/>
              <a:t>Abstraction ,Encapsulation, Inheritance, Polymorphism</a:t>
            </a:r>
          </a:p>
        </p:txBody>
      </p:sp>
    </p:spTree>
    <p:extLst>
      <p:ext uri="{BB962C8B-B14F-4D97-AF65-F5344CB8AC3E}">
        <p14:creationId xmlns:p14="http://schemas.microsoft.com/office/powerpoint/2010/main" val="20212531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240" y="76200"/>
            <a:ext cx="3609976" cy="1162050"/>
          </a:xfrm>
        </p:spPr>
        <p:txBody>
          <a:bodyPr>
            <a:normAutofit/>
          </a:bodyPr>
          <a:lstStyle/>
          <a:p>
            <a:r>
              <a:rPr lang="en-US" sz="3600" dirty="0"/>
              <a:t>Encapsulation</a:t>
            </a:r>
          </a:p>
        </p:txBody>
      </p:sp>
      <p:sp>
        <p:nvSpPr>
          <p:cNvPr id="4" name="Text Placeholder 3"/>
          <p:cNvSpPr>
            <a:spLocks noGrp="1"/>
          </p:cNvSpPr>
          <p:nvPr>
            <p:ph type="body" sz="half" idx="2"/>
          </p:nvPr>
        </p:nvSpPr>
        <p:spPr>
          <a:xfrm>
            <a:off x="1158240" y="1435102"/>
            <a:ext cx="5547360" cy="5422899"/>
          </a:xfrm>
        </p:spPr>
        <p:txBody>
          <a:bodyPr>
            <a:normAutofit fontScale="85000" lnSpcReduction="20000"/>
          </a:bodyPr>
          <a:lstStyle/>
          <a:p>
            <a:pPr marL="457200" indent="-457200">
              <a:buFont typeface="Arial" pitchFamily="34" charset="0"/>
              <a:buChar char="•"/>
            </a:pPr>
            <a:r>
              <a:rPr lang="en-US" sz="2800" dirty="0"/>
              <a:t>Encapsulation referrers to combining data and associated functions as a single unit.</a:t>
            </a:r>
          </a:p>
          <a:p>
            <a:pPr marL="457200" indent="-457200">
              <a:buFont typeface="Arial" pitchFamily="34" charset="0"/>
              <a:buChar char="•"/>
            </a:pPr>
            <a:endParaRPr lang="en-US" sz="2800" dirty="0"/>
          </a:p>
          <a:p>
            <a:pPr marL="457200" indent="-457200">
              <a:buFont typeface="Arial" pitchFamily="34" charset="0"/>
              <a:buChar char="•"/>
            </a:pPr>
            <a:r>
              <a:rPr lang="en-US" sz="2800" dirty="0"/>
              <a:t>Binding (or wrapping) code and data together into a single unit is known as encapsulation.</a:t>
            </a:r>
          </a:p>
          <a:p>
            <a:pPr marL="457200" indent="-457200">
              <a:buFont typeface="Arial" pitchFamily="34" charset="0"/>
              <a:buChar char="•"/>
            </a:pPr>
            <a:endParaRPr lang="en-US" sz="2800" dirty="0"/>
          </a:p>
          <a:p>
            <a:pPr marL="457200" indent="-457200">
              <a:buFont typeface="Arial" pitchFamily="34" charset="0"/>
              <a:buChar char="•"/>
            </a:pPr>
            <a:r>
              <a:rPr lang="en-US" sz="2800" dirty="0"/>
              <a:t>It also implies the idea of hiding the content of a Class, unless it is necessary to expose. </a:t>
            </a:r>
          </a:p>
          <a:p>
            <a:pPr marL="457200" indent="-457200">
              <a:buFont typeface="Arial" pitchFamily="34" charset="0"/>
              <a:buChar char="•"/>
            </a:pPr>
            <a:endParaRPr lang="en-US" sz="2800" dirty="0"/>
          </a:p>
          <a:p>
            <a:pPr marL="457200" indent="-457200">
              <a:buFont typeface="Arial" pitchFamily="34" charset="0"/>
              <a:buChar char="•"/>
            </a:pPr>
            <a:r>
              <a:rPr lang="en-US" sz="2800" dirty="0"/>
              <a:t>We need to restrict the access to our class as much as we can so that we can change the properties and the behaviors only from inside the class</a:t>
            </a:r>
          </a:p>
          <a:p>
            <a:endParaRPr lang="en-US" sz="2800"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2026" y="1981200"/>
            <a:ext cx="5112774"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023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Encapsulation Example</a:t>
            </a:r>
            <a:endParaRPr lang="en-US" dirty="0"/>
          </a:p>
        </p:txBody>
      </p:sp>
      <p:sp>
        <p:nvSpPr>
          <p:cNvPr id="4" name="Text Placeholder 3"/>
          <p:cNvSpPr>
            <a:spLocks noGrp="1"/>
          </p:cNvSpPr>
          <p:nvPr>
            <p:ph type="body" sz="half" idx="2"/>
          </p:nvPr>
        </p:nvSpPr>
        <p:spPr/>
        <p:txBody>
          <a:bodyPr>
            <a:normAutofit/>
          </a:bodyPr>
          <a:lstStyle/>
          <a:p>
            <a:r>
              <a:rPr lang="en-US" sz="1800" dirty="0"/>
              <a:t>In java </a:t>
            </a:r>
          </a:p>
          <a:p>
            <a:r>
              <a:rPr lang="en-US" sz="1800" dirty="0"/>
              <a:t>status(variables) </a:t>
            </a:r>
          </a:p>
          <a:p>
            <a:r>
              <a:rPr lang="en-US" sz="1800" dirty="0"/>
              <a:t>and </a:t>
            </a:r>
          </a:p>
          <a:p>
            <a:r>
              <a:rPr lang="en-US" sz="1800" dirty="0"/>
              <a:t>behavior(methods) </a:t>
            </a:r>
          </a:p>
          <a:p>
            <a:endParaRPr lang="en-US" sz="1800" dirty="0"/>
          </a:p>
          <a:p>
            <a:endParaRPr lang="en-US" sz="1800" dirty="0"/>
          </a:p>
          <a:p>
            <a:r>
              <a:rPr lang="en-US" sz="1800" dirty="0"/>
              <a:t>related to a object are included into one single unit called as class</a:t>
            </a: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76" t="12127" r="62868" b="22528"/>
          <a:stretch/>
        </p:blipFill>
        <p:spPr bwMode="auto">
          <a:xfrm>
            <a:off x="5486401" y="1066800"/>
            <a:ext cx="5257963"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Arrow Connector 5"/>
          <p:cNvCxnSpPr/>
          <p:nvPr/>
        </p:nvCxnSpPr>
        <p:spPr>
          <a:xfrm>
            <a:off x="4092622" y="1905000"/>
            <a:ext cx="1774778" cy="0"/>
          </a:xfrm>
          <a:prstGeom prst="straightConnector1">
            <a:avLst/>
          </a:prstGeom>
          <a:ln w="76200">
            <a:tailEnd type="arrow"/>
          </a:ln>
        </p:spPr>
        <p:style>
          <a:lnRef idx="3">
            <a:schemeClr val="accent6"/>
          </a:lnRef>
          <a:fillRef idx="0">
            <a:schemeClr val="accent6"/>
          </a:fillRef>
          <a:effectRef idx="2">
            <a:schemeClr val="accent6"/>
          </a:effectRef>
          <a:fontRef idx="minor">
            <a:schemeClr val="tx1"/>
          </a:fontRef>
        </p:style>
      </p:cxnSp>
      <p:cxnSp>
        <p:nvCxnSpPr>
          <p:cNvPr id="8" name="Straight Arrow Connector 7"/>
          <p:cNvCxnSpPr/>
          <p:nvPr/>
        </p:nvCxnSpPr>
        <p:spPr>
          <a:xfrm>
            <a:off x="4092622" y="2667000"/>
            <a:ext cx="1774778" cy="0"/>
          </a:xfrm>
          <a:prstGeom prst="straightConnector1">
            <a:avLst/>
          </a:prstGeom>
          <a:ln w="76200">
            <a:tailEnd type="arrow"/>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69410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46"/>
                                        </p:tgtEl>
                                        <p:attrNameLst>
                                          <p:attrName>style.visibility</p:attrName>
                                        </p:attrNameLst>
                                      </p:cBhvr>
                                      <p:to>
                                        <p:strVal val="visible"/>
                                      </p:to>
                                    </p:set>
                                    <p:animEffect transition="in" filter="fade">
                                      <p:cBhvr>
                                        <p:cTn id="1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Abstraction</a:t>
            </a:r>
          </a:p>
        </p:txBody>
      </p:sp>
      <p:sp>
        <p:nvSpPr>
          <p:cNvPr id="4" name="Text Placeholder 3"/>
          <p:cNvSpPr>
            <a:spLocks noGrp="1"/>
          </p:cNvSpPr>
          <p:nvPr>
            <p:ph type="body" sz="half" idx="2"/>
          </p:nvPr>
        </p:nvSpPr>
        <p:spPr>
          <a:xfrm>
            <a:off x="1158240" y="1435102"/>
            <a:ext cx="4937760" cy="4691063"/>
          </a:xfrm>
        </p:spPr>
        <p:txBody>
          <a:bodyPr>
            <a:normAutofit lnSpcReduction="10000"/>
          </a:bodyPr>
          <a:lstStyle/>
          <a:p>
            <a:pPr marL="457200" indent="-457200">
              <a:buFont typeface="Arial" pitchFamily="34" charset="0"/>
              <a:buChar char="•"/>
            </a:pPr>
            <a:r>
              <a:rPr lang="en-US" sz="2800" dirty="0"/>
              <a:t>Hiding unnecessary details from the ordinary user.</a:t>
            </a:r>
          </a:p>
          <a:p>
            <a:pPr marL="457200" indent="-457200">
              <a:buFont typeface="Arial" pitchFamily="34" charset="0"/>
              <a:buChar char="•"/>
            </a:pPr>
            <a:endParaRPr lang="en-US" sz="2800" dirty="0"/>
          </a:p>
          <a:p>
            <a:pPr marL="457200" indent="-457200">
              <a:buFont typeface="Arial" pitchFamily="34" charset="0"/>
              <a:buChar char="•"/>
            </a:pPr>
            <a:r>
              <a:rPr lang="en-US" sz="2800" dirty="0"/>
              <a:t>It  handle complexity .</a:t>
            </a:r>
          </a:p>
          <a:p>
            <a:pPr marL="457200" indent="-457200">
              <a:buFont typeface="Arial" pitchFamily="34" charset="0"/>
              <a:buChar char="•"/>
            </a:pPr>
            <a:endParaRPr lang="en-US" sz="2800" dirty="0"/>
          </a:p>
          <a:p>
            <a:pPr marL="457200" indent="-457200">
              <a:buFont typeface="Arial" pitchFamily="34" charset="0"/>
              <a:buChar char="•"/>
            </a:pPr>
            <a:r>
              <a:rPr lang="en-US" sz="2800" dirty="0"/>
              <a:t>That allows the user to perform more complex logic on top of the given abstraction without worrying about all the hidden complexity. </a:t>
            </a:r>
          </a:p>
          <a:p>
            <a:endParaRPr lang="en-US" sz="2800" dirty="0"/>
          </a:p>
        </p:txBody>
      </p:sp>
      <p:pic>
        <p:nvPicPr>
          <p:cNvPr id="6" name="Picture 5"/>
          <p:cNvPicPr>
            <a:picLocks noChangeAspect="1"/>
          </p:cNvPicPr>
          <p:nvPr/>
        </p:nvPicPr>
        <p:blipFill rotWithShape="1">
          <a:blip r:embed="rId2"/>
          <a:srcRect l="24817" t="31249" r="27745" b="18409"/>
          <a:stretch/>
        </p:blipFill>
        <p:spPr>
          <a:xfrm>
            <a:off x="5960952" y="1727200"/>
            <a:ext cx="5761147" cy="3437323"/>
          </a:xfrm>
          <a:prstGeom prst="rect">
            <a:avLst/>
          </a:prstGeom>
        </p:spPr>
      </p:pic>
    </p:spTree>
    <p:extLst>
      <p:ext uri="{BB962C8B-B14F-4D97-AF65-F5344CB8AC3E}">
        <p14:creationId xmlns:p14="http://schemas.microsoft.com/office/powerpoint/2010/main" val="26254648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93700" y="495300"/>
            <a:ext cx="10972800" cy="1143000"/>
          </a:xfrm>
        </p:spPr>
        <p:txBody>
          <a:bodyPr/>
          <a:lstStyle/>
          <a:p>
            <a:r>
              <a:rPr lang="en-US" dirty="0" smtClean="0"/>
              <a:t>Example</a:t>
            </a:r>
            <a:endParaRPr lang="en-US" dirty="0"/>
          </a:p>
        </p:txBody>
      </p:sp>
      <p:sp>
        <p:nvSpPr>
          <p:cNvPr id="7" name="Content Placeholder 6"/>
          <p:cNvSpPr>
            <a:spLocks noGrp="1"/>
          </p:cNvSpPr>
          <p:nvPr>
            <p:ph idx="1"/>
          </p:nvPr>
        </p:nvSpPr>
        <p:spPr>
          <a:xfrm>
            <a:off x="609600" y="1651000"/>
            <a:ext cx="10972800" cy="4991100"/>
          </a:xfrm>
        </p:spPr>
        <p:txBody>
          <a:bodyPr>
            <a:normAutofit fontScale="77500" lnSpcReduction="20000"/>
          </a:bodyPr>
          <a:lstStyle/>
          <a:p>
            <a:pPr algn="just">
              <a:spcBef>
                <a:spcPts val="1200"/>
              </a:spcBef>
            </a:pPr>
            <a:r>
              <a:rPr lang="en-US" dirty="0"/>
              <a:t>Making coffee with a coffee machine is an excellent </a:t>
            </a:r>
            <a:r>
              <a:rPr lang="en-US" dirty="0" smtClean="0"/>
              <a:t>example </a:t>
            </a:r>
            <a:r>
              <a:rPr lang="en-US" dirty="0"/>
              <a:t>of abstraction. </a:t>
            </a:r>
            <a:endParaRPr lang="en-US" dirty="0" smtClean="0"/>
          </a:p>
          <a:p>
            <a:pPr algn="just">
              <a:spcBef>
                <a:spcPts val="1200"/>
              </a:spcBef>
            </a:pPr>
            <a:r>
              <a:rPr lang="en-US" dirty="0" smtClean="0"/>
              <a:t>A </a:t>
            </a:r>
            <a:r>
              <a:rPr lang="en-US" dirty="0"/>
              <a:t>coffee machine user should only know how to use </a:t>
            </a:r>
            <a:r>
              <a:rPr lang="en-US" dirty="0" smtClean="0"/>
              <a:t>the </a:t>
            </a:r>
            <a:r>
              <a:rPr lang="en-US" dirty="0"/>
              <a:t>coffee machine to make coffee, for instance, how to put water and coffee beans, switch it on and select the kind of coffee. </a:t>
            </a:r>
            <a:endParaRPr lang="en-US" dirty="0" smtClean="0"/>
          </a:p>
          <a:p>
            <a:pPr algn="just">
              <a:spcBef>
                <a:spcPts val="1200"/>
              </a:spcBef>
            </a:pPr>
            <a:r>
              <a:rPr lang="en-US" dirty="0" smtClean="0"/>
              <a:t>The </a:t>
            </a:r>
            <a:r>
              <a:rPr lang="en-US" dirty="0"/>
              <a:t>user does not need to know how the coffee machine is working internally on brewing a fresh cup of delicious coffee. </a:t>
            </a:r>
            <a:endParaRPr lang="en-US" dirty="0" smtClean="0"/>
          </a:p>
          <a:p>
            <a:pPr algn="just">
              <a:spcBef>
                <a:spcPts val="1200"/>
              </a:spcBef>
            </a:pPr>
            <a:r>
              <a:rPr lang="en-US" dirty="0" smtClean="0"/>
              <a:t>Further</a:t>
            </a:r>
            <a:r>
              <a:rPr lang="en-US" dirty="0"/>
              <a:t>, the user do not need to know the ideal temperature of the water or the amount of ground coffee. </a:t>
            </a:r>
            <a:endParaRPr lang="en-US" dirty="0" smtClean="0"/>
          </a:p>
          <a:p>
            <a:pPr algn="just">
              <a:spcBef>
                <a:spcPts val="1200"/>
              </a:spcBef>
            </a:pPr>
            <a:r>
              <a:rPr lang="en-US" dirty="0" smtClean="0"/>
              <a:t>Someone </a:t>
            </a:r>
            <a:r>
              <a:rPr lang="en-US" dirty="0"/>
              <a:t>else worried about that and created a coffee machine that now acts as an abstraction and hides all these details. </a:t>
            </a:r>
            <a:endParaRPr lang="en-US" dirty="0" smtClean="0"/>
          </a:p>
          <a:p>
            <a:pPr algn="just">
              <a:spcBef>
                <a:spcPts val="1200"/>
              </a:spcBef>
            </a:pPr>
            <a:r>
              <a:rPr lang="en-US" dirty="0" smtClean="0"/>
              <a:t>You</a:t>
            </a:r>
            <a:r>
              <a:rPr lang="en-US" dirty="0"/>
              <a:t>, as a coffee machine user, simply interact with a simple interface that doesn’t require any knowledge about the internal implementation of the coffee machine. </a:t>
            </a:r>
          </a:p>
        </p:txBody>
      </p:sp>
      <p:pic>
        <p:nvPicPr>
          <p:cNvPr id="1026" name="Picture 2" descr="Coffee Machine Price in Sri Lanka | Espresso Machines Price Lis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368300"/>
            <a:ext cx="16002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497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Abstraction Example </a:t>
            </a:r>
            <a:endParaRPr lang="en-US" dirty="0"/>
          </a:p>
        </p:txBody>
      </p:sp>
      <p:sp>
        <p:nvSpPr>
          <p:cNvPr id="3" name="Content Placeholder 2"/>
          <p:cNvSpPr>
            <a:spLocks noGrp="1"/>
          </p:cNvSpPr>
          <p:nvPr>
            <p:ph idx="1"/>
          </p:nvPr>
        </p:nvSpPr>
        <p:spPr/>
        <p:txBody>
          <a:bodyPr/>
          <a:lstStyle/>
          <a:p>
            <a:pPr marL="0" indent="0">
              <a:buNone/>
            </a:pPr>
            <a:r>
              <a:rPr lang="en-US" dirty="0" smtClean="0"/>
              <a:t> </a:t>
            </a:r>
            <a:endParaRPr lang="en-US" dirty="0"/>
          </a:p>
        </p:txBody>
      </p:sp>
      <p:sp>
        <p:nvSpPr>
          <p:cNvPr id="4" name="Text Placeholder 3"/>
          <p:cNvSpPr>
            <a:spLocks noGrp="1"/>
          </p:cNvSpPr>
          <p:nvPr>
            <p:ph type="body" sz="half" idx="2"/>
          </p:nvPr>
        </p:nvSpPr>
        <p:spPr>
          <a:xfrm>
            <a:off x="1158240" y="3352800"/>
            <a:ext cx="3032760" cy="2773364"/>
          </a:xfrm>
        </p:spPr>
        <p:txBody>
          <a:bodyPr>
            <a:normAutofit/>
          </a:bodyPr>
          <a:lstStyle/>
          <a:p>
            <a:endParaRPr lang="en-US" sz="2000" dirty="0"/>
          </a:p>
          <a:p>
            <a:endParaRPr lang="en-US" sz="2000" dirty="0"/>
          </a:p>
          <a:p>
            <a:endParaRPr lang="en-US" sz="2000" dirty="0"/>
          </a:p>
          <a:p>
            <a:r>
              <a:rPr lang="en-US" sz="2000" dirty="0"/>
              <a:t>Those methods should implement in it’s sub classes.</a:t>
            </a: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76" t="12687" r="67588" b="67599"/>
          <a:stretch/>
        </p:blipFill>
        <p:spPr bwMode="auto">
          <a:xfrm>
            <a:off x="5181600" y="1143188"/>
            <a:ext cx="4724400" cy="18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848" t="12639" r="52811" b="54711"/>
          <a:stretch/>
        </p:blipFill>
        <p:spPr bwMode="auto">
          <a:xfrm>
            <a:off x="5105400" y="3352800"/>
            <a:ext cx="64770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219200" y="1752601"/>
            <a:ext cx="2819400" cy="1200329"/>
          </a:xfrm>
          <a:prstGeom prst="rect">
            <a:avLst/>
          </a:prstGeom>
          <a:noFill/>
        </p:spPr>
        <p:txBody>
          <a:bodyPr wrap="square" rtlCol="0">
            <a:spAutoFit/>
          </a:bodyPr>
          <a:lstStyle/>
          <a:p>
            <a:r>
              <a:rPr lang="en-US" dirty="0"/>
              <a:t>In java interfaces contains method which does not have any method body</a:t>
            </a:r>
          </a:p>
          <a:p>
            <a:endParaRPr lang="en-US" dirty="0"/>
          </a:p>
        </p:txBody>
      </p:sp>
      <p:cxnSp>
        <p:nvCxnSpPr>
          <p:cNvPr id="7" name="Straight Arrow Connector 6"/>
          <p:cNvCxnSpPr/>
          <p:nvPr/>
        </p:nvCxnSpPr>
        <p:spPr>
          <a:xfrm>
            <a:off x="4038600" y="2209800"/>
            <a:ext cx="838200" cy="0"/>
          </a:xfrm>
          <a:prstGeom prst="straightConnector1">
            <a:avLst/>
          </a:prstGeom>
          <a:ln w="76200">
            <a:tailEnd type="arrow"/>
          </a:ln>
        </p:spPr>
        <p:style>
          <a:lnRef idx="3">
            <a:schemeClr val="accent6"/>
          </a:lnRef>
          <a:fillRef idx="0">
            <a:schemeClr val="accent6"/>
          </a:fillRef>
          <a:effectRef idx="2">
            <a:schemeClr val="accent6"/>
          </a:effectRef>
          <a:fontRef idx="minor">
            <a:schemeClr val="tx1"/>
          </a:fontRef>
        </p:style>
      </p:cxnSp>
      <p:cxnSp>
        <p:nvCxnSpPr>
          <p:cNvPr id="11" name="Straight Arrow Connector 10"/>
          <p:cNvCxnSpPr/>
          <p:nvPr/>
        </p:nvCxnSpPr>
        <p:spPr>
          <a:xfrm>
            <a:off x="4038600" y="4724400"/>
            <a:ext cx="838200" cy="0"/>
          </a:xfrm>
          <a:prstGeom prst="straightConnector1">
            <a:avLst/>
          </a:prstGeom>
          <a:ln w="76200">
            <a:tailEnd type="arrow"/>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898345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122"/>
                                        </p:tgtEl>
                                        <p:attrNameLst>
                                          <p:attrName>style.visibility</p:attrName>
                                        </p:attrNameLst>
                                      </p:cBhvr>
                                      <p:to>
                                        <p:strVal val="visible"/>
                                      </p:to>
                                    </p:set>
                                    <p:animEffect transition="in" filter="fade">
                                      <p:cBhvr>
                                        <p:cTn id="10" dur="500"/>
                                        <p:tgtEl>
                                          <p:spTgt spid="512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5123"/>
                                        </p:tgtEl>
                                        <p:attrNameLst>
                                          <p:attrName>style.visibility</p:attrName>
                                        </p:attrNameLst>
                                      </p:cBhvr>
                                      <p:to>
                                        <p:strVal val="visible"/>
                                      </p:to>
                                    </p:set>
                                    <p:animEffect transition="in" filter="fade">
                                      <p:cBhvr>
                                        <p:cTn id="22" dur="5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Inheritance</a:t>
            </a:r>
          </a:p>
        </p:txBody>
      </p:sp>
      <p:sp>
        <p:nvSpPr>
          <p:cNvPr id="4" name="Text Placeholder 3"/>
          <p:cNvSpPr>
            <a:spLocks noGrp="1"/>
          </p:cNvSpPr>
          <p:nvPr>
            <p:ph type="body" sz="half" idx="2"/>
          </p:nvPr>
        </p:nvSpPr>
        <p:spPr>
          <a:xfrm>
            <a:off x="1158240" y="1435102"/>
            <a:ext cx="4328160" cy="4691063"/>
          </a:xfrm>
        </p:spPr>
        <p:txBody>
          <a:bodyPr>
            <a:normAutofit/>
          </a:bodyPr>
          <a:lstStyle/>
          <a:p>
            <a:pPr marL="457200" indent="-457200">
              <a:buFont typeface="Arial" pitchFamily="34" charset="0"/>
              <a:buChar char="•"/>
            </a:pPr>
            <a:r>
              <a:rPr lang="en-US" sz="2800" b="1" dirty="0"/>
              <a:t>Forming a new class from an existing class.</a:t>
            </a:r>
            <a:endParaRPr lang="en-US" sz="2800" dirty="0"/>
          </a:p>
          <a:p>
            <a:pPr marL="457200" indent="-457200">
              <a:buFont typeface="Arial" pitchFamily="34" charset="0"/>
              <a:buChar char="•"/>
            </a:pPr>
            <a:r>
              <a:rPr lang="en-US" sz="2800" dirty="0"/>
              <a:t>Existing class is base class/parent class/super class and new class is derived class/child class/sub class.</a:t>
            </a:r>
          </a:p>
          <a:p>
            <a:pPr marL="457200" indent="-457200">
              <a:buFont typeface="Arial" pitchFamily="34" charset="0"/>
              <a:buChar char="•"/>
            </a:pPr>
            <a:r>
              <a:rPr lang="en-US" sz="2800" dirty="0"/>
              <a:t>Helps to reduce the code size</a:t>
            </a:r>
          </a:p>
        </p:txBody>
      </p:sp>
      <p:pic>
        <p:nvPicPr>
          <p:cNvPr id="5" name="Picture 2" descr="X-linked recessive inheritance - where the mother is a carrier for a  condition - Genomics Education Program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235122"/>
            <a:ext cx="40386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3438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431800"/>
            <a:ext cx="10972800" cy="1143000"/>
          </a:xfrm>
        </p:spPr>
        <p:txBody>
          <a:bodyPr/>
          <a:lstStyle/>
          <a:p>
            <a:r>
              <a:rPr lang="en-US" dirty="0" smtClean="0"/>
              <a:t>Example</a:t>
            </a:r>
            <a:endParaRPr lang="en-US" dirty="0"/>
          </a:p>
        </p:txBody>
      </p:sp>
      <p:sp>
        <p:nvSpPr>
          <p:cNvPr id="6" name="Content Placeholder 5"/>
          <p:cNvSpPr>
            <a:spLocks noGrp="1"/>
          </p:cNvSpPr>
          <p:nvPr>
            <p:ph idx="1"/>
          </p:nvPr>
        </p:nvSpPr>
        <p:spPr>
          <a:xfrm>
            <a:off x="1158240" y="1600202"/>
            <a:ext cx="9875520" cy="4952999"/>
          </a:xfrm>
        </p:spPr>
        <p:txBody>
          <a:bodyPr>
            <a:normAutofit fontScale="77500" lnSpcReduction="20000"/>
          </a:bodyPr>
          <a:lstStyle/>
          <a:p>
            <a:r>
              <a:rPr lang="en-US" dirty="0"/>
              <a:t>Different kinds of objects often have a certain amount in common with each other. </a:t>
            </a:r>
            <a:endParaRPr lang="en-US" dirty="0" smtClean="0"/>
          </a:p>
          <a:p>
            <a:r>
              <a:rPr lang="en-US" dirty="0" smtClean="0"/>
              <a:t>For </a:t>
            </a:r>
            <a:r>
              <a:rPr lang="en-US" dirty="0"/>
              <a:t>example: </a:t>
            </a:r>
            <a:endParaRPr lang="en-US" dirty="0" smtClean="0"/>
          </a:p>
          <a:p>
            <a:pPr lvl="1"/>
            <a:r>
              <a:rPr lang="en-US" dirty="0" smtClean="0"/>
              <a:t>Mountain </a:t>
            </a:r>
            <a:r>
              <a:rPr lang="en-US" dirty="0"/>
              <a:t>bikes, road bikes, and tandem bikes, for example, all share the characteristics of bicycles (current speed, current pedal cadence, current gear). </a:t>
            </a:r>
            <a:endParaRPr lang="en-US" dirty="0" smtClean="0"/>
          </a:p>
          <a:p>
            <a:pPr lvl="1"/>
            <a:endParaRPr lang="en-US" dirty="0" smtClean="0"/>
          </a:p>
          <a:p>
            <a:pPr lvl="1"/>
            <a:r>
              <a:rPr lang="en-US" dirty="0" smtClean="0"/>
              <a:t>Additional </a:t>
            </a:r>
            <a:r>
              <a:rPr lang="en-US" dirty="0"/>
              <a:t>features that make them different: tandem bicycles have two seats and two sets of handlebars; road bikes have drop handlebars; some mountain bikes have an additional </a:t>
            </a:r>
            <a:r>
              <a:rPr lang="en-US" dirty="0" smtClean="0"/>
              <a:t>chaining, </a:t>
            </a:r>
            <a:r>
              <a:rPr lang="en-US" dirty="0"/>
              <a:t>giving them a lower gear ratio. </a:t>
            </a:r>
            <a:endParaRPr lang="en-US" dirty="0" smtClean="0"/>
          </a:p>
          <a:p>
            <a:pPr lvl="1"/>
            <a:endParaRPr lang="en-US" dirty="0"/>
          </a:p>
          <a:p>
            <a:pPr lvl="1"/>
            <a:r>
              <a:rPr lang="en-US" dirty="0" smtClean="0"/>
              <a:t>Object-oriented </a:t>
            </a:r>
            <a:r>
              <a:rPr lang="en-US" dirty="0"/>
              <a:t>programming allows classes to inherit commonly used state and behavior from other classes. </a:t>
            </a:r>
            <a:endParaRPr lang="en-US" dirty="0" smtClean="0"/>
          </a:p>
          <a:p>
            <a:pPr lvl="1"/>
            <a:endParaRPr lang="en-US" dirty="0" smtClean="0"/>
          </a:p>
          <a:p>
            <a:pPr lvl="1"/>
            <a:r>
              <a:rPr lang="en-US" dirty="0" smtClean="0"/>
              <a:t>In </a:t>
            </a:r>
            <a:r>
              <a:rPr lang="en-US" dirty="0"/>
              <a:t>this example, Bicycle now becomes the superclass of Mountain Bike, Road Bike, and Tandem Bike</a:t>
            </a:r>
          </a:p>
        </p:txBody>
      </p:sp>
    </p:spTree>
    <p:extLst>
      <p:ext uri="{BB962C8B-B14F-4D97-AF65-F5344CB8AC3E}">
        <p14:creationId xmlns:p14="http://schemas.microsoft.com/office/powerpoint/2010/main" val="1972959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Inheritance</a:t>
            </a:r>
            <a:endParaRPr lang="en-US" dirty="0"/>
          </a:p>
        </p:txBody>
      </p:sp>
      <p:pic>
        <p:nvPicPr>
          <p:cNvPr id="7" name="Content Placeholder 6"/>
          <p:cNvPicPr>
            <a:picLocks noGrp="1" noChangeAspect="1"/>
          </p:cNvPicPr>
          <p:nvPr>
            <p:ph idx="1"/>
          </p:nvPr>
        </p:nvPicPr>
        <p:blipFill rotWithShape="1">
          <a:blip r:embed="rId2"/>
          <a:srcRect l="21174" t="17538" r="29816" b="13851"/>
          <a:stretch/>
        </p:blipFill>
        <p:spPr>
          <a:xfrm>
            <a:off x="4946879" y="1092201"/>
            <a:ext cx="6831475" cy="5376864"/>
          </a:xfrm>
          <a:prstGeom prst="rect">
            <a:avLst/>
          </a:prstGeom>
        </p:spPr>
      </p:pic>
      <p:sp>
        <p:nvSpPr>
          <p:cNvPr id="6" name="Text Placeholder 5"/>
          <p:cNvSpPr>
            <a:spLocks noGrp="1"/>
          </p:cNvSpPr>
          <p:nvPr>
            <p:ph type="body" sz="half" idx="2"/>
          </p:nvPr>
        </p:nvSpPr>
        <p:spPr/>
        <p:txBody>
          <a:bodyPr/>
          <a:lstStyle/>
          <a:p>
            <a:endParaRPr lang="en-US" b="1" dirty="0" smtClean="0"/>
          </a:p>
          <a:p>
            <a:r>
              <a:rPr lang="en-US" b="1" dirty="0" smtClean="0"/>
              <a:t>extends</a:t>
            </a:r>
            <a:r>
              <a:rPr lang="en-US" dirty="0"/>
              <a:t> is the keyword used to inherit the properties of a class.</a:t>
            </a:r>
          </a:p>
          <a:p>
            <a:endParaRPr lang="en-US" sz="1000" dirty="0"/>
          </a:p>
          <a:p>
            <a:r>
              <a:rPr lang="en-US" dirty="0"/>
              <a:t>In the given program, when an object </a:t>
            </a:r>
            <a:r>
              <a:rPr lang="en-US" dirty="0" smtClean="0"/>
              <a:t>to </a:t>
            </a:r>
            <a:r>
              <a:rPr lang="en-US" b="1" dirty="0" smtClean="0"/>
              <a:t>calculation</a:t>
            </a:r>
            <a:r>
              <a:rPr lang="en-US" dirty="0"/>
              <a:t> class is created, a copy of the contents of the </a:t>
            </a:r>
            <a:r>
              <a:rPr lang="en-US" dirty="0" smtClean="0"/>
              <a:t>superclass (</a:t>
            </a:r>
            <a:r>
              <a:rPr lang="en-US" b="1" dirty="0" err="1" smtClean="0"/>
              <a:t>calculationSuper</a:t>
            </a:r>
            <a:r>
              <a:rPr lang="en-US" dirty="0" smtClean="0"/>
              <a:t>) </a:t>
            </a:r>
            <a:r>
              <a:rPr lang="en-US" dirty="0"/>
              <a:t>is made within it. That is why, using the object of the subclass you can access the members of a superclass.</a:t>
            </a:r>
          </a:p>
          <a:p>
            <a:endParaRPr lang="en-US" sz="1000" dirty="0"/>
          </a:p>
          <a:p>
            <a:r>
              <a:rPr lang="en-US" dirty="0"/>
              <a:t>The Superclass reference variable can hold the subclass object, but using that variable you can access only the members of the superclass, so to access the members of both classes it is recommended to always create reference variable to the subclass</a:t>
            </a:r>
            <a:endParaRPr lang="en-US" sz="1000" dirty="0"/>
          </a:p>
        </p:txBody>
      </p:sp>
    </p:spTree>
    <p:extLst>
      <p:ext uri="{BB962C8B-B14F-4D97-AF65-F5344CB8AC3E}">
        <p14:creationId xmlns:p14="http://schemas.microsoft.com/office/powerpoint/2010/main" val="30679097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2722" y="0"/>
            <a:ext cx="3609976" cy="1162050"/>
          </a:xfrm>
        </p:spPr>
        <p:txBody>
          <a:bodyPr>
            <a:normAutofit/>
          </a:bodyPr>
          <a:lstStyle/>
          <a:p>
            <a:r>
              <a:rPr lang="en-US" sz="3600" dirty="0"/>
              <a:t>Polymorphism</a:t>
            </a:r>
          </a:p>
        </p:txBody>
      </p:sp>
      <p:sp>
        <p:nvSpPr>
          <p:cNvPr id="4" name="Text Placeholder 3"/>
          <p:cNvSpPr>
            <a:spLocks noGrp="1"/>
          </p:cNvSpPr>
          <p:nvPr>
            <p:ph type="body" sz="half" idx="2"/>
          </p:nvPr>
        </p:nvSpPr>
        <p:spPr>
          <a:xfrm>
            <a:off x="1158240" y="1435102"/>
            <a:ext cx="5166360" cy="5041899"/>
          </a:xfrm>
        </p:spPr>
        <p:txBody>
          <a:bodyPr>
            <a:normAutofit fontScale="92500" lnSpcReduction="20000"/>
          </a:bodyPr>
          <a:lstStyle/>
          <a:p>
            <a:pPr marL="457200" indent="-457200">
              <a:buFont typeface="Arial" pitchFamily="34" charset="0"/>
              <a:buChar char="•"/>
            </a:pPr>
            <a:r>
              <a:rPr lang="en-US" sz="2800" dirty="0"/>
              <a:t>Polymorphism is the state where an object can take the shape of many different forms, and lets us do the right thing at the right time.</a:t>
            </a:r>
          </a:p>
          <a:p>
            <a:pPr marL="457200" indent="-457200">
              <a:buFont typeface="Arial" pitchFamily="34" charset="0"/>
              <a:buChar char="•"/>
            </a:pPr>
            <a:endParaRPr lang="en-US" sz="2800" dirty="0"/>
          </a:p>
          <a:p>
            <a:pPr marL="457200" indent="-457200">
              <a:buFont typeface="Arial" pitchFamily="34" charset="0"/>
              <a:buChar char="•"/>
            </a:pPr>
            <a:r>
              <a:rPr lang="en-US" sz="2800" dirty="0"/>
              <a:t>It describes the concept that objects of different types can be accessed through the same interface</a:t>
            </a:r>
          </a:p>
          <a:p>
            <a:pPr marL="457200" indent="-457200">
              <a:buFont typeface="Arial" pitchFamily="34" charset="0"/>
              <a:buChar char="•"/>
            </a:pPr>
            <a:endParaRPr lang="en-US" sz="2800" dirty="0"/>
          </a:p>
          <a:p>
            <a:pPr marL="457200" indent="-457200">
              <a:buFont typeface="Arial" pitchFamily="34" charset="0"/>
              <a:buChar char="•"/>
            </a:pPr>
            <a:r>
              <a:rPr lang="en-US" sz="2800" dirty="0"/>
              <a:t>Each type can provide its own, independent implementation of this interface. </a:t>
            </a:r>
          </a:p>
        </p:txBody>
      </p:sp>
      <p:pic>
        <p:nvPicPr>
          <p:cNvPr id="6" name="Picture 2" descr="Polymorphism In Java | All You Need To Know | Edurek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81800" y="1295398"/>
            <a:ext cx="4062689" cy="4038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83284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Polymorphism</a:t>
            </a:r>
            <a:endParaRPr lang="en-US" dirty="0"/>
          </a:p>
        </p:txBody>
      </p:sp>
      <p:sp>
        <p:nvSpPr>
          <p:cNvPr id="3" name="Content Placeholder 2"/>
          <p:cNvSpPr>
            <a:spLocks noGrp="1"/>
          </p:cNvSpPr>
          <p:nvPr>
            <p:ph idx="1"/>
          </p:nvPr>
        </p:nvSpPr>
        <p:spPr/>
        <p:txBody>
          <a:bodyPr>
            <a:normAutofit/>
          </a:bodyPr>
          <a:lstStyle/>
          <a:p>
            <a:r>
              <a:rPr lang="en-US" i="1" dirty="0"/>
              <a:t>Overriding</a:t>
            </a:r>
            <a:r>
              <a:rPr lang="en-US" dirty="0"/>
              <a:t> and </a:t>
            </a:r>
            <a:r>
              <a:rPr lang="en-US" i="1" dirty="0"/>
              <a:t>overloading</a:t>
            </a:r>
            <a:r>
              <a:rPr lang="en-US" dirty="0"/>
              <a:t> are the core concepts in Java programming. They are the ways to implement polymorphism in our Java </a:t>
            </a:r>
            <a:r>
              <a:rPr lang="en-US" dirty="0" smtClean="0"/>
              <a:t>programs.</a:t>
            </a:r>
          </a:p>
        </p:txBody>
      </p:sp>
    </p:spTree>
    <p:extLst>
      <p:ext uri="{BB962C8B-B14F-4D97-AF65-F5344CB8AC3E}">
        <p14:creationId xmlns:p14="http://schemas.microsoft.com/office/powerpoint/2010/main" val="2767406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a:t>
            </a:r>
            <a:r>
              <a:rPr lang="en-US" dirty="0" smtClean="0"/>
              <a:t>verriding</a:t>
            </a:r>
            <a:endParaRPr lang="en-US" dirty="0"/>
          </a:p>
        </p:txBody>
      </p:sp>
      <p:pic>
        <p:nvPicPr>
          <p:cNvPr id="7" name="Content Placeholder 6"/>
          <p:cNvPicPr>
            <a:picLocks noGrp="1" noChangeAspect="1"/>
          </p:cNvPicPr>
          <p:nvPr>
            <p:ph idx="1"/>
          </p:nvPr>
        </p:nvPicPr>
        <p:blipFill rotWithShape="1">
          <a:blip r:embed="rId2"/>
          <a:srcRect l="21546" t="23837" r="37270" b="19154"/>
          <a:stretch/>
        </p:blipFill>
        <p:spPr>
          <a:xfrm>
            <a:off x="5147857" y="1028700"/>
            <a:ext cx="6723024" cy="5232400"/>
          </a:xfrm>
          <a:prstGeom prst="rect">
            <a:avLst/>
          </a:prstGeom>
        </p:spPr>
      </p:pic>
      <p:sp>
        <p:nvSpPr>
          <p:cNvPr id="6" name="Text Placeholder 5"/>
          <p:cNvSpPr>
            <a:spLocks noGrp="1"/>
          </p:cNvSpPr>
          <p:nvPr>
            <p:ph type="body" sz="half" idx="2"/>
          </p:nvPr>
        </p:nvSpPr>
        <p:spPr/>
        <p:txBody>
          <a:bodyPr/>
          <a:lstStyle/>
          <a:p>
            <a:endParaRPr lang="en-US" dirty="0" smtClean="0"/>
          </a:p>
          <a:p>
            <a:r>
              <a:rPr lang="en-US" dirty="0"/>
              <a:t>When the method signature (name and parameters) are the same in the superclass and the child class, it’s called </a:t>
            </a:r>
            <a:r>
              <a:rPr lang="en-US" i="1" dirty="0"/>
              <a:t>overriding</a:t>
            </a:r>
            <a:r>
              <a:rPr lang="en-US" dirty="0"/>
              <a:t>. </a:t>
            </a:r>
          </a:p>
          <a:p>
            <a:endParaRPr lang="en-US" dirty="0" smtClean="0"/>
          </a:p>
          <a:p>
            <a:r>
              <a:rPr lang="en-US" dirty="0" smtClean="0"/>
              <a:t>If </a:t>
            </a:r>
            <a:r>
              <a:rPr lang="en-US" dirty="0"/>
              <a:t>a class inherits a method from its superclass, then there is a chance to override the method provided that it is not marked final.</a:t>
            </a:r>
          </a:p>
          <a:p>
            <a:endParaRPr lang="en-US" sz="1000" dirty="0"/>
          </a:p>
          <a:p>
            <a:r>
              <a:rPr lang="en-US" dirty="0"/>
              <a:t>The benefit of overriding is: ability to define a behavior that's specific to the subclass type, which means a subclass can implement a parent class method based on its requirement.</a:t>
            </a:r>
          </a:p>
          <a:p>
            <a:endParaRPr lang="en-US" sz="1000" dirty="0"/>
          </a:p>
          <a:p>
            <a:endParaRPr lang="en-US" dirty="0"/>
          </a:p>
        </p:txBody>
      </p:sp>
    </p:spTree>
    <p:extLst>
      <p:ext uri="{BB962C8B-B14F-4D97-AF65-F5344CB8AC3E}">
        <p14:creationId xmlns:p14="http://schemas.microsoft.com/office/powerpoint/2010/main" val="3595153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Overloading</a:t>
            </a:r>
            <a:endParaRPr lang="en-US" dirty="0"/>
          </a:p>
        </p:txBody>
      </p:sp>
      <p:pic>
        <p:nvPicPr>
          <p:cNvPr id="5" name="Content Placeholder 4"/>
          <p:cNvPicPr>
            <a:picLocks noGrp="1" noChangeAspect="1"/>
          </p:cNvPicPr>
          <p:nvPr>
            <p:ph idx="1"/>
          </p:nvPr>
        </p:nvPicPr>
        <p:blipFill rotWithShape="1">
          <a:blip r:embed="rId2"/>
          <a:srcRect l="21174" t="16876" r="35406" b="32744"/>
          <a:stretch/>
        </p:blipFill>
        <p:spPr>
          <a:xfrm>
            <a:off x="5118101" y="1930400"/>
            <a:ext cx="6406898" cy="4179608"/>
          </a:xfrm>
          <a:prstGeom prst="rect">
            <a:avLst/>
          </a:prstGeom>
        </p:spPr>
      </p:pic>
      <p:sp>
        <p:nvSpPr>
          <p:cNvPr id="4" name="Text Placeholder 3"/>
          <p:cNvSpPr>
            <a:spLocks noGrp="1"/>
          </p:cNvSpPr>
          <p:nvPr>
            <p:ph type="body" sz="half" idx="2"/>
          </p:nvPr>
        </p:nvSpPr>
        <p:spPr/>
        <p:txBody>
          <a:bodyPr/>
          <a:lstStyle/>
          <a:p>
            <a:endParaRPr lang="en-US" dirty="0" smtClean="0"/>
          </a:p>
          <a:p>
            <a:endParaRPr lang="en-US" dirty="0"/>
          </a:p>
          <a:p>
            <a:r>
              <a:rPr lang="en-US" dirty="0" smtClean="0"/>
              <a:t>When </a:t>
            </a:r>
            <a:r>
              <a:rPr lang="en-US" dirty="0"/>
              <a:t>two or more methods in the same class have the same name but different parameters, it’s called overloading.</a:t>
            </a:r>
          </a:p>
          <a:p>
            <a:endParaRPr lang="en-US" dirty="0"/>
          </a:p>
        </p:txBody>
      </p:sp>
    </p:spTree>
    <p:extLst>
      <p:ext uri="{BB962C8B-B14F-4D97-AF65-F5344CB8AC3E}">
        <p14:creationId xmlns:p14="http://schemas.microsoft.com/office/powerpoint/2010/main" val="572280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8240" y="2895600"/>
            <a:ext cx="9875520" cy="990600"/>
          </a:xfrm>
        </p:spPr>
        <p:txBody>
          <a:bodyPr>
            <a:noAutofit/>
          </a:bodyPr>
          <a:lstStyle/>
          <a:p>
            <a:pPr marL="0" indent="0" algn="ctr">
              <a:buNone/>
            </a:pPr>
            <a:r>
              <a:rPr lang="en-US" sz="6600" dirty="0"/>
              <a:t>Q &amp; A</a:t>
            </a:r>
          </a:p>
        </p:txBody>
      </p:sp>
    </p:spTree>
    <p:extLst>
      <p:ext uri="{BB962C8B-B14F-4D97-AF65-F5344CB8AC3E}">
        <p14:creationId xmlns:p14="http://schemas.microsoft.com/office/powerpoint/2010/main" val="3610820842"/>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2598</TotalTime>
  <Words>1058</Words>
  <Application>Microsoft Office PowerPoint</Application>
  <PresentationFormat>Widescreen</PresentationFormat>
  <Paragraphs>112</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HNDIT</vt:lpstr>
      <vt:lpstr>HNDIT  Fundamentals of Programming</vt:lpstr>
      <vt:lpstr>Lesson introduction</vt:lpstr>
      <vt:lpstr>Introduction</vt:lpstr>
      <vt:lpstr>What is object-orientation? </vt:lpstr>
      <vt:lpstr>Object</vt:lpstr>
      <vt:lpstr>Object cont...</vt:lpstr>
      <vt:lpstr>PowerPoint Presentation</vt:lpstr>
      <vt:lpstr>Encapsulation</vt:lpstr>
      <vt:lpstr>Encapsulation Example</vt:lpstr>
      <vt:lpstr>Abstraction</vt:lpstr>
      <vt:lpstr>Example</vt:lpstr>
      <vt:lpstr>Abstraction Example </vt:lpstr>
      <vt:lpstr>Inheritance</vt:lpstr>
      <vt:lpstr>Example</vt:lpstr>
      <vt:lpstr>Inheritance</vt:lpstr>
      <vt:lpstr>Polymorphism</vt:lpstr>
      <vt:lpstr>Polymorphism</vt:lpstr>
      <vt:lpstr>Overriding</vt:lpstr>
      <vt:lpstr>Overloading</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HNDIT 1209 Programming in JAVA</dc:title>
  <dc:creator>User</dc:creator>
  <cp:lastModifiedBy>User</cp:lastModifiedBy>
  <cp:revision>51</cp:revision>
  <dcterms:created xsi:type="dcterms:W3CDTF">2023-04-23T09:29:27Z</dcterms:created>
  <dcterms:modified xsi:type="dcterms:W3CDTF">2023-05-03T09:55:04Z</dcterms:modified>
</cp:coreProperties>
</file>