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aleway"/>
      <p:regular r:id="rId24"/>
      <p:bold r:id="rId25"/>
      <p:italic r:id="rId26"/>
      <p:boldItalic r:id="rId27"/>
    </p:embeddedFont>
    <p:embeddedFont>
      <p:font typeface="Nunito"/>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Nunito-regular.fntdata"/><Relationship Id="rId27"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a117d3f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a117d3f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lang="en" sz="1800">
                <a:solidFill>
                  <a:srgbClr val="595959"/>
                </a:solidFill>
                <a:latin typeface="Lato"/>
                <a:ea typeface="Lato"/>
                <a:cs typeface="Lato"/>
                <a:sym typeface="Lato"/>
              </a:rPr>
              <a:t>• Risk likelihood – the probability of the risk occurrence (greater than zero and less than one)</a:t>
            </a:r>
            <a:endParaRPr sz="1800">
              <a:solidFill>
                <a:srgbClr val="595959"/>
              </a:solidFill>
              <a:latin typeface="Lato"/>
              <a:ea typeface="Lato"/>
              <a:cs typeface="Lato"/>
              <a:sym typeface="Lato"/>
            </a:endParaRPr>
          </a:p>
          <a:p>
            <a:pPr indent="0" lvl="0" marL="457200" rtl="0" algn="l">
              <a:lnSpc>
                <a:spcPct val="115000"/>
              </a:lnSpc>
              <a:spcBef>
                <a:spcPts val="1200"/>
              </a:spcBef>
              <a:spcAft>
                <a:spcPts val="1200"/>
              </a:spcAft>
              <a:buClr>
                <a:schemeClr val="dk1"/>
              </a:buClr>
              <a:buSzPts val="1100"/>
              <a:buFont typeface="Arial"/>
              <a:buNone/>
            </a:pPr>
            <a:r>
              <a:rPr lang="en" sz="1800">
                <a:solidFill>
                  <a:srgbClr val="595959"/>
                </a:solidFill>
                <a:latin typeface="Lato"/>
                <a:ea typeface="Lato"/>
                <a:cs typeface="Lato"/>
                <a:sym typeface="Lato"/>
              </a:rPr>
              <a:t>• Risk impact (harm) – the consequences of this occurrence.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7098e27d8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7098e27d8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13dc21ea1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713dc21ea1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595959"/>
                </a:solidFill>
                <a:latin typeface="Lato"/>
                <a:ea typeface="Lato"/>
                <a:cs typeface="Lato"/>
                <a:sym typeface="Lato"/>
              </a:rPr>
              <a:t>Project risks, when they occur, may have an impact on the project schedule, budget or scope, which affects the project's ability to achieve its objectives.</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t/>
            </a:r>
            <a:endParaRPr sz="1800">
              <a:solidFill>
                <a:srgbClr val="595959"/>
              </a:solidFill>
              <a:latin typeface="Lato"/>
              <a:ea typeface="Lato"/>
              <a:cs typeface="Lato"/>
              <a:sym typeface="Lato"/>
            </a:endParaRPr>
          </a:p>
          <a:p>
            <a:pPr indent="-342900" lvl="0" marL="457200" rtl="0" algn="l">
              <a:lnSpc>
                <a:spcPct val="115000"/>
              </a:lnSpc>
              <a:spcBef>
                <a:spcPts val="1200"/>
              </a:spcBef>
              <a:spcAft>
                <a:spcPts val="0"/>
              </a:spcAft>
              <a:buClr>
                <a:srgbClr val="595959"/>
              </a:buClr>
              <a:buSzPts val="1800"/>
              <a:buFont typeface="Lato"/>
              <a:buChar char="-"/>
            </a:pPr>
            <a:r>
              <a:rPr lang="en" sz="1800">
                <a:solidFill>
                  <a:srgbClr val="595959"/>
                </a:solidFill>
                <a:latin typeface="Lato"/>
                <a:ea typeface="Lato"/>
                <a:cs typeface="Lato"/>
                <a:sym typeface="Lato"/>
              </a:rPr>
              <a:t>In the absence of SIT, there is a risk that modifications or updates made to one component could cause unexpected problems in another component or even crash the entire system. Additionally, SIT helps reduce the cost and time associated with debugging and troubleshooting problems related to integration issues.</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t/>
            </a:r>
            <a:endParaRPr sz="1800">
              <a:solidFill>
                <a:srgbClr val="595959"/>
              </a:solidFill>
              <a:latin typeface="Lato"/>
              <a:ea typeface="Lato"/>
              <a:cs typeface="Lato"/>
              <a:sym typeface="Lato"/>
            </a:endParaRPr>
          </a:p>
          <a:p>
            <a:pPr indent="-342900" lvl="0" marL="457200" rtl="0" algn="l">
              <a:lnSpc>
                <a:spcPct val="115000"/>
              </a:lnSpc>
              <a:spcBef>
                <a:spcPts val="0"/>
              </a:spcBef>
              <a:spcAft>
                <a:spcPts val="0"/>
              </a:spcAft>
              <a:buClr>
                <a:srgbClr val="595959"/>
              </a:buClr>
              <a:buSzPts val="1800"/>
              <a:buFont typeface="Lato"/>
              <a:buChar char="-"/>
            </a:pPr>
            <a:r>
              <a:rPr lang="en" sz="1800">
                <a:solidFill>
                  <a:srgbClr val="595959"/>
                </a:solidFill>
                <a:latin typeface="Lato"/>
                <a:ea typeface="Lato"/>
                <a:cs typeface="Lato"/>
                <a:sym typeface="Lato"/>
              </a:rPr>
              <a:t>SIT also helps identify potential security risks in a system by testing how different components interact with each other, as well as how they respond to external inputs such as user input or data from other systems. By conducting thorough SIT tests, organizations can ensure that their systems are secure and free from vulnerabilities before they go live.</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713dc21ea1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713dc21ea1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713dc21ea1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713dc21ea1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713dc21ea1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713dc21ea1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13dc21ea1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713dc21ea1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13dc21ea1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713dc21ea1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13dc21ea1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713dc21ea1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713dc21ea1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713dc21ea1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dcb25d3e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dcb25d3e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dcb25d3eb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dcb25d3eb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dcb25d3eb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dcb25d3eb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Risk Identification</a:t>
            </a:r>
            <a:endParaRPr b="1"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Risk identification refers to the systematic process of recognizing and evaluating potential threats or hazards that could negatively impact an organization, its operations, or its workforce. This involves identifying various types of risks, ranging from IT security threats like viruses and phishing attacks to unforeseen events such as equipment failures and extreme weather conditions.</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Risk analysis</a:t>
            </a:r>
            <a:endParaRPr b="1"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Risk analysis is the process of evaluating and understanding the potential impact and likelihood of identified risks on an organization. It helps determine how serious a risk is and how to best manage or mitigate it. Risk Analysis involves evaluating each risk’s probability and potential consequences to prioritize and manage them effectively.</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Risk Planning</a:t>
            </a:r>
            <a:endParaRPr b="1"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Risk planning involves developing strategies and actions to manage and mitigate identified risks effectively. It outlines how to respond to potential risks, including prevention, mitigation, and contingency measures, to protect the organization’s objectives and assets.</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Risk Monitoring</a:t>
            </a:r>
            <a:endParaRPr b="1"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Risk monitoring involves continuously tracking and overseeing identified risks to assess their status, changes, and effectiveness of mitigation strategies. It ensures that risks are regularly reviewed and managed to maintain alignment with organizational objectives and adapt to new developments or challenges.</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dcb25d3eb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dcb25d3eb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1. COSO ERM Framework:</a:t>
            </a:r>
            <a:endParaRPr b="1"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COSO ERM Framework was introduce in 2004 and updated in 2017. Its main purpose is to a</a:t>
            </a:r>
            <a:r>
              <a:rPr lang="en" sz="1350">
                <a:solidFill>
                  <a:srgbClr val="273239"/>
                </a:solidFill>
                <a:highlight>
                  <a:srgbClr val="FFFFFF"/>
                </a:highlight>
                <a:latin typeface="Nunito"/>
                <a:ea typeface="Nunito"/>
                <a:cs typeface="Nunito"/>
                <a:sym typeface="Nunito"/>
              </a:rPr>
              <a:t>ddresses the growing complexity of Enterprise Risk Management (ERM).</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Key Features</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20 principles grouped into five components: Governance and culture, Strategy and objective-setting, Performance, Review and revision, Information, communication, and reporting.</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promote integrating risk into business strategies and operations.</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22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2. </a:t>
            </a:r>
            <a:r>
              <a:rPr b="1" lang="en" sz="1350">
                <a:solidFill>
                  <a:srgbClr val="273239"/>
                </a:solidFill>
                <a:highlight>
                  <a:srgbClr val="FFFFFF"/>
                </a:highlight>
                <a:latin typeface="Nunito"/>
                <a:ea typeface="Nunito"/>
                <a:cs typeface="Nunito"/>
                <a:sym typeface="Nunito"/>
              </a:rPr>
              <a:t>ISO 31000</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ISO 31000 was introduce in 2009, revised in 2018. It provides principles and a framework for ERM.</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Key Features</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offers guidance on applying risk management to operations.</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focuses on identifying, evaluating, and mitigating risks.</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promote senior management’s role and integrating risk management across the organization.</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22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3. </a:t>
            </a:r>
            <a:r>
              <a:rPr b="1" lang="en" sz="1350">
                <a:solidFill>
                  <a:srgbClr val="273239"/>
                </a:solidFill>
                <a:highlight>
                  <a:srgbClr val="FFFFFF"/>
                </a:highlight>
                <a:latin typeface="Nunito"/>
                <a:ea typeface="Nunito"/>
                <a:cs typeface="Nunito"/>
                <a:sym typeface="Nunito"/>
              </a:rPr>
              <a:t>BS 31100</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This framework is British Standard for Risk Management and latest version issued in 2001. It offers a structured approach to applying the principles outlined in ISO 31000:2018, covering tasks like identifying, evaluating, and addressing risks, followed by reporting and reviewing risk management efforts.</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dcb25d3eb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dcb25d3eb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rgbClr val="273239"/>
                </a:solidFill>
                <a:highlight>
                  <a:srgbClr val="FFFFFF"/>
                </a:highlight>
                <a:latin typeface="Nunito"/>
                <a:ea typeface="Nunito"/>
                <a:cs typeface="Nunito"/>
                <a:sym typeface="Nunito"/>
              </a:rPr>
              <a:t>1. COSO ERM Framework:</a:t>
            </a:r>
            <a:endParaRPr b="1"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rPr b="1" lang="en" sz="1350">
                <a:solidFill>
                  <a:srgbClr val="273239"/>
                </a:solidFill>
                <a:highlight>
                  <a:srgbClr val="FFFFFF"/>
                </a:highlight>
                <a:latin typeface="Nunito"/>
                <a:ea typeface="Nunito"/>
                <a:cs typeface="Nunito"/>
                <a:sym typeface="Nunito"/>
              </a:rPr>
              <a:t>COSO ERM Framework was introduce in 2004 and updated in 2017. Its main purpose is to a</a:t>
            </a:r>
            <a:r>
              <a:rPr lang="en" sz="1350">
                <a:solidFill>
                  <a:srgbClr val="273239"/>
                </a:solidFill>
                <a:highlight>
                  <a:srgbClr val="FFFFFF"/>
                </a:highlight>
                <a:latin typeface="Nunito"/>
                <a:ea typeface="Nunito"/>
                <a:cs typeface="Nunito"/>
                <a:sym typeface="Nunito"/>
              </a:rPr>
              <a:t>ddresses the growing complexity of Enterprise Risk Management (ERM).</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Key Features</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20 principles grouped into five components: Governance and culture, Strategy and objective-setting, Performance, Review and revision, Information, communication, and reporting.</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promote integrating risk into business strategies and operations.</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2200"/>
              </a:spcBef>
              <a:spcAft>
                <a:spcPts val="0"/>
              </a:spcAft>
              <a:buNone/>
            </a:pPr>
            <a:r>
              <a:rPr lang="en" sz="1350">
                <a:solidFill>
                  <a:srgbClr val="273239"/>
                </a:solidFill>
                <a:highlight>
                  <a:srgbClr val="FFFFFF"/>
                </a:highlight>
                <a:latin typeface="Nunito"/>
                <a:ea typeface="Nunito"/>
                <a:cs typeface="Nunito"/>
                <a:sym typeface="Nunito"/>
              </a:rPr>
              <a:t>2. </a:t>
            </a:r>
            <a:r>
              <a:rPr b="1" lang="en" sz="1350">
                <a:solidFill>
                  <a:srgbClr val="273239"/>
                </a:solidFill>
                <a:highlight>
                  <a:srgbClr val="FFFFFF"/>
                </a:highlight>
                <a:latin typeface="Nunito"/>
                <a:ea typeface="Nunito"/>
                <a:cs typeface="Nunito"/>
                <a:sym typeface="Nunito"/>
              </a:rPr>
              <a:t>ISO 31000</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rPr lang="en" sz="1350">
                <a:solidFill>
                  <a:srgbClr val="273239"/>
                </a:solidFill>
                <a:highlight>
                  <a:srgbClr val="FFFFFF"/>
                </a:highlight>
                <a:latin typeface="Nunito"/>
                <a:ea typeface="Nunito"/>
                <a:cs typeface="Nunito"/>
                <a:sym typeface="Nunito"/>
              </a:rPr>
              <a:t>ISO 31000 was introduce in 2009, revised in 2018. It provides principles and a framework for ERM.</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Key Features</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offers guidance on applying risk management to operations.</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focuses on identifying, evaluating, and mitigating risks.</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promote senior management’s role and integrating risk management across the organization.</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2200"/>
              </a:spcBef>
              <a:spcAft>
                <a:spcPts val="0"/>
              </a:spcAft>
              <a:buNone/>
            </a:pPr>
            <a:r>
              <a:rPr lang="en" sz="1350">
                <a:solidFill>
                  <a:srgbClr val="273239"/>
                </a:solidFill>
                <a:highlight>
                  <a:srgbClr val="FFFFFF"/>
                </a:highlight>
                <a:latin typeface="Nunito"/>
                <a:ea typeface="Nunito"/>
                <a:cs typeface="Nunito"/>
                <a:sym typeface="Nunito"/>
              </a:rPr>
              <a:t>3. </a:t>
            </a:r>
            <a:r>
              <a:rPr b="1" lang="en" sz="1350">
                <a:solidFill>
                  <a:srgbClr val="273239"/>
                </a:solidFill>
                <a:highlight>
                  <a:srgbClr val="FFFFFF"/>
                </a:highlight>
                <a:latin typeface="Nunito"/>
                <a:ea typeface="Nunito"/>
                <a:cs typeface="Nunito"/>
                <a:sym typeface="Nunito"/>
              </a:rPr>
              <a:t>BS 31100</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rPr lang="en" sz="1350">
                <a:solidFill>
                  <a:srgbClr val="273239"/>
                </a:solidFill>
                <a:highlight>
                  <a:srgbClr val="FFFFFF"/>
                </a:highlight>
                <a:latin typeface="Nunito"/>
                <a:ea typeface="Nunito"/>
                <a:cs typeface="Nunito"/>
                <a:sym typeface="Nunito"/>
              </a:rPr>
              <a:t>This framework is British Standard for Risk Management and latest version issued in 2001. It offers a structured approach to applying the principles outlined in ISO 31000:2018, covering tasks like identifying, evaluating, and addressing risks, followed by reporting and reviewing risk management efforts.</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dcb25d3eb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dcb25d3eb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rgbClr val="273239"/>
                </a:solidFill>
                <a:highlight>
                  <a:srgbClr val="FFFFFF"/>
                </a:highlight>
                <a:latin typeface="Nunito"/>
                <a:ea typeface="Nunito"/>
                <a:cs typeface="Nunito"/>
                <a:sym typeface="Nunito"/>
              </a:rPr>
              <a:t>1. COSO ERM Framework:</a:t>
            </a:r>
            <a:endParaRPr b="1"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rPr b="1" lang="en" sz="1350">
                <a:solidFill>
                  <a:srgbClr val="273239"/>
                </a:solidFill>
                <a:highlight>
                  <a:srgbClr val="FFFFFF"/>
                </a:highlight>
                <a:latin typeface="Nunito"/>
                <a:ea typeface="Nunito"/>
                <a:cs typeface="Nunito"/>
                <a:sym typeface="Nunito"/>
              </a:rPr>
              <a:t>COSO ERM Framework was introduce in 2004 and updated in 2017. Its main purpose is to a</a:t>
            </a:r>
            <a:r>
              <a:rPr lang="en" sz="1350">
                <a:solidFill>
                  <a:srgbClr val="273239"/>
                </a:solidFill>
                <a:highlight>
                  <a:srgbClr val="FFFFFF"/>
                </a:highlight>
                <a:latin typeface="Nunito"/>
                <a:ea typeface="Nunito"/>
                <a:cs typeface="Nunito"/>
                <a:sym typeface="Nunito"/>
              </a:rPr>
              <a:t>ddresses the growing complexity of Enterprise Risk Management (ERM).</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Key Features</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20 principles grouped into five components: Governance and culture, Strategy and objective-setting, Performance, Review and revision, Information, communication, and reporting.</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promote integrating risk into business strategies and operations.</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2200"/>
              </a:spcBef>
              <a:spcAft>
                <a:spcPts val="0"/>
              </a:spcAft>
              <a:buNone/>
            </a:pPr>
            <a:r>
              <a:rPr lang="en" sz="1350">
                <a:solidFill>
                  <a:srgbClr val="273239"/>
                </a:solidFill>
                <a:highlight>
                  <a:srgbClr val="FFFFFF"/>
                </a:highlight>
                <a:latin typeface="Nunito"/>
                <a:ea typeface="Nunito"/>
                <a:cs typeface="Nunito"/>
                <a:sym typeface="Nunito"/>
              </a:rPr>
              <a:t>2. </a:t>
            </a:r>
            <a:r>
              <a:rPr b="1" lang="en" sz="1350">
                <a:solidFill>
                  <a:srgbClr val="273239"/>
                </a:solidFill>
                <a:highlight>
                  <a:srgbClr val="FFFFFF"/>
                </a:highlight>
                <a:latin typeface="Nunito"/>
                <a:ea typeface="Nunito"/>
                <a:cs typeface="Nunito"/>
                <a:sym typeface="Nunito"/>
              </a:rPr>
              <a:t>ISO 31000</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rPr lang="en" sz="1350">
                <a:solidFill>
                  <a:srgbClr val="273239"/>
                </a:solidFill>
                <a:highlight>
                  <a:srgbClr val="FFFFFF"/>
                </a:highlight>
                <a:latin typeface="Nunito"/>
                <a:ea typeface="Nunito"/>
                <a:cs typeface="Nunito"/>
                <a:sym typeface="Nunito"/>
              </a:rPr>
              <a:t>ISO 31000 was introduce in 2009, revised in 2018. It provides principles and a framework for ERM.</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Key Features</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offers guidance on applying risk management to operations.</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focuses on identifying, evaluating, and mitigating risks.</a:t>
            </a:r>
            <a:endParaRPr sz="1350">
              <a:solidFill>
                <a:srgbClr val="273239"/>
              </a:solidFill>
              <a:highlight>
                <a:srgbClr val="FFFFFF"/>
              </a:highlight>
              <a:latin typeface="Nunito"/>
              <a:ea typeface="Nunito"/>
              <a:cs typeface="Nunito"/>
              <a:sym typeface="Nunito"/>
            </a:endParaRPr>
          </a:p>
          <a:p>
            <a:pPr indent="-314325" lvl="1" marL="13716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It promote senior management’s role and integrating risk management across the organization.</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2200"/>
              </a:spcBef>
              <a:spcAft>
                <a:spcPts val="0"/>
              </a:spcAft>
              <a:buNone/>
            </a:pPr>
            <a:r>
              <a:rPr lang="en" sz="1350">
                <a:solidFill>
                  <a:srgbClr val="273239"/>
                </a:solidFill>
                <a:highlight>
                  <a:srgbClr val="FFFFFF"/>
                </a:highlight>
                <a:latin typeface="Nunito"/>
                <a:ea typeface="Nunito"/>
                <a:cs typeface="Nunito"/>
                <a:sym typeface="Nunito"/>
              </a:rPr>
              <a:t>3. </a:t>
            </a:r>
            <a:r>
              <a:rPr b="1" lang="en" sz="1350">
                <a:solidFill>
                  <a:srgbClr val="273239"/>
                </a:solidFill>
                <a:highlight>
                  <a:srgbClr val="FFFFFF"/>
                </a:highlight>
                <a:latin typeface="Nunito"/>
                <a:ea typeface="Nunito"/>
                <a:cs typeface="Nunito"/>
                <a:sym typeface="Nunito"/>
              </a:rPr>
              <a:t>BS 31100</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rPr lang="en" sz="1350">
                <a:solidFill>
                  <a:srgbClr val="273239"/>
                </a:solidFill>
                <a:highlight>
                  <a:srgbClr val="FFFFFF"/>
                </a:highlight>
                <a:latin typeface="Nunito"/>
                <a:ea typeface="Nunito"/>
                <a:cs typeface="Nunito"/>
                <a:sym typeface="Nunito"/>
              </a:rPr>
              <a:t>This framework is British Standard for Risk Management and latest version issued in 2001. It offers a structured approach to applying the principles outlined in ISO 31000:2018, covering tasks like identifying, evaluating, and addressing risks, followed by reporting and reviewing risk management efforts.</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Testing &amp; Risk</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Risk Definition and Risk Attributes</a:t>
            </a:r>
            <a:endParaRPr sz="2540"/>
          </a:p>
        </p:txBody>
      </p:sp>
      <p:sp>
        <p:nvSpPr>
          <p:cNvPr id="99" name="Google Shape;99;p15"/>
          <p:cNvSpPr txBox="1"/>
          <p:nvPr>
            <p:ph idx="1" type="body"/>
          </p:nvPr>
        </p:nvSpPr>
        <p:spPr>
          <a:xfrm>
            <a:off x="729450" y="1240675"/>
            <a:ext cx="7688700" cy="371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Risk is a potential event, hazard, threat, or situation whose occurrence causes an adverse effect. </a:t>
            </a:r>
            <a:endParaRPr sz="1800"/>
          </a:p>
          <a:p>
            <a:pPr indent="0" lvl="0" marL="0" rtl="0" algn="l">
              <a:spcBef>
                <a:spcPts val="1200"/>
              </a:spcBef>
              <a:spcAft>
                <a:spcPts val="0"/>
              </a:spcAft>
              <a:buNone/>
            </a:pPr>
            <a:r>
              <a:rPr lang="en" sz="1800"/>
              <a:t>A risk can be characterized by two factors:</a:t>
            </a:r>
            <a:endParaRPr sz="1800"/>
          </a:p>
          <a:p>
            <a:pPr indent="-342900" lvl="0" marL="457200" rtl="0" algn="l">
              <a:spcBef>
                <a:spcPts val="1200"/>
              </a:spcBef>
              <a:spcAft>
                <a:spcPts val="0"/>
              </a:spcAft>
              <a:buSzPts val="1800"/>
              <a:buChar char="❏"/>
            </a:pPr>
            <a:r>
              <a:rPr lang="en" sz="1800"/>
              <a:t>Risk likelihood </a:t>
            </a:r>
            <a:endParaRPr sz="1800"/>
          </a:p>
          <a:p>
            <a:pPr indent="-342900" lvl="0" marL="457200" rtl="0" algn="l">
              <a:spcBef>
                <a:spcPts val="0"/>
              </a:spcBef>
              <a:spcAft>
                <a:spcPts val="0"/>
              </a:spcAft>
              <a:buSzPts val="1800"/>
              <a:buChar char="❏"/>
            </a:pPr>
            <a:r>
              <a:rPr lang="en" sz="1800"/>
              <a:t>Risk impact (harm)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Type of Risks</a:t>
            </a:r>
            <a:endParaRPr sz="2540"/>
          </a:p>
        </p:txBody>
      </p:sp>
      <p:sp>
        <p:nvSpPr>
          <p:cNvPr id="105" name="Google Shape;105;p16"/>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In software testing one is generally concerned with two types of risks;</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 sz="1800"/>
              <a:t>Project risks</a:t>
            </a:r>
            <a:endParaRPr sz="1800"/>
          </a:p>
          <a:p>
            <a:pPr indent="-342900" lvl="0" marL="457200" rtl="0" algn="l">
              <a:spcBef>
                <a:spcPts val="0"/>
              </a:spcBef>
              <a:spcAft>
                <a:spcPts val="0"/>
              </a:spcAft>
              <a:buSzPts val="1800"/>
              <a:buChar char="❏"/>
            </a:pPr>
            <a:r>
              <a:rPr lang="en" sz="1800"/>
              <a:t>Product risks.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Project </a:t>
            </a:r>
            <a:r>
              <a:rPr lang="en" sz="2540"/>
              <a:t>Risks</a:t>
            </a:r>
            <a:endParaRPr sz="2540"/>
          </a:p>
        </p:txBody>
      </p:sp>
      <p:sp>
        <p:nvSpPr>
          <p:cNvPr id="111" name="Google Shape;111;p17"/>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Project risks are related to the management and control of the project. Project risks include:</a:t>
            </a:r>
            <a:endParaRPr sz="1800"/>
          </a:p>
          <a:p>
            <a:pPr indent="-342900" lvl="0" marL="914400" rtl="0" algn="l">
              <a:spcBef>
                <a:spcPts val="1200"/>
              </a:spcBef>
              <a:spcAft>
                <a:spcPts val="0"/>
              </a:spcAft>
              <a:buSzPts val="1800"/>
              <a:buChar char="❏"/>
            </a:pPr>
            <a:r>
              <a:rPr lang="en" sz="1800"/>
              <a:t>Organizational issues (e.g., delays in work products deliveries, inaccurate estimates, cost-cutting)</a:t>
            </a:r>
            <a:endParaRPr sz="1800"/>
          </a:p>
          <a:p>
            <a:pPr indent="-342900" lvl="0" marL="914400" rtl="0" algn="l">
              <a:spcBef>
                <a:spcPts val="0"/>
              </a:spcBef>
              <a:spcAft>
                <a:spcPts val="0"/>
              </a:spcAft>
              <a:buSzPts val="1800"/>
              <a:buChar char="❏"/>
            </a:pPr>
            <a:r>
              <a:rPr lang="en" sz="1800"/>
              <a:t>People issues (e.g., insufficient skills, conflicts, communication problems, shortage of staff)</a:t>
            </a:r>
            <a:endParaRPr sz="1800"/>
          </a:p>
          <a:p>
            <a:pPr indent="-342900" lvl="0" marL="914400" rtl="0" algn="l">
              <a:spcBef>
                <a:spcPts val="0"/>
              </a:spcBef>
              <a:spcAft>
                <a:spcPts val="0"/>
              </a:spcAft>
              <a:buSzPts val="1800"/>
              <a:buChar char="❏"/>
            </a:pPr>
            <a:r>
              <a:rPr lang="en" sz="1800"/>
              <a:t>Technical issues (e.g., scope creep, poor tool support)</a:t>
            </a:r>
            <a:endParaRPr sz="1800"/>
          </a:p>
          <a:p>
            <a:pPr indent="-342900" lvl="0" marL="914400" rtl="0" algn="l">
              <a:spcBef>
                <a:spcPts val="0"/>
              </a:spcBef>
              <a:spcAft>
                <a:spcPts val="0"/>
              </a:spcAft>
              <a:buSzPts val="1800"/>
              <a:buChar char="❏"/>
            </a:pPr>
            <a:r>
              <a:rPr lang="en" sz="1800"/>
              <a:t>Supplier issues (e.g., third-party delivery failure, bankruptcy of the supporting company)</a:t>
            </a:r>
            <a:endParaRPr sz="1800"/>
          </a:p>
          <a:p>
            <a:pPr indent="0" lvl="0" marL="0" rtl="0" algn="l">
              <a:spcBef>
                <a:spcPts val="1200"/>
              </a:spcBef>
              <a:spcAft>
                <a:spcPts val="120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Product</a:t>
            </a:r>
            <a:r>
              <a:rPr lang="en" sz="2540"/>
              <a:t> Risks</a:t>
            </a:r>
            <a:endParaRPr sz="2540"/>
          </a:p>
        </p:txBody>
      </p:sp>
      <p:sp>
        <p:nvSpPr>
          <p:cNvPr id="117" name="Google Shape;117;p18"/>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Product risks are related to the product quality characteristics (e.g., described in the ISO 25010 quality model). </a:t>
            </a:r>
            <a:endParaRPr sz="1800"/>
          </a:p>
          <a:p>
            <a:pPr indent="0" lvl="0" marL="0" rtl="0" algn="l">
              <a:spcBef>
                <a:spcPts val="1200"/>
              </a:spcBef>
              <a:spcAft>
                <a:spcPts val="0"/>
              </a:spcAft>
              <a:buNone/>
            </a:pPr>
            <a:r>
              <a:rPr lang="en" sz="1800"/>
              <a:t>Examples of product risks include;</a:t>
            </a:r>
            <a:endParaRPr sz="1800"/>
          </a:p>
          <a:p>
            <a:pPr indent="-342900" lvl="0" marL="457200" rtl="0" algn="l">
              <a:spcBef>
                <a:spcPts val="1200"/>
              </a:spcBef>
              <a:spcAft>
                <a:spcPts val="0"/>
              </a:spcAft>
              <a:buSzPts val="1800"/>
              <a:buChar char="❏"/>
            </a:pPr>
            <a:r>
              <a:rPr lang="en" sz="1800"/>
              <a:t>Missing</a:t>
            </a:r>
            <a:r>
              <a:rPr lang="en" sz="1800"/>
              <a:t> or wrong functionality</a:t>
            </a:r>
            <a:endParaRPr sz="1800"/>
          </a:p>
          <a:p>
            <a:pPr indent="-342900" lvl="0" marL="457200" rtl="0" algn="l">
              <a:spcBef>
                <a:spcPts val="0"/>
              </a:spcBef>
              <a:spcAft>
                <a:spcPts val="0"/>
              </a:spcAft>
              <a:buSzPts val="1800"/>
              <a:buChar char="❏"/>
            </a:pPr>
            <a:r>
              <a:rPr lang="en" sz="1800"/>
              <a:t>incorrect calculations, </a:t>
            </a:r>
            <a:endParaRPr sz="1800"/>
          </a:p>
          <a:p>
            <a:pPr indent="-342900" lvl="0" marL="457200" rtl="0" algn="l">
              <a:spcBef>
                <a:spcPts val="0"/>
              </a:spcBef>
              <a:spcAft>
                <a:spcPts val="0"/>
              </a:spcAft>
              <a:buSzPts val="1800"/>
              <a:buChar char="❏"/>
            </a:pPr>
            <a:r>
              <a:rPr lang="en" sz="1800"/>
              <a:t>Runtime errors</a:t>
            </a:r>
            <a:endParaRPr sz="1800"/>
          </a:p>
          <a:p>
            <a:pPr indent="-342900" lvl="0" marL="457200" rtl="0" algn="l">
              <a:spcBef>
                <a:spcPts val="0"/>
              </a:spcBef>
              <a:spcAft>
                <a:spcPts val="0"/>
              </a:spcAft>
              <a:buSzPts val="1800"/>
              <a:buChar char="❏"/>
            </a:pPr>
            <a:r>
              <a:rPr lang="en" sz="1800"/>
              <a:t>Poor architecture </a:t>
            </a:r>
            <a:endParaRPr sz="1800"/>
          </a:p>
          <a:p>
            <a:pPr indent="-342900" lvl="0" marL="457200" rtl="0" algn="l">
              <a:spcBef>
                <a:spcPts val="0"/>
              </a:spcBef>
              <a:spcAft>
                <a:spcPts val="0"/>
              </a:spcAft>
              <a:buSzPts val="1800"/>
              <a:buChar char="❏"/>
            </a:pPr>
            <a:r>
              <a:rPr lang="en" sz="1800"/>
              <a:t>Inefficient algorithms </a:t>
            </a:r>
            <a:endParaRPr sz="1800"/>
          </a:p>
          <a:p>
            <a:pPr indent="-342900" lvl="0" marL="457200" rtl="0" algn="l">
              <a:spcBef>
                <a:spcPts val="0"/>
              </a:spcBef>
              <a:spcAft>
                <a:spcPts val="0"/>
              </a:spcAft>
              <a:buSzPts val="1800"/>
              <a:buChar char="❏"/>
            </a:pPr>
            <a:r>
              <a:rPr lang="en" sz="1800"/>
              <a:t>Response time </a:t>
            </a:r>
            <a:endParaRPr sz="1800"/>
          </a:p>
          <a:p>
            <a:pPr indent="-342900" lvl="0" marL="457200" rtl="0" algn="l">
              <a:spcBef>
                <a:spcPts val="0"/>
              </a:spcBef>
              <a:spcAft>
                <a:spcPts val="0"/>
              </a:spcAft>
              <a:buSzPts val="1800"/>
              <a:buChar char="❏"/>
            </a:pPr>
            <a:r>
              <a:rPr lang="en" sz="1800"/>
              <a:t>Poor user experience </a:t>
            </a:r>
            <a:endParaRPr sz="1800"/>
          </a:p>
          <a:p>
            <a:pPr indent="-342900" lvl="0" marL="457200" rtl="0" algn="l">
              <a:spcBef>
                <a:spcPts val="0"/>
              </a:spcBef>
              <a:spcAft>
                <a:spcPts val="0"/>
              </a:spcAft>
              <a:buSzPts val="1800"/>
              <a:buChar char="❏"/>
            </a:pPr>
            <a:r>
              <a:rPr lang="en" sz="1800"/>
              <a:t>Security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Product Risks…</a:t>
            </a:r>
            <a:endParaRPr sz="2540"/>
          </a:p>
        </p:txBody>
      </p:sp>
      <p:sp>
        <p:nvSpPr>
          <p:cNvPr id="123" name="Google Shape;123;p19"/>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Product risks, when they occur, may result in various negative consequences, like:</a:t>
            </a:r>
            <a:endParaRPr sz="1800"/>
          </a:p>
          <a:p>
            <a:pPr indent="-342900" lvl="0" marL="914400" rtl="0" algn="l">
              <a:spcBef>
                <a:spcPts val="1200"/>
              </a:spcBef>
              <a:spcAft>
                <a:spcPts val="0"/>
              </a:spcAft>
              <a:buSzPts val="1800"/>
              <a:buChar char="❏"/>
            </a:pPr>
            <a:r>
              <a:rPr lang="en" sz="1800"/>
              <a:t>User dissatisfaction</a:t>
            </a:r>
            <a:endParaRPr sz="1800"/>
          </a:p>
          <a:p>
            <a:pPr indent="-342900" lvl="0" marL="914400" rtl="0" algn="l">
              <a:spcBef>
                <a:spcPts val="0"/>
              </a:spcBef>
              <a:spcAft>
                <a:spcPts val="0"/>
              </a:spcAft>
              <a:buSzPts val="1800"/>
              <a:buChar char="❏"/>
            </a:pPr>
            <a:r>
              <a:rPr lang="en" sz="1800"/>
              <a:t>L</a:t>
            </a:r>
            <a:r>
              <a:rPr lang="en" sz="1800"/>
              <a:t>oss of revenue, trust, reputation</a:t>
            </a:r>
            <a:endParaRPr sz="1800"/>
          </a:p>
          <a:p>
            <a:pPr indent="-342900" lvl="0" marL="914400" rtl="0" algn="l">
              <a:spcBef>
                <a:spcPts val="0"/>
              </a:spcBef>
              <a:spcAft>
                <a:spcPts val="0"/>
              </a:spcAft>
              <a:buSzPts val="1800"/>
              <a:buChar char="❏"/>
            </a:pPr>
            <a:r>
              <a:rPr lang="en" sz="1800"/>
              <a:t>Damage to third parties</a:t>
            </a:r>
            <a:endParaRPr sz="1800"/>
          </a:p>
          <a:p>
            <a:pPr indent="-342900" lvl="0" marL="914400" rtl="0" algn="l">
              <a:spcBef>
                <a:spcPts val="0"/>
              </a:spcBef>
              <a:spcAft>
                <a:spcPts val="0"/>
              </a:spcAft>
              <a:buSzPts val="1800"/>
              <a:buChar char="❏"/>
            </a:pPr>
            <a:r>
              <a:rPr lang="en" sz="1800"/>
              <a:t>High maintenance costs, overload of the helpdesk</a:t>
            </a:r>
            <a:endParaRPr sz="1800"/>
          </a:p>
          <a:p>
            <a:pPr indent="-342900" lvl="0" marL="914400" rtl="0" algn="l">
              <a:spcBef>
                <a:spcPts val="0"/>
              </a:spcBef>
              <a:spcAft>
                <a:spcPts val="0"/>
              </a:spcAft>
              <a:buSzPts val="1800"/>
              <a:buChar char="❏"/>
            </a:pPr>
            <a:r>
              <a:rPr lang="en" sz="1800"/>
              <a:t>Criminal penalties</a:t>
            </a:r>
            <a:endParaRPr sz="1800"/>
          </a:p>
          <a:p>
            <a:pPr indent="-342900" lvl="0" marL="914400" rtl="0" algn="l">
              <a:spcBef>
                <a:spcPts val="0"/>
              </a:spcBef>
              <a:spcAft>
                <a:spcPts val="0"/>
              </a:spcAft>
              <a:buSzPts val="1800"/>
              <a:buChar char="❏"/>
            </a:pPr>
            <a:r>
              <a:rPr lang="en" sz="1800"/>
              <a:t>In extreme cases, physical damage, injuries or even death</a:t>
            </a:r>
            <a:endParaRPr sz="1800"/>
          </a:p>
          <a:p>
            <a:pPr indent="0" lvl="0" marL="0" rtl="0" algn="l">
              <a:spcBef>
                <a:spcPts val="1200"/>
              </a:spcBef>
              <a:spcAft>
                <a:spcPts val="120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Product Risk Analysis</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29" name="Google Shape;129;p20"/>
          <p:cNvSpPr txBox="1"/>
          <p:nvPr>
            <p:ph idx="1" type="body"/>
          </p:nvPr>
        </p:nvSpPr>
        <p:spPr>
          <a:xfrm>
            <a:off x="729450" y="1240675"/>
            <a:ext cx="7688700" cy="39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From a testing perspective, the goal of product risk analysis is to provide an awareness of product risk in order to focus the testing effort in a way that minimizes the residual level of product risk. Ideally, product risk analysis begins early in the SDLC.</a:t>
            </a:r>
            <a:endParaRPr sz="1800"/>
          </a:p>
          <a:p>
            <a:pPr indent="0" lvl="0" marL="0" rtl="0" algn="l">
              <a:spcBef>
                <a:spcPts val="1200"/>
              </a:spcBef>
              <a:spcAft>
                <a:spcPts val="0"/>
              </a:spcAft>
              <a:buNone/>
            </a:pPr>
            <a:r>
              <a:rPr lang="en" sz="1800"/>
              <a:t>Product risk analysis consists of Risk Identification and Risk Assessment. </a:t>
            </a:r>
            <a:endParaRPr sz="1800"/>
          </a:p>
          <a:p>
            <a:pPr indent="0" lvl="0" marL="0" rtl="0" algn="l">
              <a:spcBef>
                <a:spcPts val="1200"/>
              </a:spcBef>
              <a:spcAft>
                <a:spcPts val="0"/>
              </a:spcAft>
              <a:buNone/>
            </a:pPr>
            <a:r>
              <a:rPr lang="en" sz="1800"/>
              <a:t>Risk identification is about generating a comprehensive list of risks. Stakeholders can identify risks by using various techniques and tools, </a:t>
            </a:r>
            <a:endParaRPr sz="1800"/>
          </a:p>
          <a:p>
            <a:pPr indent="0" lvl="0" marL="0" rtl="0" algn="l">
              <a:spcBef>
                <a:spcPts val="1200"/>
              </a:spcBef>
              <a:spcAft>
                <a:spcPts val="0"/>
              </a:spcAft>
              <a:buNone/>
            </a:pPr>
            <a:r>
              <a:rPr lang="en" sz="1800"/>
              <a:t>E.g:</a:t>
            </a:r>
            <a:endParaRPr sz="1800"/>
          </a:p>
          <a:p>
            <a:pPr indent="0" lvl="0" marL="0" rtl="0" algn="l">
              <a:spcBef>
                <a:spcPts val="1200"/>
              </a:spcBef>
              <a:spcAft>
                <a:spcPts val="1200"/>
              </a:spcAft>
              <a:buNone/>
            </a:pPr>
            <a:r>
              <a:rPr lang="en" sz="1800"/>
              <a:t>Brainstorming, workshops, interviews, or cause-effect diagrams.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Product Risk Analysis…</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35" name="Google Shape;135;p21"/>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Risk assessment can use a quantitative or qualitative approach, or a mix of them. In the quantitative approach the risk level is calculated as the multiplication of risk likelihood and risk impact. In the qualitative approach the risk level can be determined using a risk matrix.</a:t>
            </a:r>
            <a:endParaRPr sz="1800"/>
          </a:p>
          <a:p>
            <a:pPr indent="0" lvl="0" marL="0" rtl="0" algn="l">
              <a:spcBef>
                <a:spcPts val="1200"/>
              </a:spcBef>
              <a:spcAft>
                <a:spcPts val="0"/>
              </a:spcAft>
              <a:buNone/>
            </a:pPr>
            <a:r>
              <a:rPr lang="en" sz="1800"/>
              <a:t>Risk assessment involves:</a:t>
            </a:r>
            <a:endParaRPr sz="1800"/>
          </a:p>
          <a:p>
            <a:pPr indent="-342900" lvl="0" marL="457200" rtl="0" algn="l">
              <a:spcBef>
                <a:spcPts val="1200"/>
              </a:spcBef>
              <a:spcAft>
                <a:spcPts val="0"/>
              </a:spcAft>
              <a:buSzPts val="1800"/>
              <a:buChar char="❏"/>
            </a:pPr>
            <a:r>
              <a:rPr lang="en" sz="1800"/>
              <a:t>Categorization of identified risks, </a:t>
            </a:r>
            <a:endParaRPr sz="1800"/>
          </a:p>
          <a:p>
            <a:pPr indent="-342900" lvl="0" marL="457200" rtl="0" algn="l">
              <a:spcBef>
                <a:spcPts val="0"/>
              </a:spcBef>
              <a:spcAft>
                <a:spcPts val="0"/>
              </a:spcAft>
              <a:buSzPts val="1800"/>
              <a:buChar char="❏"/>
            </a:pPr>
            <a:r>
              <a:rPr lang="en" sz="1800"/>
              <a:t>determining their risk likelihood, </a:t>
            </a:r>
            <a:endParaRPr sz="1800"/>
          </a:p>
          <a:p>
            <a:pPr indent="-342900" lvl="0" marL="457200" rtl="0" algn="l">
              <a:spcBef>
                <a:spcPts val="0"/>
              </a:spcBef>
              <a:spcAft>
                <a:spcPts val="0"/>
              </a:spcAft>
              <a:buSzPts val="1800"/>
              <a:buChar char="❏"/>
            </a:pPr>
            <a:r>
              <a:rPr lang="en" sz="1800"/>
              <a:t>risk impact and level, </a:t>
            </a:r>
            <a:endParaRPr sz="1800"/>
          </a:p>
          <a:p>
            <a:pPr indent="-342900" lvl="0" marL="457200" rtl="0" algn="l">
              <a:spcBef>
                <a:spcPts val="0"/>
              </a:spcBef>
              <a:spcAft>
                <a:spcPts val="0"/>
              </a:spcAft>
              <a:buSzPts val="1800"/>
              <a:buChar char="❏"/>
            </a:pPr>
            <a:r>
              <a:rPr lang="en" sz="1800"/>
              <a:t>prioritizing, and proposing ways to handle them. </a:t>
            </a:r>
            <a:endParaRPr sz="1800"/>
          </a:p>
          <a:p>
            <a:pPr indent="0" lvl="0" marL="0" rtl="0" algn="l">
              <a:spcBef>
                <a:spcPts val="1200"/>
              </a:spcBef>
              <a:spcAft>
                <a:spcPts val="1200"/>
              </a:spcAft>
              <a:buNone/>
            </a:pPr>
            <a:r>
              <a:rPr lang="en" sz="1800"/>
              <a:t>Categorization helps in assigning mitigation actions, because usually risks falling into the same category can be mitigated using a similar approach.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Product Risk Analysis…</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41" name="Google Shape;141;p22"/>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Product risk analysis may influence the thoroughness and scope of testing. Its results are used to:</a:t>
            </a:r>
            <a:endParaRPr sz="1800"/>
          </a:p>
          <a:p>
            <a:pPr indent="-342900" lvl="0" marL="457200" rtl="0" algn="l">
              <a:spcBef>
                <a:spcPts val="1200"/>
              </a:spcBef>
              <a:spcAft>
                <a:spcPts val="0"/>
              </a:spcAft>
              <a:buSzPts val="1800"/>
              <a:buChar char="❏"/>
            </a:pPr>
            <a:r>
              <a:rPr lang="en" sz="1800"/>
              <a:t>Determine the scope of testing to be carried out</a:t>
            </a:r>
            <a:endParaRPr sz="1800"/>
          </a:p>
          <a:p>
            <a:pPr indent="-342900" lvl="0" marL="457200" rtl="0" algn="l">
              <a:spcBef>
                <a:spcPts val="0"/>
              </a:spcBef>
              <a:spcAft>
                <a:spcPts val="0"/>
              </a:spcAft>
              <a:buSzPts val="1800"/>
              <a:buChar char="❏"/>
            </a:pPr>
            <a:r>
              <a:rPr lang="en" sz="1800"/>
              <a:t>Determine the particular test levels and propose test types to be performed</a:t>
            </a:r>
            <a:endParaRPr sz="1800"/>
          </a:p>
          <a:p>
            <a:pPr indent="-342900" lvl="0" marL="457200" rtl="0" algn="l">
              <a:spcBef>
                <a:spcPts val="0"/>
              </a:spcBef>
              <a:spcAft>
                <a:spcPts val="0"/>
              </a:spcAft>
              <a:buSzPts val="1800"/>
              <a:buChar char="❏"/>
            </a:pPr>
            <a:r>
              <a:rPr lang="en" sz="1800"/>
              <a:t>Determine the test techniques to be employed and the coverage to be achieved</a:t>
            </a:r>
            <a:endParaRPr sz="1800"/>
          </a:p>
          <a:p>
            <a:pPr indent="-342900" lvl="0" marL="457200" rtl="0" algn="l">
              <a:spcBef>
                <a:spcPts val="0"/>
              </a:spcBef>
              <a:spcAft>
                <a:spcPts val="0"/>
              </a:spcAft>
              <a:buSzPts val="1800"/>
              <a:buChar char="❏"/>
            </a:pPr>
            <a:r>
              <a:rPr lang="en" sz="1800"/>
              <a:t>Estimate the test effort required for each task</a:t>
            </a:r>
            <a:endParaRPr sz="1800"/>
          </a:p>
          <a:p>
            <a:pPr indent="-342900" lvl="0" marL="457200" rtl="0" algn="l">
              <a:spcBef>
                <a:spcPts val="0"/>
              </a:spcBef>
              <a:spcAft>
                <a:spcPts val="0"/>
              </a:spcAft>
              <a:buSzPts val="1800"/>
              <a:buChar char="❏"/>
            </a:pPr>
            <a:r>
              <a:rPr lang="en" sz="1800"/>
              <a:t>Prioritize testing in an attempt to find the critical defects as early as possible</a:t>
            </a:r>
            <a:endParaRPr sz="1800"/>
          </a:p>
          <a:p>
            <a:pPr indent="-342900" lvl="0" marL="457200" rtl="0" algn="l">
              <a:spcBef>
                <a:spcPts val="0"/>
              </a:spcBef>
              <a:spcAft>
                <a:spcPts val="0"/>
              </a:spcAft>
              <a:buSzPts val="1800"/>
              <a:buChar char="❏"/>
            </a:pPr>
            <a:r>
              <a:rPr lang="en" sz="1800"/>
              <a:t>Determine whether any activities in addition to testing could be employed to reduce risk</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Product Risk Control</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47" name="Google Shape;147;p23"/>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Product risk control consists of </a:t>
            </a:r>
            <a:r>
              <a:rPr b="1" lang="en" sz="1800"/>
              <a:t>risk mitigation</a:t>
            </a:r>
            <a:r>
              <a:rPr lang="en" sz="1800"/>
              <a:t> and </a:t>
            </a:r>
            <a:r>
              <a:rPr b="1" lang="en" sz="1800"/>
              <a:t>risk monitoring</a:t>
            </a:r>
            <a:r>
              <a:rPr lang="en" sz="1800"/>
              <a:t>. </a:t>
            </a:r>
            <a:endParaRPr sz="1800"/>
          </a:p>
          <a:p>
            <a:pPr indent="0" lvl="0" marL="0" rtl="0" algn="l">
              <a:spcBef>
                <a:spcPts val="1200"/>
              </a:spcBef>
              <a:spcAft>
                <a:spcPts val="0"/>
              </a:spcAft>
              <a:buNone/>
            </a:pPr>
            <a:r>
              <a:rPr lang="en" sz="1800"/>
              <a:t>Risk mitigation involves implementing the actions proposed in risk assessment to reduce the risk level. </a:t>
            </a:r>
            <a:endParaRPr sz="1800"/>
          </a:p>
          <a:p>
            <a:pPr indent="0" lvl="0" marL="0" rtl="0" algn="l">
              <a:spcBef>
                <a:spcPts val="1200"/>
              </a:spcBef>
              <a:spcAft>
                <a:spcPts val="0"/>
              </a:spcAft>
              <a:buNone/>
            </a:pPr>
            <a:r>
              <a:rPr lang="en" sz="1800"/>
              <a:t>The aim of risk monitoring is to ensure that the mitigation actions are effective, to obtain further information to improve risk assessment, and to identify emerging risks.</a:t>
            </a:r>
            <a:endParaRPr sz="1800"/>
          </a:p>
          <a:p>
            <a:pPr indent="0" lvl="0" marL="0" rtl="0" algn="l">
              <a:spcBef>
                <a:spcPts val="1200"/>
              </a:spcBef>
              <a:spcAft>
                <a:spcPts val="0"/>
              </a:spcAft>
              <a:buNone/>
            </a:pPr>
            <a:r>
              <a:rPr lang="en" sz="1800"/>
              <a:t>With respect to product risk control, once a risk has been analyzed, several response options to risk are possible, </a:t>
            </a:r>
            <a:endParaRPr sz="1800"/>
          </a:p>
          <a:p>
            <a:pPr indent="0" lvl="0" marL="0" rtl="0" algn="l">
              <a:spcBef>
                <a:spcPts val="1200"/>
              </a:spcBef>
              <a:spcAft>
                <a:spcPts val="1200"/>
              </a:spcAft>
              <a:buNone/>
            </a:pPr>
            <a:r>
              <a:rPr lang="en" sz="1800"/>
              <a:t>E.g. Risk mitigation by testing, Risk acceptance, Risk transfer, or contingency plan.</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Product Risk Control…</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53" name="Google Shape;153;p24"/>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Actions that can be taken to mitigate the product risks by testing are as follows:</a:t>
            </a:r>
            <a:endParaRPr sz="1800"/>
          </a:p>
          <a:p>
            <a:pPr indent="-342900" lvl="0" marL="457200" rtl="0" algn="l">
              <a:spcBef>
                <a:spcPts val="1200"/>
              </a:spcBef>
              <a:spcAft>
                <a:spcPts val="0"/>
              </a:spcAft>
              <a:buSzPts val="1800"/>
              <a:buChar char="❏"/>
            </a:pPr>
            <a:r>
              <a:rPr lang="en" sz="1800"/>
              <a:t>Select the testers with the right level of experience and skills, suitable for a given risk type</a:t>
            </a:r>
            <a:endParaRPr sz="1800"/>
          </a:p>
          <a:p>
            <a:pPr indent="-342900" lvl="0" marL="457200" rtl="0" algn="l">
              <a:spcBef>
                <a:spcPts val="0"/>
              </a:spcBef>
              <a:spcAft>
                <a:spcPts val="0"/>
              </a:spcAft>
              <a:buSzPts val="1800"/>
              <a:buChar char="❏"/>
            </a:pPr>
            <a:r>
              <a:rPr lang="en" sz="1800"/>
              <a:t>Apply an appropriate level of independence of testing</a:t>
            </a:r>
            <a:endParaRPr sz="1800"/>
          </a:p>
          <a:p>
            <a:pPr indent="-342900" lvl="0" marL="457200" rtl="0" algn="l">
              <a:spcBef>
                <a:spcPts val="0"/>
              </a:spcBef>
              <a:spcAft>
                <a:spcPts val="0"/>
              </a:spcAft>
              <a:buSzPts val="1800"/>
              <a:buChar char="❏"/>
            </a:pPr>
            <a:r>
              <a:rPr lang="en" sz="1800"/>
              <a:t>Conduct reviews and perform static analysis</a:t>
            </a:r>
            <a:endParaRPr sz="1800"/>
          </a:p>
          <a:p>
            <a:pPr indent="-342900" lvl="0" marL="457200" rtl="0" algn="l">
              <a:spcBef>
                <a:spcPts val="0"/>
              </a:spcBef>
              <a:spcAft>
                <a:spcPts val="0"/>
              </a:spcAft>
              <a:buSzPts val="1800"/>
              <a:buChar char="❏"/>
            </a:pPr>
            <a:r>
              <a:rPr lang="en" sz="1800"/>
              <a:t>Apply the appropriate test techniques and coverage levels</a:t>
            </a:r>
            <a:endParaRPr sz="1800"/>
          </a:p>
          <a:p>
            <a:pPr indent="-342900" lvl="0" marL="457200" rtl="0" algn="l">
              <a:spcBef>
                <a:spcPts val="0"/>
              </a:spcBef>
              <a:spcAft>
                <a:spcPts val="0"/>
              </a:spcAft>
              <a:buSzPts val="1800"/>
              <a:buChar char="❏"/>
            </a:pPr>
            <a:r>
              <a:rPr lang="en" sz="1800"/>
              <a:t>Apply the appropriate test types addressing the affected quality characteristics</a:t>
            </a:r>
            <a:endParaRPr sz="1800"/>
          </a:p>
          <a:p>
            <a:pPr indent="-342900" lvl="0" marL="457200" rtl="0" algn="l">
              <a:spcBef>
                <a:spcPts val="0"/>
              </a:spcBef>
              <a:spcAft>
                <a:spcPts val="0"/>
              </a:spcAft>
              <a:buSzPts val="1800"/>
              <a:buChar char="❏"/>
            </a:pPr>
            <a:r>
              <a:rPr lang="en" sz="1800"/>
              <a:t>Perform dynamic testing, including regression testing</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What is Risk Management?</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59" name="Google Shape;159;p25"/>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Risk Management is a systematic process of recognizing, evaluating, and handling threats or risks that have an effect on the finances, capital, and overall operations of an organization. </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rPr b="1" lang="en" sz="1800"/>
              <a:t>The main goal of risk management is to predict possible risks and find solutions to deal with them successfully.</a:t>
            </a:r>
            <a:endParaRPr b="1"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Why is risk management important?</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65" name="Google Shape;165;p26"/>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1200"/>
              </a:spcBef>
              <a:spcAft>
                <a:spcPts val="0"/>
              </a:spcAft>
              <a:buNone/>
            </a:pPr>
            <a:r>
              <a:rPr lang="en" sz="1800"/>
              <a:t>Risk management is important because it helps organizations to prepare for unexpected circumstances that can vary from small issues to major crises. </a:t>
            </a:r>
            <a:endParaRPr sz="1800"/>
          </a:p>
          <a:p>
            <a:pPr indent="0" lvl="0" marL="0" rtl="0" algn="l">
              <a:spcBef>
                <a:spcPts val="1200"/>
              </a:spcBef>
              <a:spcAft>
                <a:spcPts val="0"/>
              </a:spcAft>
              <a:buNone/>
            </a:pPr>
            <a:r>
              <a:rPr lang="en" sz="1800"/>
              <a:t>By actively understanding, evaluating, and planning for potential risks, organizations can protect their financial health, continued operation, and overall survival.</a:t>
            </a:r>
            <a:endParaRPr sz="1800"/>
          </a:p>
          <a:p>
            <a:pPr indent="0" lvl="0" marL="0" rtl="0" algn="l">
              <a:spcBef>
                <a:spcPts val="1200"/>
              </a:spcBef>
              <a:spcAft>
                <a:spcPts val="120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Risk Management Process</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71" name="Google Shape;171;p27"/>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Risk management is a sequence of steps that help a software team to understand, analyze, and manage uncertainty. Risk management process consists of </a:t>
            </a:r>
            <a:endParaRPr sz="1800"/>
          </a:p>
          <a:p>
            <a:pPr indent="-342900" lvl="0" marL="457200" rtl="0" algn="l">
              <a:spcBef>
                <a:spcPts val="1200"/>
              </a:spcBef>
              <a:spcAft>
                <a:spcPts val="0"/>
              </a:spcAft>
              <a:buSzPts val="1800"/>
              <a:buChar char="❏"/>
            </a:pPr>
            <a:r>
              <a:rPr lang="en" sz="1800"/>
              <a:t>Risks Identification.</a:t>
            </a:r>
            <a:endParaRPr sz="1800"/>
          </a:p>
          <a:p>
            <a:pPr indent="-342900" lvl="0" marL="457200" rtl="0" algn="l">
              <a:spcBef>
                <a:spcPts val="0"/>
              </a:spcBef>
              <a:spcAft>
                <a:spcPts val="0"/>
              </a:spcAft>
              <a:buSzPts val="1800"/>
              <a:buChar char="❏"/>
            </a:pPr>
            <a:r>
              <a:rPr lang="en" sz="1800"/>
              <a:t>Risk Assessment.</a:t>
            </a:r>
            <a:endParaRPr sz="1800"/>
          </a:p>
          <a:p>
            <a:pPr indent="-342900" lvl="0" marL="457200" rtl="0" algn="l">
              <a:spcBef>
                <a:spcPts val="0"/>
              </a:spcBef>
              <a:spcAft>
                <a:spcPts val="0"/>
              </a:spcAft>
              <a:buSzPts val="1800"/>
              <a:buChar char="❏"/>
            </a:pPr>
            <a:r>
              <a:rPr lang="en" sz="1800"/>
              <a:t>Risks Planning.</a:t>
            </a:r>
            <a:endParaRPr sz="1800"/>
          </a:p>
          <a:p>
            <a:pPr indent="-342900" lvl="0" marL="457200" rtl="0" algn="l">
              <a:spcBef>
                <a:spcPts val="0"/>
              </a:spcBef>
              <a:spcAft>
                <a:spcPts val="0"/>
              </a:spcAft>
              <a:buSzPts val="1800"/>
              <a:buChar char="❏"/>
            </a:pPr>
            <a:r>
              <a:rPr lang="en" sz="1800"/>
              <a:t>Risk Monitoring.</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Risk Management Standards and Frameworks</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77" name="Google Shape;177;p28"/>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Risk management standards and frameworks give organizations guidelines on how to find, evaluate, and handle risks effectively. They provide a structured way to manage risks, making sure that everyone follows consistent and reliable practices. </a:t>
            </a:r>
            <a:endParaRPr sz="1800"/>
          </a:p>
          <a:p>
            <a:pPr indent="0" lvl="0" marL="0" rtl="0" algn="l">
              <a:spcBef>
                <a:spcPts val="1200"/>
              </a:spcBef>
              <a:spcAft>
                <a:spcPts val="0"/>
              </a:spcAft>
              <a:buNone/>
            </a:pPr>
            <a:r>
              <a:rPr lang="en" sz="1800"/>
              <a:t>Well-known risk management standards and frameworks:</a:t>
            </a:r>
            <a:endParaRPr sz="1800"/>
          </a:p>
          <a:p>
            <a:pPr indent="-314325" lvl="0" marL="457200" rtl="0" algn="l">
              <a:spcBef>
                <a:spcPts val="12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COSO ERM Framework:</a:t>
            </a:r>
            <a:endParaRPr sz="1350">
              <a:solidFill>
                <a:srgbClr val="273239"/>
              </a:solidFill>
              <a:highlight>
                <a:srgbClr val="FFFFFF"/>
              </a:highlight>
              <a:latin typeface="Nunito"/>
              <a:ea typeface="Nunito"/>
              <a:cs typeface="Nunito"/>
              <a:sym typeface="Nunito"/>
            </a:endParaRPr>
          </a:p>
          <a:p>
            <a:pPr indent="-314325" lvl="0" marL="457200" rtl="0" algn="l">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ISO 31000</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314325" lvl="0" marL="457200" rtl="0" algn="l">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BS 31100</a:t>
            </a:r>
            <a:r>
              <a:rPr lang="en" sz="1350">
                <a:solidFill>
                  <a:srgbClr val="273239"/>
                </a:solidFill>
                <a:highlight>
                  <a:srgbClr val="FFFFFF"/>
                </a:highlight>
                <a:latin typeface="Nunito"/>
                <a:ea typeface="Nunito"/>
                <a:cs typeface="Nunito"/>
                <a:sym typeface="Nunito"/>
              </a:rPr>
              <a:t>:</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t/>
            </a:r>
            <a:endParaRPr sz="1800"/>
          </a:p>
          <a:p>
            <a:pPr indent="0" lvl="0" marL="0" rtl="0" algn="l">
              <a:spcBef>
                <a:spcPts val="1200"/>
              </a:spcBef>
              <a:spcAft>
                <a:spcPts val="120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Benefits of Risk Management</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83" name="Google Shape;183;p29"/>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314325" lvl="0" marL="457200" rtl="0" algn="l">
              <a:spcBef>
                <a:spcPts val="0"/>
              </a:spcBef>
              <a:spcAft>
                <a:spcPts val="0"/>
              </a:spcAft>
              <a:buClr>
                <a:srgbClr val="273239"/>
              </a:buClr>
              <a:buSzPts val="1350"/>
              <a:buFont typeface="Nunito"/>
              <a:buChar char="❏"/>
            </a:pPr>
            <a:r>
              <a:rPr lang="en" sz="1800"/>
              <a:t>Here are some benefits of risk management:</a:t>
            </a:r>
            <a:endParaRPr sz="1800"/>
          </a:p>
          <a:p>
            <a:pPr indent="-314325" lvl="0" marL="457200" rtl="0" algn="l">
              <a:spcBef>
                <a:spcPts val="0"/>
              </a:spcBef>
              <a:spcAft>
                <a:spcPts val="0"/>
              </a:spcAft>
              <a:buClr>
                <a:srgbClr val="273239"/>
              </a:buClr>
              <a:buSzPts val="1350"/>
              <a:buFont typeface="Nunito"/>
              <a:buChar char="❏"/>
            </a:pPr>
            <a:r>
              <a:rPr lang="en" sz="1800"/>
              <a:t>Helps protect against potential losses.</a:t>
            </a:r>
            <a:endParaRPr sz="1800"/>
          </a:p>
          <a:p>
            <a:pPr indent="-314325" lvl="0" marL="457200" rtl="0" algn="l">
              <a:spcBef>
                <a:spcPts val="0"/>
              </a:spcBef>
              <a:spcAft>
                <a:spcPts val="0"/>
              </a:spcAft>
              <a:buClr>
                <a:srgbClr val="273239"/>
              </a:buClr>
              <a:buSzPts val="1350"/>
              <a:buFont typeface="Nunito"/>
              <a:buChar char="❏"/>
            </a:pPr>
            <a:r>
              <a:rPr lang="en" sz="1800"/>
              <a:t>Improves decision-making by considering risks.</a:t>
            </a:r>
            <a:endParaRPr sz="1800"/>
          </a:p>
          <a:p>
            <a:pPr indent="-314325" lvl="0" marL="457200" rtl="0" algn="l">
              <a:spcBef>
                <a:spcPts val="0"/>
              </a:spcBef>
              <a:spcAft>
                <a:spcPts val="0"/>
              </a:spcAft>
              <a:buClr>
                <a:srgbClr val="273239"/>
              </a:buClr>
              <a:buSzPts val="1350"/>
              <a:buFont typeface="Nunito"/>
              <a:buChar char="❏"/>
            </a:pPr>
            <a:r>
              <a:rPr lang="en" sz="1800"/>
              <a:t>Reduces unexpected expenses.</a:t>
            </a:r>
            <a:endParaRPr sz="1800"/>
          </a:p>
          <a:p>
            <a:pPr indent="-314325" lvl="0" marL="457200" rtl="0" algn="l">
              <a:spcBef>
                <a:spcPts val="0"/>
              </a:spcBef>
              <a:spcAft>
                <a:spcPts val="0"/>
              </a:spcAft>
              <a:buClr>
                <a:srgbClr val="273239"/>
              </a:buClr>
              <a:buSzPts val="1350"/>
              <a:buFont typeface="Nunito"/>
              <a:buChar char="❏"/>
            </a:pPr>
            <a:r>
              <a:rPr lang="en" sz="1800"/>
              <a:t>Ensures adherence to laws and regulations.</a:t>
            </a:r>
            <a:endParaRPr sz="1800"/>
          </a:p>
          <a:p>
            <a:pPr indent="-314325" lvl="0" marL="457200" rtl="0" algn="l">
              <a:spcBef>
                <a:spcPts val="0"/>
              </a:spcBef>
              <a:spcAft>
                <a:spcPts val="0"/>
              </a:spcAft>
              <a:buClr>
                <a:srgbClr val="273239"/>
              </a:buClr>
              <a:buSzPts val="1350"/>
              <a:buFont typeface="Nunito"/>
              <a:buChar char="❏"/>
            </a:pPr>
            <a:r>
              <a:rPr lang="en" sz="1800"/>
              <a:t>Builds resilience against unexpected challenges.</a:t>
            </a:r>
            <a:endParaRPr sz="1800"/>
          </a:p>
          <a:p>
            <a:pPr indent="-314325" lvl="0" marL="457200" rtl="0" algn="l">
              <a:spcBef>
                <a:spcPts val="0"/>
              </a:spcBef>
              <a:spcAft>
                <a:spcPts val="0"/>
              </a:spcAft>
              <a:buClr>
                <a:srgbClr val="273239"/>
              </a:buClr>
              <a:buSzPts val="1350"/>
              <a:buFont typeface="Nunito"/>
              <a:buChar char="❏"/>
            </a:pPr>
            <a:r>
              <a:rPr lang="en" sz="1800"/>
              <a:t>Safeguards company reputation.</a:t>
            </a:r>
            <a:endParaRPr sz="1800"/>
          </a:p>
          <a:p>
            <a:pPr indent="0" lvl="0" marL="0" rtl="0" algn="l">
              <a:spcBef>
                <a:spcPts val="800"/>
              </a:spcBef>
              <a:spcAft>
                <a:spcPts val="120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40"/>
              <a:t>Limitation of Risk Management</a:t>
            </a:r>
            <a:endParaRPr sz="2540"/>
          </a:p>
          <a:p>
            <a:pPr indent="0" lvl="0" marL="0" rtl="0" algn="l">
              <a:spcBef>
                <a:spcPts val="0"/>
              </a:spcBef>
              <a:spcAft>
                <a:spcPts val="0"/>
              </a:spcAft>
              <a:buNone/>
            </a:pPr>
            <a:r>
              <a:t/>
            </a:r>
            <a:endParaRPr sz="2540"/>
          </a:p>
          <a:p>
            <a:pPr indent="0" lvl="0" marL="0" rtl="0" algn="l">
              <a:spcBef>
                <a:spcPts val="0"/>
              </a:spcBef>
              <a:spcAft>
                <a:spcPts val="0"/>
              </a:spcAft>
              <a:buSzPts val="990"/>
              <a:buNone/>
            </a:pPr>
            <a:r>
              <a:t/>
            </a:r>
            <a:endParaRPr sz="2540"/>
          </a:p>
        </p:txBody>
      </p:sp>
      <p:sp>
        <p:nvSpPr>
          <p:cNvPr id="189" name="Google Shape;189;p30"/>
          <p:cNvSpPr txBox="1"/>
          <p:nvPr>
            <p:ph idx="1" type="body"/>
          </p:nvPr>
        </p:nvSpPr>
        <p:spPr>
          <a:xfrm>
            <a:off x="729450" y="1164475"/>
            <a:ext cx="7688700" cy="39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314325" lvl="0" marL="457200" rtl="0" algn="l">
              <a:spcBef>
                <a:spcPts val="800"/>
              </a:spcBef>
              <a:spcAft>
                <a:spcPts val="0"/>
              </a:spcAft>
              <a:buClr>
                <a:srgbClr val="273239"/>
              </a:buClr>
              <a:buSzPts val="1350"/>
              <a:buFont typeface="Nunito"/>
              <a:buChar char="❏"/>
            </a:pPr>
            <a:r>
              <a:rPr lang="en" sz="1800"/>
              <a:t>Too much focus on risk can lead to missed opportunities.</a:t>
            </a:r>
            <a:endParaRPr sz="1800"/>
          </a:p>
          <a:p>
            <a:pPr indent="-314325" lvl="0" marL="457200" rtl="0" algn="l">
              <a:spcBef>
                <a:spcPts val="0"/>
              </a:spcBef>
              <a:spcAft>
                <a:spcPts val="0"/>
              </a:spcAft>
              <a:buClr>
                <a:srgbClr val="273239"/>
              </a:buClr>
              <a:buSzPts val="1350"/>
              <a:buFont typeface="Nunito"/>
              <a:buChar char="❏"/>
            </a:pPr>
            <a:r>
              <a:rPr lang="en" sz="1800"/>
              <a:t>Implementing risk management can be expensive.</a:t>
            </a:r>
            <a:endParaRPr sz="1800"/>
          </a:p>
          <a:p>
            <a:pPr indent="-314325" lvl="0" marL="457200" rtl="0" algn="l">
              <a:spcBef>
                <a:spcPts val="0"/>
              </a:spcBef>
              <a:spcAft>
                <a:spcPts val="0"/>
              </a:spcAft>
              <a:buClr>
                <a:srgbClr val="273239"/>
              </a:buClr>
              <a:buSzPts val="1350"/>
              <a:buFont typeface="Nunito"/>
              <a:buChar char="❏"/>
            </a:pPr>
            <a:r>
              <a:rPr lang="en" sz="1800"/>
              <a:t>Risk models can be overly complex and hard to understand.</a:t>
            </a:r>
            <a:endParaRPr sz="1800"/>
          </a:p>
          <a:p>
            <a:pPr indent="-314325" lvl="0" marL="457200" rtl="0" algn="l">
              <a:spcBef>
                <a:spcPts val="0"/>
              </a:spcBef>
              <a:spcAft>
                <a:spcPts val="0"/>
              </a:spcAft>
              <a:buClr>
                <a:srgbClr val="273239"/>
              </a:buClr>
              <a:buSzPts val="1350"/>
              <a:buFont typeface="Nunito"/>
              <a:buChar char="❏"/>
            </a:pPr>
            <a:r>
              <a:rPr lang="en" sz="1800"/>
              <a:t>Having risk controls might make people feel too safe.</a:t>
            </a:r>
            <a:endParaRPr sz="1800"/>
          </a:p>
          <a:p>
            <a:pPr indent="-314325" lvl="0" marL="457200" rtl="0" algn="l">
              <a:spcBef>
                <a:spcPts val="0"/>
              </a:spcBef>
              <a:spcAft>
                <a:spcPts val="0"/>
              </a:spcAft>
              <a:buClr>
                <a:srgbClr val="273239"/>
              </a:buClr>
              <a:buSzPts val="1350"/>
              <a:buFont typeface="Nunito"/>
              <a:buChar char="❏"/>
            </a:pPr>
            <a:r>
              <a:rPr lang="en" sz="1800"/>
              <a:t>Relies on accurate human judgment and can be prone to mistakes.</a:t>
            </a:r>
            <a:endParaRPr sz="1800"/>
          </a:p>
          <a:p>
            <a:pPr indent="-314325" lvl="0" marL="457200" rtl="0" algn="l">
              <a:spcBef>
                <a:spcPts val="0"/>
              </a:spcBef>
              <a:spcAft>
                <a:spcPts val="0"/>
              </a:spcAft>
              <a:buClr>
                <a:srgbClr val="273239"/>
              </a:buClr>
              <a:buSzPts val="1350"/>
              <a:buFont typeface="Nunito"/>
              <a:buChar char="❏"/>
            </a:pPr>
            <a:r>
              <a:rPr lang="en" sz="1800"/>
              <a:t>Some risks are hard to predict or quantify.</a:t>
            </a:r>
            <a:endParaRPr sz="1800"/>
          </a:p>
          <a:p>
            <a:pPr indent="-314325" lvl="0" marL="457200" rtl="0" algn="l">
              <a:spcBef>
                <a:spcPts val="0"/>
              </a:spcBef>
              <a:spcAft>
                <a:spcPts val="0"/>
              </a:spcAft>
              <a:buClr>
                <a:srgbClr val="273239"/>
              </a:buClr>
              <a:buSzPts val="1350"/>
              <a:buFont typeface="Nunito"/>
              <a:buChar char="❏"/>
            </a:pPr>
            <a:r>
              <a:rPr lang="en" sz="1800"/>
              <a:t>Managing risks can take a lot of time and resources.</a:t>
            </a:r>
            <a:endParaRPr sz="1800"/>
          </a:p>
          <a:p>
            <a:pPr indent="0" lvl="0" marL="457200" rtl="0" algn="l">
              <a:spcBef>
                <a:spcPts val="800"/>
              </a:spcBef>
              <a:spcAft>
                <a:spcPts val="0"/>
              </a:spcAft>
              <a:buNone/>
            </a:pPr>
            <a:r>
              <a:t/>
            </a:r>
            <a:endParaRPr sz="1800"/>
          </a:p>
          <a:p>
            <a:pPr indent="0" lvl="0" marL="0" rtl="0" algn="l">
              <a:spcBef>
                <a:spcPts val="800"/>
              </a:spcBef>
              <a:spcAft>
                <a:spcPts val="0"/>
              </a:spcAft>
              <a:buNone/>
            </a:pPr>
            <a:r>
              <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t/>
            </a:r>
            <a:endParaRPr sz="1800"/>
          </a:p>
          <a:p>
            <a:pPr indent="0" lvl="0" marL="0" rtl="0" algn="l">
              <a:spcBef>
                <a:spcPts val="1200"/>
              </a:spcBef>
              <a:spcAft>
                <a:spcPts val="1200"/>
              </a:spcAft>
              <a:buNone/>
            </a:pPr>
            <a:r>
              <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195" name="Google Shape;195;p31"/>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