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288" r:id="rId2"/>
    <p:sldId id="349" r:id="rId3"/>
    <p:sldId id="350" r:id="rId4"/>
    <p:sldId id="351" r:id="rId5"/>
    <p:sldId id="352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42" r:id="rId19"/>
    <p:sldId id="366" r:id="rId20"/>
    <p:sldId id="367" r:id="rId21"/>
    <p:sldId id="375" r:id="rId22"/>
    <p:sldId id="376" r:id="rId23"/>
    <p:sldId id="377" r:id="rId24"/>
    <p:sldId id="368" r:id="rId25"/>
    <p:sldId id="369" r:id="rId26"/>
    <p:sldId id="370" r:id="rId27"/>
    <p:sldId id="371" r:id="rId28"/>
    <p:sldId id="372" r:id="rId29"/>
    <p:sldId id="373" r:id="rId30"/>
    <p:sldId id="37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>
      <p:cViewPr varScale="1">
        <p:scale>
          <a:sx n="108" d="100"/>
          <a:sy n="108" d="100"/>
        </p:scale>
        <p:origin x="190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93F6-AEF9-4D68-B6B1-8F8AED03355E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53677-F652-4DD4-8D59-43EB15933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F98B-CC5E-41CE-B043-2D846F94F07F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112-E994-43BA-93FF-CE9D9F76FE02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4FB8-B262-4513-B07C-200423A3BB7C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9BF4-5DD1-4D97-880D-76E1BD8CFE4D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C1C-C963-4AC3-8B89-32E638B74B67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103B-4EB5-45BD-8F8B-D5316ABF44EE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EC4-B19E-4969-BAD0-E8461BBCAA56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4CD9-F062-4B0B-BA15-B9C87DCEC158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9DB4-5C57-43AA-A5B6-CFF49C147315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A7B1-A1CD-4DF9-80B5-B05B49073721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FF37-1E65-4698-B22B-1FD978CC5A8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ECDE8-FDE2-4B04-A121-A5EDA7F0B8E3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Requirement Engineering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dirty="0"/>
              <a:t>IT4012</a:t>
            </a:r>
          </a:p>
        </p:txBody>
      </p:sp>
    </p:spTree>
    <p:extLst>
      <p:ext uri="{BB962C8B-B14F-4D97-AF65-F5344CB8AC3E}">
        <p14:creationId xmlns:p14="http://schemas.microsoft.com/office/powerpoint/2010/main" val="1329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C59A-509B-F90D-B5ED-92EED9F4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D78-AB19-CA00-A4DD-1C20C9F7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requirements engineering concepts</a:t>
            </a:r>
          </a:p>
          <a:p>
            <a:r>
              <a:rPr lang="en-US" dirty="0"/>
              <a:t>Identify types of requirements</a:t>
            </a:r>
          </a:p>
          <a:p>
            <a:r>
              <a:rPr lang="en-US" dirty="0"/>
              <a:t>Explain RE process</a:t>
            </a:r>
          </a:p>
          <a:p>
            <a:r>
              <a:rPr lang="en-US" dirty="0"/>
              <a:t>Understand elicitation, specification, validation ,management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EAFD4-1CBE-88D2-CFEB-28A1AC1D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F8E0D-75F1-67E1-B7F0-80C518AF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40F8-186F-2EEB-511F-87549BFA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Requirement?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B8A3-0FE7-DF1D-8D67-A00A7FF0D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of system services</a:t>
            </a:r>
          </a:p>
          <a:p>
            <a:r>
              <a:rPr lang="en-US" dirty="0"/>
              <a:t>Constraints on system operation</a:t>
            </a:r>
          </a:p>
          <a:p>
            <a:r>
              <a:rPr lang="en-US" dirty="0"/>
              <a:t>Reflects customer needs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C9C4D-F18A-7EC4-6BD0-5C608953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F25EE-1F29-4A97-C0A3-6AF6880E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2DE5-D86A-DA34-5244-A9101FA8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Requirements Engineering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0D12-5486-DBD7-534D-9E027ADC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 of</a:t>
            </a:r>
          </a:p>
          <a:p>
            <a:r>
              <a:rPr lang="en-US" dirty="0"/>
              <a:t>Discovering requirements</a:t>
            </a:r>
          </a:p>
          <a:p>
            <a:r>
              <a:rPr lang="en-US" dirty="0"/>
              <a:t>Analyzing requirements</a:t>
            </a:r>
          </a:p>
          <a:p>
            <a:r>
              <a:rPr lang="en-US" dirty="0"/>
              <a:t>Documenting requirements</a:t>
            </a:r>
          </a:p>
          <a:p>
            <a:r>
              <a:rPr lang="en-US" dirty="0"/>
              <a:t>Validating requirements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F101B-49AF-C1D7-601E-7DF65D2B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5284D-829E-CF4A-FE93-A9DBCAF9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5E09-5A36-9BC7-62F0-90A67EB6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288F-279A-329B-C79F-E6B1E4F30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Foundation of software development</a:t>
            </a:r>
          </a:p>
          <a:p>
            <a:r>
              <a:rPr lang="en-US" dirty="0"/>
              <a:t>Reduces project failure</a:t>
            </a:r>
          </a:p>
          <a:p>
            <a:r>
              <a:rPr lang="en-US" dirty="0"/>
              <a:t>Improves communication</a:t>
            </a:r>
          </a:p>
          <a:p>
            <a:r>
              <a:rPr lang="en-US" dirty="0"/>
              <a:t>Saves cost and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174FA-89A0-9822-C16E-072CAABE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68540-1689-B9BB-DBF7-671B7D5A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0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9FC-FEDD-FC97-F4DB-533FC5F3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FA0F-FA2A-F70E-F848-1BE3A200F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Requirements</a:t>
            </a:r>
          </a:p>
          <a:p>
            <a:r>
              <a:rPr lang="en-US" dirty="0"/>
              <a:t>System Requirements</a:t>
            </a:r>
          </a:p>
          <a:p>
            <a:r>
              <a:rPr lang="en-US" dirty="0"/>
              <a:t>Functional Requirements</a:t>
            </a:r>
          </a:p>
          <a:p>
            <a:r>
              <a:rPr lang="en-US" dirty="0"/>
              <a:t>Non-functional Requirements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EE9D9-61DC-ED8D-B4F3-95D9F00B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E63C2-7604-F309-5101-0F86E28B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3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7E6A-46C5-173E-EE7B-A28B4EE5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9C9F-0059-EAD5-DAEC-1B91B858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descriptions</a:t>
            </a:r>
          </a:p>
          <a:p>
            <a:r>
              <a:rPr lang="en-US" dirty="0"/>
              <a:t>Written in natural language</a:t>
            </a:r>
          </a:p>
          <a:p>
            <a:r>
              <a:rPr lang="en-US" dirty="0"/>
              <a:t>For customers and users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2B19E-C97B-D84C-C8F1-6A968BA9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16DEF-BC99-D44B-B99C-86507BA6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51755A-AB09-DA61-257F-44D40919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64" y="4267200"/>
            <a:ext cx="443687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0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D481-BDD4-0A44-CAB3-D72D0A1A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DC56-CC5D-B72D-FE1F-5106D75E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technical descriptions</a:t>
            </a:r>
          </a:p>
          <a:p>
            <a:r>
              <a:rPr lang="en-US" dirty="0"/>
              <a:t>Used by developers</a:t>
            </a:r>
          </a:p>
          <a:p>
            <a:r>
              <a:rPr lang="en-US" dirty="0"/>
              <a:t>Define system behavior precisely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C34B-16B7-1E65-C910-95AB209C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9C2FD-45A8-C0B8-0520-64B5A5AB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73C9EE-8CEA-7453-B7A6-A8C14020D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7" y="3810000"/>
            <a:ext cx="38957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1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A915-2DFA-36F1-DB95-6DCC7401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21FD-831F-322C-BB63-A49AFC522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system should do</a:t>
            </a:r>
          </a:p>
          <a:p>
            <a:pPr marL="0" indent="0">
              <a:buNone/>
            </a:pPr>
            <a:r>
              <a:rPr lang="en-US" dirty="0"/>
              <a:t>Example-</a:t>
            </a:r>
          </a:p>
          <a:p>
            <a:r>
              <a:rPr lang="en-US" dirty="0"/>
              <a:t>“System shall allow user login”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FC2AB-1549-1470-48DC-94E7E619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96175-5765-9407-D1DB-3C595C3C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4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8723-C9D2-3FC2-B2AE-37C6FB83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 Requirements 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5F86-3EBB-3DBE-35E5-9840491F7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authentication</a:t>
            </a:r>
          </a:p>
          <a:p>
            <a:r>
              <a:rPr lang="en-US" dirty="0"/>
              <a:t>Data processing</a:t>
            </a:r>
          </a:p>
          <a:p>
            <a:r>
              <a:rPr lang="en-US" dirty="0"/>
              <a:t>Report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F6955-F488-C573-13CF-759BFA04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60FB2-80C6-5444-607A-E0664592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0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7057-053C-564A-59D7-44FC8F84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EC50-0B8F-508B-789B-1DB1E7796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Constraints on system</a:t>
            </a:r>
          </a:p>
          <a:p>
            <a:r>
              <a:rPr lang="en-US" dirty="0"/>
              <a:t>Define system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D587-B6AF-CEA9-8A24-C0C4A339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D6AEC-2D5D-8C31-43DE-F4C13BD3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B97C2-8BE3-F47E-D708-E63FAFB2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087" y="3200400"/>
            <a:ext cx="58197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0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F5C1-8486-D811-32BB-AAD5843A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4E59-9F46-9F76-BB32-3A005E451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(performance, reliability)</a:t>
            </a:r>
          </a:p>
          <a:p>
            <a:r>
              <a:rPr lang="en-US" dirty="0"/>
              <a:t>Organizational (standards, policies)</a:t>
            </a:r>
          </a:p>
          <a:p>
            <a:r>
              <a:rPr lang="en-US" dirty="0"/>
              <a:t>External (legal, regulatory)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DDF5E-549A-246E-430B-C60F664A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914C2-BA99-5C72-AD10-404ED461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042A-5034-69B7-5715-6A0AE20D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C216-472D-34A7-EFE1-F5513674E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Performance: response time &lt; 2 sec</a:t>
            </a:r>
          </a:p>
          <a:p>
            <a:r>
              <a:rPr lang="en-US" dirty="0"/>
              <a:t>Security: authorized access only</a:t>
            </a:r>
          </a:p>
          <a:p>
            <a:r>
              <a:rPr lang="en-US" dirty="0"/>
              <a:t>Usability: easy to learn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386DF-20FE-D636-CD96-50B4C309E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E8214-B7AA-A392-DD41-02C51F1D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67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D6D2-01A0-39C9-9765-1A83787E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6FE1-BB98-7C29-6FA5-12014EF8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Elicitation</a:t>
            </a:r>
          </a:p>
          <a:p>
            <a:r>
              <a:rPr lang="en-US" dirty="0"/>
              <a:t>Specification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CA9B4-0C8B-5ECE-2E9C-059F9BBC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A6D6E-B92C-0DCD-B928-3B7EF24E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7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1CEB-6D3F-1CF9-C391-17879B50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D73B-156A-9A3F-8961-61485999A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Gathering requirements from stakeholders</a:t>
            </a:r>
          </a:p>
          <a:p>
            <a:r>
              <a:rPr lang="en-US" dirty="0"/>
              <a:t>Understanding user needs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2E1DC-134F-543B-4E5A-CB770086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B8F1F-3721-1016-9447-7C7016D6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4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6CE0-F16B-FFCF-A0AA-84C039136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Elicitation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77CB-3983-2A21-6B12-8010898D7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Stakeholders unclear</a:t>
            </a:r>
          </a:p>
          <a:p>
            <a:r>
              <a:rPr lang="en-US" dirty="0"/>
              <a:t>Conflicting requirements</a:t>
            </a:r>
          </a:p>
          <a:p>
            <a:r>
              <a:rPr lang="en-US" dirty="0"/>
              <a:t>Communication gaps</a:t>
            </a:r>
          </a:p>
          <a:p>
            <a:r>
              <a:rPr lang="en-US" dirty="0"/>
              <a:t>Changing environment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C15CB-9637-38A9-43F2-8C773766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3AAF5-ADA6-D376-DDF5-9B77C23A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98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7548-3D84-A967-A9D8-EC6FBF54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Elicitation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73E6-EA95-696B-22AD-1220E16C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Discovery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Negotiation</a:t>
            </a:r>
          </a:p>
          <a:p>
            <a:r>
              <a:rPr lang="en-US" dirty="0"/>
              <a:t>Documentation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95409-6EAE-D4F4-599D-747B8333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34044-03AB-5C1E-DFAA-DAB1844A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BDC957-E0B7-81D2-8772-59A613D4A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245" y="2286000"/>
            <a:ext cx="430911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47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15F5-A7AC-587A-0149-F5CA3248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Elicitation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242BB-8D6A-493A-1DE3-90F1E3EC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Interviews</a:t>
            </a:r>
          </a:p>
          <a:p>
            <a:r>
              <a:rPr lang="en-US" dirty="0"/>
              <a:t>Questionnaires and Surveys</a:t>
            </a:r>
          </a:p>
          <a:p>
            <a:r>
              <a:rPr lang="en-US" dirty="0"/>
              <a:t>Workshops and Brainstorming</a:t>
            </a:r>
          </a:p>
          <a:p>
            <a:r>
              <a:rPr lang="en-US" dirty="0"/>
              <a:t>Use Cases and User Stories</a:t>
            </a:r>
          </a:p>
          <a:p>
            <a:r>
              <a:rPr lang="en-US" dirty="0"/>
              <a:t>Prototyping</a:t>
            </a:r>
          </a:p>
          <a:p>
            <a:r>
              <a:rPr lang="en-US" dirty="0"/>
              <a:t>Observation</a:t>
            </a:r>
          </a:p>
          <a:p>
            <a:r>
              <a:rPr lang="en-US" dirty="0"/>
              <a:t>Document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F02A5-DEA2-CB1D-CF81-59A07ACD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8AB9-1FD7-AC16-57F8-05FD45F1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09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3CEA-AA2B-4C0A-6D98-01562C20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2EB3-4A5A-462B-7151-5F735428B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requirements into document</a:t>
            </a:r>
          </a:p>
          <a:p>
            <a:r>
              <a:rPr lang="en-US" dirty="0"/>
              <a:t>Creates Software Requirements Specification (SRS)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42C6C-86A4-B239-66BC-60235BAC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94E7F-6074-538B-A6C2-5DA18ED1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62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E9DB-5AC9-D0FE-F4F2-58C53AA2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8C8E-EAF8-6ADE-E242-38BB0FAD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Natural language</a:t>
            </a:r>
          </a:p>
          <a:p>
            <a:r>
              <a:rPr lang="en-US" dirty="0"/>
              <a:t>Structured language</a:t>
            </a:r>
          </a:p>
          <a:p>
            <a:r>
              <a:rPr lang="en-US" dirty="0"/>
              <a:t>Graphical models (UML)</a:t>
            </a:r>
          </a:p>
          <a:p>
            <a:r>
              <a:rPr lang="en-US" dirty="0"/>
              <a:t>Mathematical models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4A059-CF8C-765A-DF33-F95BA5B8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CE50B-B7B3-1475-A00D-31DE1DC2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83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0F8C-44B4-DD94-8FBB-DDC613A10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3ACC4-F22D-A2D9-794C-4BFE4D62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EF465-59D7-C1B0-FBEE-5EE5DFD3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02772-E2CF-1F4D-9313-C7A81A05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590800"/>
            <a:ext cx="6545263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3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377C-D046-02FA-1FEF-A9C2CBB0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Specification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04103-7F79-5317-10EF-63B4F3F8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418DE-BAB7-1F7C-F7B1-43A52F4C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553F1-F434-1813-5085-3CBD39C4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3600"/>
            <a:ext cx="6656092" cy="353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83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B5B1-737F-0020-80B0-346DA86D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Models-Use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91ECC-50D2-F2A7-C8F5-1640FF26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0EDA5-98CE-9A9F-DF40-5EABB59C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65132-AD7D-ED6F-FA3C-31C821D37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165" y="2133601"/>
            <a:ext cx="471566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18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22F5-736A-39A3-3A9A-4A1B3D4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Specification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BC1A2-7341-B089-9C3F-5B103E61C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standard format</a:t>
            </a:r>
          </a:p>
          <a:p>
            <a:r>
              <a:rPr lang="en-US" dirty="0"/>
              <a:t>Use “shall” for mandatory</a:t>
            </a:r>
          </a:p>
          <a:p>
            <a:r>
              <a:rPr lang="en-US" dirty="0"/>
              <a:t>Avoid ambiguity</a:t>
            </a:r>
          </a:p>
          <a:p>
            <a:r>
              <a:rPr lang="en-US" dirty="0"/>
              <a:t>Keep it simple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86F14-14D9-3C7D-0B5C-34ACF614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D6D8B-1337-BEBE-6506-82D28359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7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8C85-F73A-092E-B83B-8E2D44A2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298C-CC9C-B104-477C-BBDF09EB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correctness of requirements</a:t>
            </a:r>
          </a:p>
          <a:p>
            <a:r>
              <a:rPr lang="en-US" dirty="0"/>
              <a:t>Ensure system meets user needs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1BC1E-5044-E665-7F36-3B1B2656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ADE21-33A9-EEB5-1F84-BAC2426B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6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E297-BE43-A17C-A73D-5792403E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EEDF-0E68-ACDD-0D6E-32A0C4A2E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Validity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Completeness</a:t>
            </a:r>
          </a:p>
          <a:p>
            <a:r>
              <a:rPr lang="en-US" dirty="0"/>
              <a:t>Realism</a:t>
            </a:r>
          </a:p>
          <a:p>
            <a:r>
              <a:rPr lang="en-US" dirty="0"/>
              <a:t>Verifiability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2520F-3385-A915-DDC2-5BDD8255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8AFE1-E322-8772-563C-09C2BA1A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92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DD01-0456-7E6C-26BB-0C2CD726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EC96-F624-93A1-FBF7-834BE1D6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Reviews</a:t>
            </a:r>
          </a:p>
          <a:p>
            <a:r>
              <a:rPr lang="en-US" dirty="0"/>
              <a:t>Prototyping</a:t>
            </a:r>
          </a:p>
          <a:p>
            <a:r>
              <a:rPr lang="en-US" dirty="0"/>
              <a:t>Test-case generation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FBFF3-2F79-7886-B7A4-1E93D95E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F23CC-6E4E-7907-6E3B-A421DA7F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5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1301-AED1-667D-C5C4-4EDE9627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A16F-EB8F-1982-8A54-FD8FAD11A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changing requirements</a:t>
            </a:r>
          </a:p>
          <a:p>
            <a:r>
              <a:rPr lang="en-US" dirty="0"/>
              <a:t>Tracking requirement changes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15354-F1AC-B11D-76FA-8C7C5045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D4A43-05C2-AC30-D190-D7539D5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74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A95E-7A6F-32DC-57A2-09671A70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B87D-9144-611B-DBFB-B6CA5793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  <a:p>
            <a:r>
              <a:rPr lang="en-US" dirty="0"/>
              <a:t>Change analysis &amp; costing</a:t>
            </a:r>
          </a:p>
          <a:p>
            <a:r>
              <a:rPr lang="en-US" dirty="0"/>
              <a:t>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1BB9-BD8E-548C-558D-E6C7A344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F1A48-CEBD-EEA0-4C1E-83F36C6D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A05CC-B428-134E-E626-13E4F5417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191000"/>
            <a:ext cx="6821275" cy="10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37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E36B-CDE5-65C1-DC6F-608195A4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A7D5-015F-264F-F950-88031F15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 is critical in software development</a:t>
            </a:r>
          </a:p>
          <a:p>
            <a:r>
              <a:rPr lang="en-US" dirty="0"/>
              <a:t>Requirements must be clear and testable</a:t>
            </a:r>
          </a:p>
          <a:p>
            <a:r>
              <a:rPr lang="en-US" dirty="0"/>
              <a:t>Process is iterative</a:t>
            </a:r>
          </a:p>
          <a:p>
            <a:r>
              <a:rPr lang="en-US" dirty="0"/>
              <a:t>Good RE reduces risks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39C8D-4C17-EBD4-87EF-1E8D7F66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6A05C-F3F4-8128-53E7-1681A20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9650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2080</TotalTime>
  <Words>554</Words>
  <Application>Microsoft Office PowerPoint</Application>
  <PresentationFormat>On-screen Show (4:3)</PresentationFormat>
  <Paragraphs>179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HNDIT</vt:lpstr>
      <vt:lpstr>Software Engineering IT4012</vt:lpstr>
      <vt:lpstr>Learning Objectives</vt:lpstr>
      <vt:lpstr>What is a Requirement?</vt:lpstr>
      <vt:lpstr>What is Requirements Engineering ?</vt:lpstr>
      <vt:lpstr>Importance of RE</vt:lpstr>
      <vt:lpstr>Types of Requirements</vt:lpstr>
      <vt:lpstr>User Requirements</vt:lpstr>
      <vt:lpstr>System Requirements</vt:lpstr>
      <vt:lpstr>Functional Requirements</vt:lpstr>
      <vt:lpstr>Functional Requirements (Examples)</vt:lpstr>
      <vt:lpstr>Non-Functional Requirements</vt:lpstr>
      <vt:lpstr>Types of Non-Functional Requirements</vt:lpstr>
      <vt:lpstr>Examples of Non-Functional Requirements</vt:lpstr>
      <vt:lpstr>RE Process Overview</vt:lpstr>
      <vt:lpstr>Requirements Elicitation</vt:lpstr>
      <vt:lpstr>Elicitation Challenges</vt:lpstr>
      <vt:lpstr>Elicitation Activities</vt:lpstr>
      <vt:lpstr>Common Elicitation Techniques</vt:lpstr>
      <vt:lpstr>Requirements Specification</vt:lpstr>
      <vt:lpstr>Types of Specification</vt:lpstr>
      <vt:lpstr>Natural Language</vt:lpstr>
      <vt:lpstr>Structured Specification</vt:lpstr>
      <vt:lpstr>Graphical Models-Use case</vt:lpstr>
      <vt:lpstr>Good Specification Practices</vt:lpstr>
      <vt:lpstr>Requirements Validation</vt:lpstr>
      <vt:lpstr>Validation Checks</vt:lpstr>
      <vt:lpstr>Validation Techniques</vt:lpstr>
      <vt:lpstr>Requirements Management</vt:lpstr>
      <vt:lpstr>Change Management Process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Software Engineering</dc:title>
  <dc:creator>Gayan</dc:creator>
  <cp:lastModifiedBy>Gayan Sudharshana</cp:lastModifiedBy>
  <cp:revision>58</cp:revision>
  <dcterms:created xsi:type="dcterms:W3CDTF">2018-05-21T18:09:50Z</dcterms:created>
  <dcterms:modified xsi:type="dcterms:W3CDTF">2026-05-02T06:38:14Z</dcterms:modified>
</cp:coreProperties>
</file>