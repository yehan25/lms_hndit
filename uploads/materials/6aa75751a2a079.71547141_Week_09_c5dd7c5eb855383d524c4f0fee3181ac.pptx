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2E2923-37B0-4CB1-B41D-9B8694A8B114}">
  <a:tblStyle styleId="{452E2923-37B0-4CB1-B41D-9B8694A8B11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70780111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70780111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07801112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07801112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707801112f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707801112f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6a89426c41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6a89426c41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a89426c41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6a89426c41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6a89426c41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6a89426c41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Independent testing: Black box testing is performed by testers who are not involved in the development of the application, which helps to ensure that testing is unbiased and impartial.</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Testing from a user’s perspective: Black box testing is conducted from the perspective of an end user, which helps to ensure that the application meets user requirements and is easy to use.</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No knowledge of internal code: Testers performing black box testing do not have access to the application’s internal code, which allows them to focus on testing the application’s external behaviour and functionality.</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Requirements-based testing: Black box testing is typically based on the application’s requirements, which helps to ensure that the application meets the required specifications.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Different testing techniques: Black box testing can be performed using various testing techniques, such as functional testing, usability testing, acceptance testing, and regression testing.</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Easy to automate: Black box testing is easy to automate using various automation tools, which helps to reduce the overall testing time and effort.</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Scalability: Black box testing can be scaled up or down depending on the size and complexity of the application being tested.</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Limited knowledge of application: Testers performing black box testing have limited knowledge of the application being tested, which helps to ensure that testing is more representative of how the end users will interact with the application.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6a89426c41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6a89426c41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a117d3ff3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a117d3ff3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Black Box Testing</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t>
            </a:r>
            <a:r>
              <a:rPr lang="en"/>
              <a:t>Black Box Testing</a:t>
            </a:r>
            <a:endParaRPr/>
          </a:p>
        </p:txBody>
      </p:sp>
      <p:sp>
        <p:nvSpPr>
          <p:cNvPr id="99" name="Google Shape;99;p15"/>
          <p:cNvSpPr txBox="1"/>
          <p:nvPr>
            <p:ph idx="1" type="body"/>
          </p:nvPr>
        </p:nvSpPr>
        <p:spPr>
          <a:xfrm>
            <a:off x="729450" y="1168050"/>
            <a:ext cx="7688700" cy="39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Black-box testing is a type of software testing in which the tester is not concerned with the internal knowledge or implementation details of the software but rather focuses on validating the functionality based on the provided specifications or requirements.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Black Box Testing</a:t>
            </a:r>
            <a:endParaRPr/>
          </a:p>
        </p:txBody>
      </p:sp>
      <p:sp>
        <p:nvSpPr>
          <p:cNvPr id="105" name="Google Shape;105;p16"/>
          <p:cNvSpPr txBox="1"/>
          <p:nvPr>
            <p:ph idx="1" type="body"/>
          </p:nvPr>
        </p:nvSpPr>
        <p:spPr>
          <a:xfrm>
            <a:off x="729450" y="1168050"/>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Black Box Testing : tester tests the application.software by applying different inputs and comparing the output with expected results.</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It is also known as Behavioural Testing.</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pic>
        <p:nvPicPr>
          <p:cNvPr id="106" name="Google Shape;106;p16"/>
          <p:cNvPicPr preferRelativeResize="0"/>
          <p:nvPr/>
        </p:nvPicPr>
        <p:blipFill>
          <a:blip r:embed="rId3">
            <a:alphaModFix/>
          </a:blip>
          <a:stretch>
            <a:fillRect/>
          </a:stretch>
        </p:blipFill>
        <p:spPr>
          <a:xfrm>
            <a:off x="1638300" y="3067050"/>
            <a:ext cx="4514850" cy="1152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Types Of Black Box Testing</a:t>
            </a:r>
            <a:endParaRPr sz="2540"/>
          </a:p>
        </p:txBody>
      </p:sp>
      <p:sp>
        <p:nvSpPr>
          <p:cNvPr id="112" name="Google Shape;112;p17"/>
          <p:cNvSpPr txBox="1"/>
          <p:nvPr>
            <p:ph idx="1" type="body"/>
          </p:nvPr>
        </p:nvSpPr>
        <p:spPr>
          <a:xfrm>
            <a:off x="729450" y="1240675"/>
            <a:ext cx="7688700" cy="9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The following are the several categories of black box testing: </a:t>
            </a:r>
            <a:endParaRPr sz="1800"/>
          </a:p>
          <a:p>
            <a:pPr indent="-342900" lvl="0" marL="457200" rtl="0" algn="l">
              <a:spcBef>
                <a:spcPts val="1200"/>
              </a:spcBef>
              <a:spcAft>
                <a:spcPts val="0"/>
              </a:spcAft>
              <a:buSzPts val="1800"/>
              <a:buChar char="●"/>
            </a:pPr>
            <a:r>
              <a:rPr lang="en" sz="1800"/>
              <a:t>Functional Testing </a:t>
            </a:r>
            <a:endParaRPr sz="1800"/>
          </a:p>
          <a:p>
            <a:pPr indent="-342900" lvl="0" marL="457200" rtl="0" algn="l">
              <a:spcBef>
                <a:spcPts val="0"/>
              </a:spcBef>
              <a:spcAft>
                <a:spcPts val="0"/>
              </a:spcAft>
              <a:buSzPts val="1800"/>
              <a:buChar char="●"/>
            </a:pPr>
            <a:r>
              <a:rPr lang="en" sz="1800"/>
              <a:t>Regression Testing</a:t>
            </a:r>
            <a:endParaRPr sz="1800"/>
          </a:p>
          <a:p>
            <a:pPr indent="-342900" lvl="0" marL="457200" rtl="0" algn="l">
              <a:spcBef>
                <a:spcPts val="0"/>
              </a:spcBef>
              <a:spcAft>
                <a:spcPts val="0"/>
              </a:spcAft>
              <a:buSzPts val="1800"/>
              <a:buChar char="●"/>
            </a:pPr>
            <a:r>
              <a:rPr lang="en" sz="1800"/>
              <a:t>Nonfunctional Testing (NFT)</a:t>
            </a:r>
            <a:endParaRPr sz="1800"/>
          </a:p>
          <a:p>
            <a:pPr indent="0" lvl="0" marL="0" rtl="0" algn="l">
              <a:spcBef>
                <a:spcPts val="1200"/>
              </a:spcBef>
              <a:spcAft>
                <a:spcPts val="0"/>
              </a:spcAft>
              <a:buNone/>
            </a:pPr>
            <a:r>
              <a:rPr b="1" lang="en" sz="2540">
                <a:solidFill>
                  <a:schemeClr val="dk2"/>
                </a:solidFill>
                <a:latin typeface="Raleway"/>
                <a:ea typeface="Raleway"/>
                <a:cs typeface="Raleway"/>
                <a:sym typeface="Raleway"/>
              </a:rPr>
              <a:t>What can be identified by Black Box Testing</a:t>
            </a:r>
            <a:endParaRPr sz="1800"/>
          </a:p>
          <a:p>
            <a:pPr indent="-342900" lvl="0" marL="457200" rtl="0" algn="l">
              <a:spcBef>
                <a:spcPts val="1200"/>
              </a:spcBef>
              <a:spcAft>
                <a:spcPts val="0"/>
              </a:spcAft>
              <a:buSzPts val="1800"/>
              <a:buChar char="●"/>
            </a:pPr>
            <a:r>
              <a:rPr lang="en" sz="1800"/>
              <a:t>Discovers missing functions, incorrect function &amp; interface errors</a:t>
            </a:r>
            <a:endParaRPr sz="1800"/>
          </a:p>
          <a:p>
            <a:pPr indent="-342900" lvl="0" marL="457200" rtl="0" algn="l">
              <a:spcBef>
                <a:spcPts val="0"/>
              </a:spcBef>
              <a:spcAft>
                <a:spcPts val="0"/>
              </a:spcAft>
              <a:buSzPts val="1800"/>
              <a:buChar char="●"/>
            </a:pPr>
            <a:r>
              <a:rPr lang="en" sz="1800"/>
              <a:t>Discover the errors faced in accessing the database</a:t>
            </a:r>
            <a:endParaRPr sz="1800"/>
          </a:p>
          <a:p>
            <a:pPr indent="-342900" lvl="0" marL="457200" rtl="0" algn="l">
              <a:spcBef>
                <a:spcPts val="0"/>
              </a:spcBef>
              <a:spcAft>
                <a:spcPts val="0"/>
              </a:spcAft>
              <a:buSzPts val="1800"/>
              <a:buChar char="●"/>
            </a:pPr>
            <a:r>
              <a:rPr lang="en" sz="1800"/>
              <a:t>Discovers the errors that occur while initiating &amp; terminating any functions.</a:t>
            </a:r>
            <a:endParaRPr sz="1800"/>
          </a:p>
          <a:p>
            <a:pPr indent="-342900" lvl="0" marL="457200" rtl="0" algn="l">
              <a:spcBef>
                <a:spcPts val="0"/>
              </a:spcBef>
              <a:spcAft>
                <a:spcPts val="0"/>
              </a:spcAft>
              <a:buSzPts val="1800"/>
              <a:buChar char="●"/>
            </a:pPr>
            <a:r>
              <a:rPr lang="en" sz="1800"/>
              <a:t>Discovers the errors in performance or behaviour of software.</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Techniques in Black Box Testing</a:t>
            </a:r>
            <a:endParaRPr/>
          </a:p>
        </p:txBody>
      </p:sp>
      <p:sp>
        <p:nvSpPr>
          <p:cNvPr id="118" name="Google Shape;118;p18"/>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rgbClr val="4B4F58"/>
              </a:buClr>
              <a:buSzPts val="1800"/>
              <a:buChar char="-"/>
            </a:pPr>
            <a:r>
              <a:rPr lang="en" sz="1800">
                <a:solidFill>
                  <a:srgbClr val="4B4F58"/>
                </a:solidFill>
              </a:rPr>
              <a:t>Boundary Value Analysis</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Equivalence class partitioning</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Decision Table based testing</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State Transition</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Error guessing</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Advantages of Black Box Testing</a:t>
            </a:r>
            <a:endParaRPr sz="2540"/>
          </a:p>
        </p:txBody>
      </p:sp>
      <p:sp>
        <p:nvSpPr>
          <p:cNvPr id="124" name="Google Shape;124;p19"/>
          <p:cNvSpPr txBox="1"/>
          <p:nvPr>
            <p:ph idx="1" type="body"/>
          </p:nvPr>
        </p:nvSpPr>
        <p:spPr>
          <a:xfrm>
            <a:off x="729450" y="1240675"/>
            <a:ext cx="7688700" cy="323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800"/>
          </a:p>
          <a:p>
            <a:pPr indent="-342900" lvl="0" marL="457200" rtl="0" algn="l">
              <a:spcBef>
                <a:spcPts val="1200"/>
              </a:spcBef>
              <a:spcAft>
                <a:spcPts val="0"/>
              </a:spcAft>
              <a:buSzPts val="1800"/>
              <a:buChar char="-"/>
            </a:pPr>
            <a:r>
              <a:rPr lang="en" sz="1800"/>
              <a:t>The tester does not need to have more functional knowledge or programming skills to implement the Black Box Testing.</a:t>
            </a:r>
            <a:endParaRPr sz="1800"/>
          </a:p>
          <a:p>
            <a:pPr indent="-342900" lvl="0" marL="457200" rtl="0" algn="l">
              <a:spcBef>
                <a:spcPts val="0"/>
              </a:spcBef>
              <a:spcAft>
                <a:spcPts val="0"/>
              </a:spcAft>
              <a:buSzPts val="1800"/>
              <a:buChar char="-"/>
            </a:pPr>
            <a:r>
              <a:rPr lang="en" sz="1800"/>
              <a:t>It is efficient for implementing the tests in the larger system.</a:t>
            </a:r>
            <a:endParaRPr sz="1800"/>
          </a:p>
          <a:p>
            <a:pPr indent="-342900" lvl="0" marL="457200" rtl="0" algn="l">
              <a:spcBef>
                <a:spcPts val="0"/>
              </a:spcBef>
              <a:spcAft>
                <a:spcPts val="0"/>
              </a:spcAft>
              <a:buSzPts val="1800"/>
              <a:buChar char="-"/>
            </a:pPr>
            <a:r>
              <a:rPr lang="en" sz="1800"/>
              <a:t>Tests are executed from the user’s or client’s point of view.</a:t>
            </a:r>
            <a:endParaRPr sz="1800"/>
          </a:p>
          <a:p>
            <a:pPr indent="-342900" lvl="0" marL="457200" rtl="0" algn="l">
              <a:spcBef>
                <a:spcPts val="0"/>
              </a:spcBef>
              <a:spcAft>
                <a:spcPts val="0"/>
              </a:spcAft>
              <a:buSzPts val="1800"/>
              <a:buChar char="-"/>
            </a:pPr>
            <a:r>
              <a:rPr lang="en" sz="1800"/>
              <a:t>Test cases are easily reproducible.</a:t>
            </a:r>
            <a:endParaRPr sz="1800"/>
          </a:p>
          <a:p>
            <a:pPr indent="-342900" lvl="0" marL="457200" rtl="0" algn="l">
              <a:spcBef>
                <a:spcPts val="0"/>
              </a:spcBef>
              <a:spcAft>
                <a:spcPts val="0"/>
              </a:spcAft>
              <a:buSzPts val="1800"/>
              <a:buChar char="-"/>
            </a:pPr>
            <a:r>
              <a:rPr lang="en" sz="1800"/>
              <a:t>It is used to find the ambiguity and contradictions in the functional specifications.</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Disadvantages of Black Box Testing</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30" name="Google Shape;130;p20"/>
          <p:cNvSpPr txBox="1"/>
          <p:nvPr>
            <p:ph idx="1" type="body"/>
          </p:nvPr>
        </p:nvSpPr>
        <p:spPr>
          <a:xfrm>
            <a:off x="729450" y="1240675"/>
            <a:ext cx="7688700" cy="363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There is a possibility of repeating the same tests while implementing the testing process.</a:t>
            </a:r>
            <a:endParaRPr sz="1800"/>
          </a:p>
          <a:p>
            <a:pPr indent="-342900" lvl="0" marL="457200" rtl="0" algn="l">
              <a:spcBef>
                <a:spcPts val="0"/>
              </a:spcBef>
              <a:spcAft>
                <a:spcPts val="0"/>
              </a:spcAft>
              <a:buSzPts val="1800"/>
              <a:buChar char="-"/>
            </a:pPr>
            <a:r>
              <a:rPr lang="en" sz="1800"/>
              <a:t>Without clear functional specifications, test cases are difficult to implement.</a:t>
            </a:r>
            <a:endParaRPr sz="1800"/>
          </a:p>
          <a:p>
            <a:pPr indent="-342900" lvl="0" marL="457200" rtl="0" algn="l">
              <a:spcBef>
                <a:spcPts val="0"/>
              </a:spcBef>
              <a:spcAft>
                <a:spcPts val="0"/>
              </a:spcAft>
              <a:buSzPts val="1800"/>
              <a:buChar char="-"/>
            </a:pPr>
            <a:r>
              <a:rPr lang="en" sz="1800"/>
              <a:t>It is difficult to execute the test cases because of complex inputs at different stages of testing.</a:t>
            </a:r>
            <a:endParaRPr sz="1800"/>
          </a:p>
          <a:p>
            <a:pPr indent="-342900" lvl="0" marL="457200" rtl="0" algn="l">
              <a:spcBef>
                <a:spcPts val="0"/>
              </a:spcBef>
              <a:spcAft>
                <a:spcPts val="0"/>
              </a:spcAft>
              <a:buSzPts val="1800"/>
              <a:buChar char="-"/>
            </a:pPr>
            <a:r>
              <a:rPr lang="en" sz="1800"/>
              <a:t>Sometimes, the reason for the test failure cannot be detected.</a:t>
            </a:r>
            <a:endParaRPr sz="1800"/>
          </a:p>
          <a:p>
            <a:pPr indent="-342900" lvl="0" marL="457200" rtl="0" algn="l">
              <a:spcBef>
                <a:spcPts val="0"/>
              </a:spcBef>
              <a:spcAft>
                <a:spcPts val="0"/>
              </a:spcAft>
              <a:buSzPts val="1800"/>
              <a:buChar char="-"/>
            </a:pPr>
            <a:r>
              <a:rPr lang="en" sz="1800"/>
              <a:t>Some programs in the application are not tested.</a:t>
            </a:r>
            <a:endParaRPr sz="1800"/>
          </a:p>
          <a:p>
            <a:pPr indent="-342900" lvl="0" marL="457200" rtl="0" algn="l">
              <a:spcBef>
                <a:spcPts val="0"/>
              </a:spcBef>
              <a:spcAft>
                <a:spcPts val="0"/>
              </a:spcAft>
              <a:buSzPts val="1800"/>
              <a:buChar char="-"/>
            </a:pPr>
            <a:r>
              <a:rPr lang="en" sz="1800"/>
              <a:t>It does not reveal the errors in the control structure.</a:t>
            </a:r>
            <a:endParaRPr sz="1800"/>
          </a:p>
          <a:p>
            <a:pPr indent="-342900" lvl="0" marL="457200" rtl="0" algn="l">
              <a:spcBef>
                <a:spcPts val="0"/>
              </a:spcBef>
              <a:spcAft>
                <a:spcPts val="0"/>
              </a:spcAft>
              <a:buSzPts val="1800"/>
              <a:buChar char="-"/>
            </a:pPr>
            <a:r>
              <a:rPr lang="en" sz="1800"/>
              <a:t>Working with a large sample space of inputs can be exhaustive and consumes a lot of time.</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Features of black box testing</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36" name="Google Shape;136;p21"/>
          <p:cNvSpPr txBox="1"/>
          <p:nvPr>
            <p:ph idx="1" type="body"/>
          </p:nvPr>
        </p:nvSpPr>
        <p:spPr>
          <a:xfrm>
            <a:off x="729450" y="1240675"/>
            <a:ext cx="7688700" cy="366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Independent testing</a:t>
            </a:r>
            <a:endParaRPr sz="1800"/>
          </a:p>
          <a:p>
            <a:pPr indent="-342900" lvl="0" marL="457200" rtl="0" algn="l">
              <a:spcBef>
                <a:spcPts val="0"/>
              </a:spcBef>
              <a:spcAft>
                <a:spcPts val="0"/>
              </a:spcAft>
              <a:buSzPts val="1800"/>
              <a:buChar char="-"/>
            </a:pPr>
            <a:r>
              <a:rPr lang="en" sz="1800"/>
              <a:t>Testing from a user’s perspective</a:t>
            </a:r>
            <a:endParaRPr sz="1800"/>
          </a:p>
          <a:p>
            <a:pPr indent="-342900" lvl="0" marL="457200" rtl="0" algn="l">
              <a:spcBef>
                <a:spcPts val="0"/>
              </a:spcBef>
              <a:spcAft>
                <a:spcPts val="0"/>
              </a:spcAft>
              <a:buSzPts val="1800"/>
              <a:buChar char="-"/>
            </a:pPr>
            <a:r>
              <a:rPr lang="en" sz="1800"/>
              <a:t>No knowledge of internal code</a:t>
            </a:r>
            <a:endParaRPr sz="1800"/>
          </a:p>
          <a:p>
            <a:pPr indent="-342900" lvl="0" marL="457200" rtl="0" algn="l">
              <a:spcBef>
                <a:spcPts val="0"/>
              </a:spcBef>
              <a:spcAft>
                <a:spcPts val="0"/>
              </a:spcAft>
              <a:buSzPts val="1800"/>
              <a:buChar char="-"/>
            </a:pPr>
            <a:r>
              <a:rPr lang="en" sz="1800"/>
              <a:t>Requirements-based testing</a:t>
            </a:r>
            <a:endParaRPr sz="1800"/>
          </a:p>
          <a:p>
            <a:pPr indent="-342900" lvl="0" marL="457200" rtl="0" algn="l">
              <a:spcBef>
                <a:spcPts val="0"/>
              </a:spcBef>
              <a:spcAft>
                <a:spcPts val="0"/>
              </a:spcAft>
              <a:buSzPts val="1800"/>
              <a:buChar char="-"/>
            </a:pPr>
            <a:r>
              <a:rPr lang="en" sz="1800"/>
              <a:t>Different testing techniques</a:t>
            </a:r>
            <a:endParaRPr sz="1800"/>
          </a:p>
          <a:p>
            <a:pPr indent="-342900" lvl="0" marL="457200" rtl="0" algn="l">
              <a:spcBef>
                <a:spcPts val="0"/>
              </a:spcBef>
              <a:spcAft>
                <a:spcPts val="0"/>
              </a:spcAft>
              <a:buSzPts val="1800"/>
              <a:buChar char="-"/>
            </a:pPr>
            <a:r>
              <a:rPr lang="en" sz="1800"/>
              <a:t>Easy to automate</a:t>
            </a:r>
            <a:endParaRPr sz="1800"/>
          </a:p>
          <a:p>
            <a:pPr indent="-342900" lvl="0" marL="457200" rtl="0" algn="l">
              <a:spcBef>
                <a:spcPts val="0"/>
              </a:spcBef>
              <a:spcAft>
                <a:spcPts val="0"/>
              </a:spcAft>
              <a:buSzPts val="1800"/>
              <a:buChar char="-"/>
            </a:pPr>
            <a:r>
              <a:rPr lang="en" sz="1800"/>
              <a:t>Scalability</a:t>
            </a:r>
            <a:endParaRPr sz="1800"/>
          </a:p>
          <a:p>
            <a:pPr indent="-342900" lvl="0" marL="457200" rtl="0" algn="l">
              <a:spcBef>
                <a:spcPts val="0"/>
              </a:spcBef>
              <a:spcAft>
                <a:spcPts val="0"/>
              </a:spcAft>
              <a:buSzPts val="1800"/>
              <a:buChar char="-"/>
            </a:pPr>
            <a:r>
              <a:rPr lang="en" sz="1800"/>
              <a:t>Limited knowledge of application</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Tools Used for Black Box Testing:</a:t>
            </a:r>
            <a:endParaRPr sz="2540"/>
          </a:p>
        </p:txBody>
      </p:sp>
      <p:sp>
        <p:nvSpPr>
          <p:cNvPr id="142" name="Google Shape;142;p22"/>
          <p:cNvSpPr txBox="1"/>
          <p:nvPr>
            <p:ph idx="1" type="body"/>
          </p:nvPr>
        </p:nvSpPr>
        <p:spPr>
          <a:xfrm>
            <a:off x="729450" y="1240675"/>
            <a:ext cx="7688700" cy="336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800"/>
          </a:p>
          <a:p>
            <a:pPr indent="-342900" lvl="0" marL="457200" rtl="0" algn="l">
              <a:spcBef>
                <a:spcPts val="1200"/>
              </a:spcBef>
              <a:spcAft>
                <a:spcPts val="0"/>
              </a:spcAft>
              <a:buSzPts val="1800"/>
              <a:buChar char="❏"/>
            </a:pPr>
            <a:r>
              <a:rPr lang="en" sz="1800"/>
              <a:t>Appium</a:t>
            </a:r>
            <a:endParaRPr sz="1800"/>
          </a:p>
          <a:p>
            <a:pPr indent="-342900" lvl="0" marL="457200" rtl="0" algn="l">
              <a:spcBef>
                <a:spcPts val="0"/>
              </a:spcBef>
              <a:spcAft>
                <a:spcPts val="0"/>
              </a:spcAft>
              <a:buSzPts val="1800"/>
              <a:buChar char="❏"/>
            </a:pPr>
            <a:r>
              <a:rPr lang="en" sz="1800"/>
              <a:t>Selenium</a:t>
            </a:r>
            <a:endParaRPr sz="1800"/>
          </a:p>
          <a:p>
            <a:pPr indent="-342900" lvl="0" marL="457200" rtl="0" algn="l">
              <a:spcBef>
                <a:spcPts val="0"/>
              </a:spcBef>
              <a:spcAft>
                <a:spcPts val="0"/>
              </a:spcAft>
              <a:buSzPts val="1800"/>
              <a:buChar char="❏"/>
            </a:pPr>
            <a:r>
              <a:rPr lang="en" sz="1800"/>
              <a:t>Microsoft Coded UI</a:t>
            </a:r>
            <a:endParaRPr sz="1800"/>
          </a:p>
          <a:p>
            <a:pPr indent="-342900" lvl="0" marL="457200" rtl="0" algn="l">
              <a:spcBef>
                <a:spcPts val="0"/>
              </a:spcBef>
              <a:spcAft>
                <a:spcPts val="0"/>
              </a:spcAft>
              <a:buSzPts val="1800"/>
              <a:buChar char="❏"/>
            </a:pPr>
            <a:r>
              <a:rPr lang="en" sz="1800"/>
              <a:t>Applitools</a:t>
            </a:r>
            <a:endParaRPr sz="1800"/>
          </a:p>
          <a:p>
            <a:pPr indent="-342900" lvl="0" marL="457200" rtl="0" algn="l">
              <a:spcBef>
                <a:spcPts val="0"/>
              </a:spcBef>
              <a:spcAft>
                <a:spcPts val="0"/>
              </a:spcAft>
              <a:buSzPts val="1800"/>
              <a:buChar char="❏"/>
            </a:pPr>
            <a:r>
              <a:rPr lang="en" sz="1800"/>
              <a:t>HP QTP.</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Black Box Vs White Box Testing</a:t>
            </a:r>
            <a:endParaRPr/>
          </a:p>
        </p:txBody>
      </p:sp>
      <p:graphicFrame>
        <p:nvGraphicFramePr>
          <p:cNvPr id="148" name="Google Shape;148;p23"/>
          <p:cNvGraphicFramePr/>
          <p:nvPr/>
        </p:nvGraphicFramePr>
        <p:xfrm>
          <a:off x="243800" y="1168050"/>
          <a:ext cx="3000000" cy="3000000"/>
        </p:xfrm>
        <a:graphic>
          <a:graphicData uri="http://schemas.openxmlformats.org/drawingml/2006/table">
            <a:tbl>
              <a:tblPr>
                <a:noFill/>
                <a:tableStyleId>{452E2923-37B0-4CB1-B41D-9B8694A8B114}</a:tableStyleId>
              </a:tblPr>
              <a:tblGrid>
                <a:gridCol w="1834950"/>
                <a:gridCol w="3438450"/>
                <a:gridCol w="3456050"/>
              </a:tblGrid>
              <a:tr h="366225">
                <a:tc>
                  <a:txBody>
                    <a:bodyPr/>
                    <a:lstStyle/>
                    <a:p>
                      <a:pPr indent="0" lvl="0" marL="0" rtl="0" algn="ctr">
                        <a:spcBef>
                          <a:spcPts val="0"/>
                        </a:spcBef>
                        <a:spcAft>
                          <a:spcPts val="0"/>
                        </a:spcAft>
                        <a:buNone/>
                      </a:pPr>
                      <a:r>
                        <a:rPr b="1" lang="en">
                          <a:latin typeface="Lato"/>
                          <a:ea typeface="Lato"/>
                          <a:cs typeface="Lato"/>
                          <a:sym typeface="Lato"/>
                        </a:rPr>
                        <a:t>Area</a:t>
                      </a:r>
                      <a:endParaRPr b="1">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n">
                          <a:latin typeface="Lato"/>
                          <a:ea typeface="Lato"/>
                          <a:cs typeface="Lato"/>
                          <a:sym typeface="Lato"/>
                        </a:rPr>
                        <a:t>Black Box Testing</a:t>
                      </a:r>
                      <a:endParaRPr b="1">
                        <a:latin typeface="Lato"/>
                        <a:ea typeface="Lato"/>
                        <a:cs typeface="Lato"/>
                        <a:sym typeface="La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Lato"/>
                          <a:ea typeface="Lato"/>
                          <a:cs typeface="Lato"/>
                          <a:sym typeface="Lato"/>
                        </a:rPr>
                        <a:t>White Box Testing</a:t>
                      </a:r>
                      <a:endParaRPr b="1">
                        <a:latin typeface="Lato"/>
                        <a:ea typeface="Lato"/>
                        <a:cs typeface="Lato"/>
                        <a:sym typeface="Lato"/>
                      </a:endParaRPr>
                    </a:p>
                  </a:txBody>
                  <a:tcPr marT="91425" marB="91425" marR="91425" marL="91425">
                    <a:lnB cap="flat" cmpd="sng" w="9525">
                      <a:solidFill>
                        <a:srgbClr val="9E9E9E"/>
                      </a:solidFill>
                      <a:prstDash val="solid"/>
                      <a:round/>
                      <a:headEnd len="sm" w="sm" type="none"/>
                      <a:tailEnd len="sm" w="sm" type="none"/>
                    </a:lnB>
                  </a:tcPr>
                </a:tc>
              </a:tr>
              <a:tr h="817875">
                <a:tc>
                  <a:txBody>
                    <a:bodyPr/>
                    <a:lstStyle/>
                    <a:p>
                      <a:pPr indent="0" lvl="0" marL="0" rtl="0" algn="l">
                        <a:spcBef>
                          <a:spcPts val="0"/>
                        </a:spcBef>
                        <a:spcAft>
                          <a:spcPts val="0"/>
                        </a:spcAft>
                        <a:buNone/>
                      </a:pPr>
                      <a:r>
                        <a:rPr lang="en">
                          <a:latin typeface="Lato"/>
                          <a:ea typeface="Lato"/>
                          <a:cs typeface="Lato"/>
                          <a:sym typeface="Lato"/>
                        </a:rPr>
                        <a:t>Testing objectives</a:t>
                      </a:r>
                      <a:endParaRPr>
                        <a:latin typeface="Lato"/>
                        <a:ea typeface="Lato"/>
                        <a:cs typeface="Lato"/>
                        <a:sym typeface="Lato"/>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Lato"/>
                          <a:ea typeface="Lato"/>
                          <a:cs typeface="Lato"/>
                          <a:sym typeface="Lato"/>
                        </a:rPr>
                        <a:t>mainly focused on testing the functionality of the software, ensuring that it meets the requirements and specifications.</a:t>
                      </a:r>
                      <a:endParaRPr>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mainly focused on ensuring that the internal code of the software is correct and efficient.</a:t>
                      </a:r>
                      <a:endParaRPr>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86250">
                <a:tc>
                  <a:txBody>
                    <a:bodyPr/>
                    <a:lstStyle/>
                    <a:p>
                      <a:pPr indent="0" lvl="0" marL="0" rtl="0" algn="l">
                        <a:spcBef>
                          <a:spcPts val="0"/>
                        </a:spcBef>
                        <a:spcAft>
                          <a:spcPts val="0"/>
                        </a:spcAft>
                        <a:buNone/>
                      </a:pPr>
                      <a:r>
                        <a:rPr lang="en">
                          <a:latin typeface="Lato"/>
                          <a:ea typeface="Lato"/>
                          <a:cs typeface="Lato"/>
                          <a:sym typeface="Lato"/>
                        </a:rPr>
                        <a:t>Knowledge level</a:t>
                      </a:r>
                      <a:endParaRPr>
                        <a:latin typeface="Lato"/>
                        <a:ea typeface="Lato"/>
                        <a:cs typeface="Lato"/>
                        <a:sym typeface="Lato"/>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Lato"/>
                          <a:ea typeface="Lato"/>
                          <a:cs typeface="Lato"/>
                          <a:sym typeface="Lato"/>
                        </a:rPr>
                        <a:t>does not require any knowledge of the internal workings of the software, and can be performed by testers who are not familiar with programming languages.</a:t>
                      </a:r>
                      <a:endParaRPr>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White box testing requires knowledge of programming languages, software architecture and design patterns.</a:t>
                      </a:r>
                      <a:endParaRPr>
                        <a:latin typeface="Lato"/>
                        <a:ea typeface="Lato"/>
                        <a:cs typeface="Lato"/>
                        <a:sym typeface="La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17875">
                <a:tc>
                  <a:txBody>
                    <a:bodyPr/>
                    <a:lstStyle/>
                    <a:p>
                      <a:pPr indent="0" lvl="0" marL="0" rtl="0" algn="l">
                        <a:spcBef>
                          <a:spcPts val="0"/>
                        </a:spcBef>
                        <a:spcAft>
                          <a:spcPts val="0"/>
                        </a:spcAft>
                        <a:buNone/>
                      </a:pPr>
                      <a:r>
                        <a:rPr lang="en">
                          <a:latin typeface="Lato"/>
                          <a:ea typeface="Lato"/>
                          <a:cs typeface="Lato"/>
                          <a:sym typeface="Lato"/>
                        </a:rPr>
                        <a:t>Testing methods</a:t>
                      </a:r>
                      <a:endParaRPr>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a:latin typeface="Lato"/>
                          <a:ea typeface="Lato"/>
                          <a:cs typeface="Lato"/>
                          <a:sym typeface="Lato"/>
                        </a:rPr>
                        <a:t>uses methods like equivalence partitioning, boundary value analysis, and error guessing to create test cases.</a:t>
                      </a:r>
                      <a:endParaRPr>
                        <a:latin typeface="Lato"/>
                        <a:ea typeface="Lato"/>
                        <a:cs typeface="Lato"/>
                        <a:sym typeface="La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latin typeface="Lato"/>
                          <a:ea typeface="Lato"/>
                          <a:cs typeface="Lato"/>
                          <a:sym typeface="Lato"/>
                        </a:rPr>
                        <a:t>uses methods like control flow testing, data flow testing and statement coverage.</a:t>
                      </a:r>
                      <a:endParaRPr>
                        <a:latin typeface="Lato"/>
                        <a:ea typeface="Lato"/>
                        <a:cs typeface="Lato"/>
                        <a:sym typeface="Lato"/>
                      </a:endParaRPr>
                    </a:p>
                  </a:txBody>
                  <a:tcPr marT="91425" marB="91425" marR="91425" marL="91425">
                    <a:lnT cap="flat" cmpd="sng" w="9525">
                      <a:solidFill>
                        <a:srgbClr val="9E9E9E"/>
                      </a:solidFill>
                      <a:prstDash val="solid"/>
                      <a:round/>
                      <a:headEnd len="sm" w="sm" type="none"/>
                      <a:tailEnd len="sm" w="sm" type="none"/>
                    </a:lnT>
                  </a:tcPr>
                </a:tc>
              </a:tr>
              <a:tr h="649500">
                <a:tc>
                  <a:txBody>
                    <a:bodyPr/>
                    <a:lstStyle/>
                    <a:p>
                      <a:pPr indent="0" lvl="0" marL="0" rtl="0" algn="l">
                        <a:spcBef>
                          <a:spcPts val="0"/>
                        </a:spcBef>
                        <a:spcAft>
                          <a:spcPts val="0"/>
                        </a:spcAft>
                        <a:buNone/>
                      </a:pPr>
                      <a:r>
                        <a:rPr lang="en">
                          <a:latin typeface="Lato"/>
                          <a:ea typeface="Lato"/>
                          <a:cs typeface="Lato"/>
                          <a:sym typeface="Lato"/>
                        </a:rPr>
                        <a:t>Scope</a:t>
                      </a:r>
                      <a:endParaRPr>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a:latin typeface="Lato"/>
                          <a:ea typeface="Lato"/>
                          <a:cs typeface="Lato"/>
                          <a:sym typeface="Lato"/>
                        </a:rPr>
                        <a:t>generally used for testing the software at the functional level.</a:t>
                      </a:r>
                      <a:endParaRPr>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a:latin typeface="Lato"/>
                          <a:ea typeface="Lato"/>
                          <a:cs typeface="Lato"/>
                          <a:sym typeface="Lato"/>
                        </a:rPr>
                        <a:t>used for testing the software at the unit level, integration level and system level.</a:t>
                      </a:r>
                      <a:endParaRPr>
                        <a:latin typeface="Lato"/>
                        <a:ea typeface="Lato"/>
                        <a:cs typeface="Lato"/>
                        <a:sym typeface="Lato"/>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54" name="Google Shape;154;p24"/>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