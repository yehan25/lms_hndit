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handoutMasterIdLst>
    <p:handoutMasterId r:id="rId25"/>
  </p:handoutMasterIdLst>
  <p:sldIdLst>
    <p:sldId id="263" r:id="rId2"/>
    <p:sldId id="258" r:id="rId3"/>
    <p:sldId id="259" r:id="rId4"/>
    <p:sldId id="260" r:id="rId5"/>
    <p:sldId id="261" r:id="rId6"/>
    <p:sldId id="283" r:id="rId7"/>
    <p:sldId id="257" r:id="rId8"/>
    <p:sldId id="277" r:id="rId9"/>
    <p:sldId id="276" r:id="rId10"/>
    <p:sldId id="279" r:id="rId11"/>
    <p:sldId id="271" r:id="rId12"/>
    <p:sldId id="262" r:id="rId13"/>
    <p:sldId id="268" r:id="rId14"/>
    <p:sldId id="284" r:id="rId15"/>
    <p:sldId id="267" r:id="rId16"/>
    <p:sldId id="266" r:id="rId17"/>
    <p:sldId id="285" r:id="rId18"/>
    <p:sldId id="280" r:id="rId19"/>
    <p:sldId id="273" r:id="rId20"/>
    <p:sldId id="275" r:id="rId21"/>
    <p:sldId id="265" r:id="rId22"/>
    <p:sldId id="281" r:id="rId23"/>
    <p:sldId id="282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86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dirty="0"/>
              <a:t>Control Flow Statements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557021-D219-41E7-806A-29196FF90234}" type="datetimeFigureOut">
              <a:rPr lang="en-US" smtClean="0"/>
              <a:pPr/>
              <a:t>4/8/2024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 err="1"/>
              <a:t>Janaka</a:t>
            </a:r>
            <a:r>
              <a:rPr lang="en-US" dirty="0"/>
              <a:t> </a:t>
            </a:r>
            <a:r>
              <a:rPr lang="en-US" dirty="0" err="1"/>
              <a:t>Rajakaruna</a:t>
            </a:r>
            <a:r>
              <a:rPr lang="en-US" dirty="0"/>
              <a:t> – ATI, </a:t>
            </a:r>
            <a:r>
              <a:rPr lang="en-US" dirty="0" err="1"/>
              <a:t>Dehiwala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83C39C-B51F-41FF-8787-BD90AB91E4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8576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7" name="Picture 3" descr="C:\Users\Dell PC\Desktop\mainp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738" y="2133600"/>
            <a:ext cx="9162738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Chapter 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600" y="22479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Course Title style</a:t>
            </a:r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6" name="Picture 2" descr="C:\Users\Dell PC\Desktop\template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2" descr="C:\Users\Dell PC\Desktop\template2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566928" lvl="0" indent="-457200"/>
            <a:r>
              <a:rPr lang="en-US" sz="2800" dirty="0" smtClean="0"/>
              <a:t>Exceptions </a:t>
            </a:r>
            <a:r>
              <a:rPr lang="en-US" sz="2800" dirty="0"/>
              <a:t>Handling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400"/>
              <a:t>HNDIT2012 Fundamentals of Computer Programming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Errors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8006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GB" sz="2600" dirty="0"/>
              <a:t>Syntax errors (compile time)</a:t>
            </a:r>
          </a:p>
          <a:p>
            <a:pPr lvl="1" algn="just"/>
            <a:r>
              <a:rPr lang="en-GB" dirty="0"/>
              <a:t>Caused by an incorrectly written code such as misspelled keyword or variable, and incomplete code.</a:t>
            </a:r>
          </a:p>
          <a:p>
            <a:pPr marL="457200" lvl="1" indent="0" algn="just">
              <a:buNone/>
            </a:pPr>
            <a:endParaRPr lang="en-GB" dirty="0"/>
          </a:p>
          <a:p>
            <a:pPr algn="just"/>
            <a:r>
              <a:rPr lang="en-GB" sz="2600" dirty="0"/>
              <a:t>Runtime errors</a:t>
            </a:r>
          </a:p>
          <a:p>
            <a:pPr lvl="1" algn="just"/>
            <a:r>
              <a:rPr lang="en-GB" dirty="0"/>
              <a:t>Occurs when a statement attempts an operation that is impossible to carry out.</a:t>
            </a:r>
          </a:p>
          <a:p>
            <a:pPr lvl="1" algn="just"/>
            <a:r>
              <a:rPr lang="en-GB" dirty="0"/>
              <a:t>Ex: division by zero.</a:t>
            </a:r>
          </a:p>
          <a:p>
            <a:pPr marL="457200" lvl="1" indent="0" algn="just">
              <a:buNone/>
            </a:pPr>
            <a:endParaRPr lang="en-GB" dirty="0"/>
          </a:p>
          <a:p>
            <a:pPr algn="just"/>
            <a:r>
              <a:rPr lang="en-GB" sz="2600" dirty="0"/>
              <a:t>Logical errors</a:t>
            </a:r>
          </a:p>
          <a:p>
            <a:pPr lvl="1" algn="just"/>
            <a:r>
              <a:rPr lang="en-GB" dirty="0"/>
              <a:t>Occurs when code complies and runs without generating an error, but the result produced is incorrect.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time errors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Occurs at program run time</a:t>
            </a:r>
          </a:p>
          <a:p>
            <a:r>
              <a:rPr lang="en-US" dirty="0"/>
              <a:t>Condition that changes the normal flow of execution </a:t>
            </a:r>
          </a:p>
          <a:p>
            <a:pPr lvl="1"/>
            <a:r>
              <a:rPr lang="en-US" dirty="0"/>
              <a:t>Program run out of memory </a:t>
            </a:r>
          </a:p>
          <a:p>
            <a:pPr lvl="1"/>
            <a:r>
              <a:rPr lang="en-US" dirty="0"/>
              <a:t>File does not exist in the given path</a:t>
            </a:r>
          </a:p>
          <a:p>
            <a:pPr lvl="1"/>
            <a:r>
              <a:rPr lang="en-US" dirty="0"/>
              <a:t>Network connections are dropped</a:t>
            </a:r>
          </a:p>
          <a:p>
            <a:pPr lvl="1"/>
            <a:r>
              <a:rPr lang="en-US" dirty="0"/>
              <a:t>OS limitations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Unexpected behavior of program</a:t>
            </a:r>
          </a:p>
          <a:p>
            <a:r>
              <a:rPr lang="en-US" dirty="0"/>
              <a:t>An </a:t>
            </a:r>
            <a:r>
              <a:rPr lang="en-US" i="1" dirty="0"/>
              <a:t>exception</a:t>
            </a:r>
            <a:r>
              <a:rPr lang="en-US" dirty="0"/>
              <a:t> is an event, which occurs during the execution of a program, that disrupts the normal flow of the program's instructions.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/>
              <a:t>exception object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When an error occurs within a method, the method creates an object and hands it off to the runtime system.</a:t>
            </a:r>
          </a:p>
          <a:p>
            <a:pPr algn="just"/>
            <a:r>
              <a:rPr lang="en-US" dirty="0"/>
              <a:t>The object, called an </a:t>
            </a:r>
            <a:r>
              <a:rPr lang="en-US" i="1" dirty="0"/>
              <a:t>exception object.</a:t>
            </a:r>
          </a:p>
          <a:p>
            <a:pPr algn="just"/>
            <a:r>
              <a:rPr lang="en-US" dirty="0"/>
              <a:t>Contains information about the error, including its type and the state of the program when the error occurred. </a:t>
            </a:r>
          </a:p>
          <a:p>
            <a:pPr algn="just"/>
            <a:r>
              <a:rPr lang="en-US" dirty="0"/>
              <a:t>Creating an exception object and handing it to the runtime system is called </a:t>
            </a:r>
            <a:r>
              <a:rPr lang="en-US" i="1" dirty="0"/>
              <a:t>throwing an exception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ierarchy of exception handli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41863" y="0"/>
            <a:ext cx="7302137" cy="6858000"/>
          </a:xfrm>
          <a:prstGeom prst="rect">
            <a:avLst/>
          </a:prstGeom>
          <a:noFill/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 rot="16200000">
            <a:off x="-3009900" y="3009900"/>
            <a:ext cx="6858000" cy="838200"/>
          </a:xfrm>
        </p:spPr>
        <p:txBody>
          <a:bodyPr>
            <a:noAutofit/>
          </a:bodyPr>
          <a:lstStyle/>
          <a:p>
            <a:r>
              <a:rPr lang="en-US" sz="2800" dirty="0"/>
              <a:t>Hierarchy of Java Exception classes</a:t>
            </a:r>
          </a:p>
        </p:txBody>
      </p:sp>
    </p:spTree>
    <p:extLst>
      <p:ext uri="{BB962C8B-B14F-4D97-AF65-F5344CB8AC3E}">
        <p14:creationId xmlns:p14="http://schemas.microsoft.com/office/powerpoint/2010/main" val="4201347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Java Exceptions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334000"/>
          </a:xfrm>
        </p:spPr>
        <p:txBody>
          <a:bodyPr>
            <a:normAutofit/>
          </a:bodyPr>
          <a:lstStyle/>
          <a:p>
            <a:r>
              <a:rPr lang="en-US" dirty="0"/>
              <a:t>Checked exceptions</a:t>
            </a:r>
          </a:p>
          <a:p>
            <a:pPr lvl="3"/>
            <a:r>
              <a:rPr lang="en-US" dirty="0" err="1"/>
              <a:t>ArithmeticException</a:t>
            </a:r>
            <a:endParaRPr lang="en-US" dirty="0"/>
          </a:p>
          <a:p>
            <a:pPr lvl="3"/>
            <a:r>
              <a:rPr lang="en-US" dirty="0" err="1"/>
              <a:t>ClassCastException</a:t>
            </a:r>
            <a:endParaRPr lang="en-US" dirty="0"/>
          </a:p>
          <a:p>
            <a:pPr lvl="3"/>
            <a:r>
              <a:rPr lang="en-US" dirty="0" err="1"/>
              <a:t>NullPointerException</a:t>
            </a:r>
            <a:endParaRPr lang="en-US" dirty="0"/>
          </a:p>
          <a:p>
            <a:pPr lvl="3"/>
            <a:r>
              <a:rPr lang="en-US" dirty="0" err="1"/>
              <a:t>ArrayIndexOutOfBoundsException</a:t>
            </a:r>
            <a:endParaRPr lang="en-US" dirty="0"/>
          </a:p>
          <a:p>
            <a:pPr lvl="3"/>
            <a:r>
              <a:rPr lang="en-US" dirty="0" err="1"/>
              <a:t>NegativeArraySizeException</a:t>
            </a:r>
            <a:endParaRPr lang="en-US" dirty="0"/>
          </a:p>
          <a:p>
            <a:pPr lvl="3"/>
            <a:r>
              <a:rPr lang="en-US" dirty="0" err="1"/>
              <a:t>ArrayStoreException</a:t>
            </a:r>
            <a:endParaRPr lang="en-US" dirty="0"/>
          </a:p>
          <a:p>
            <a:pPr lvl="3"/>
            <a:r>
              <a:rPr lang="en-US" dirty="0" err="1"/>
              <a:t>IllegalThreadStateException</a:t>
            </a:r>
            <a:endParaRPr lang="en-US" dirty="0"/>
          </a:p>
          <a:p>
            <a:pPr lvl="3"/>
            <a:r>
              <a:rPr lang="en-US" dirty="0" err="1"/>
              <a:t>SecurityException</a:t>
            </a:r>
            <a:r>
              <a:rPr lang="en-US" dirty="0"/>
              <a:t>, etc. </a:t>
            </a:r>
          </a:p>
          <a:p>
            <a:r>
              <a:rPr lang="en-US" dirty="0"/>
              <a:t>Unchecked</a:t>
            </a:r>
          </a:p>
          <a:p>
            <a:pPr lvl="1"/>
            <a:r>
              <a:rPr lang="en-US" dirty="0"/>
              <a:t>Runtime exceptions</a:t>
            </a:r>
          </a:p>
          <a:p>
            <a:pPr lvl="1"/>
            <a:r>
              <a:rPr lang="en-US" dirty="0"/>
              <a:t>Errors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Types of Exceptions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221163"/>
          </a:xfrm>
        </p:spPr>
        <p:txBody>
          <a:bodyPr>
            <a:normAutofit/>
          </a:bodyPr>
          <a:lstStyle/>
          <a:p>
            <a:r>
              <a:rPr lang="en-US" dirty="0"/>
              <a:t>Checked exceptions</a:t>
            </a:r>
          </a:p>
          <a:p>
            <a:pPr lvl="1"/>
            <a:r>
              <a:rPr lang="en-US" dirty="0"/>
              <a:t>Occurs at the compile time</a:t>
            </a:r>
          </a:p>
          <a:p>
            <a:pPr lvl="1"/>
            <a:r>
              <a:rPr lang="en-US" dirty="0"/>
              <a:t>Also called as compile time exceptions.</a:t>
            </a:r>
          </a:p>
          <a:p>
            <a:pPr lvl="1"/>
            <a:r>
              <a:rPr lang="en-US" dirty="0"/>
              <a:t>Cannot be ignored at the time of compilation by programmer.</a:t>
            </a:r>
          </a:p>
          <a:p>
            <a:pPr lvl="1"/>
            <a:r>
              <a:rPr lang="en-US" dirty="0"/>
              <a:t>All exceptions are checked exceptions, other than Error, </a:t>
            </a:r>
            <a:r>
              <a:rPr lang="en-US" dirty="0" err="1"/>
              <a:t>RuntimeException</a:t>
            </a:r>
            <a:r>
              <a:rPr lang="en-US" dirty="0"/>
              <a:t>, and their subclasses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1545" y="5486400"/>
            <a:ext cx="3270184" cy="12311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 err="1"/>
              <a:t>IOException</a:t>
            </a: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 err="1"/>
              <a:t>SQLException</a:t>
            </a: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 err="1"/>
              <a:t>ClassNotFoundException</a:t>
            </a: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 err="1"/>
              <a:t>IllegalAccessException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656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Exceptions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Runtime exceptions</a:t>
            </a:r>
          </a:p>
          <a:p>
            <a:pPr lvl="1" algn="just"/>
            <a:r>
              <a:rPr lang="en-US" dirty="0"/>
              <a:t>At the time of execution.</a:t>
            </a:r>
          </a:p>
          <a:p>
            <a:pPr lvl="1" algn="just"/>
            <a:r>
              <a:rPr lang="en-US" dirty="0"/>
              <a:t>Never checked </a:t>
            </a:r>
          </a:p>
          <a:p>
            <a:pPr lvl="1" algn="just"/>
            <a:r>
              <a:rPr lang="en-US" dirty="0"/>
              <a:t>These include programming bugs, such as logic errors or improper use of an API.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200" y="5257800"/>
            <a:ext cx="3674917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 err="1"/>
              <a:t>ArithmeticException</a:t>
            </a: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 err="1"/>
              <a:t>NullPointerException</a:t>
            </a: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 err="1"/>
              <a:t>ArrayIndexOutOfBoundsException</a:t>
            </a: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 err="1"/>
              <a:t>InvalidArgumentException</a:t>
            </a:r>
            <a:r>
              <a:rPr lang="en-US" dirty="0"/>
              <a:t> 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err="1"/>
              <a:t>NumberFormatException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653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Exceptions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Errors</a:t>
            </a:r>
          </a:p>
          <a:p>
            <a:pPr lvl="1" algn="just"/>
            <a:r>
              <a:rPr lang="en-US" dirty="0"/>
              <a:t>Not exceptions at all, but problems that arise beyond the control of the user or the programmer.</a:t>
            </a:r>
          </a:p>
          <a:p>
            <a:pPr lvl="1" algn="just"/>
            <a:r>
              <a:rPr lang="en-US" dirty="0"/>
              <a:t>Errors are typically ignored in your code because you can’t rarely do anything about an error. </a:t>
            </a:r>
          </a:p>
          <a:p>
            <a:pPr lvl="1" algn="just"/>
            <a:r>
              <a:rPr lang="en-US" dirty="0"/>
              <a:t>For example, if a stack overflow occurs, an error will arise. They are also ignored at the time of compilation.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1219200" y="5858470"/>
            <a:ext cx="4572000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dirty="0" err="1"/>
              <a:t>OutOfMemoryError</a:t>
            </a:r>
            <a:endParaRPr lang="en-US" dirty="0"/>
          </a:p>
          <a:p>
            <a:r>
              <a:rPr lang="en-US" dirty="0" err="1"/>
              <a:t>VirtualMachineError</a:t>
            </a:r>
            <a:endParaRPr lang="en-US" dirty="0"/>
          </a:p>
          <a:p>
            <a:r>
              <a:rPr lang="en-US" dirty="0" err="1"/>
              <a:t>AssertionError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415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 handling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Exception handling in java</a:t>
            </a:r>
            <a:r>
              <a:rPr lang="en-US" dirty="0"/>
              <a:t> is one of the powerful </a:t>
            </a:r>
            <a:r>
              <a:rPr lang="en-US" i="1" dirty="0"/>
              <a:t>mechanism to handle the </a:t>
            </a:r>
            <a:r>
              <a:rPr lang="en-US" i="1" dirty="0">
                <a:solidFill>
                  <a:srgbClr val="FF0000"/>
                </a:solidFill>
              </a:rPr>
              <a:t>runtime errors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catch block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221163"/>
          </a:xfrm>
        </p:spPr>
        <p:txBody>
          <a:bodyPr/>
          <a:lstStyle/>
          <a:p>
            <a:r>
              <a:rPr lang="en-US" dirty="0"/>
              <a:t>Syntax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905000"/>
            <a:ext cx="8229600" cy="3505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dirty="0"/>
              <a:t>try </a:t>
            </a:r>
          </a:p>
          <a:p>
            <a:pPr lvl="1"/>
            <a:r>
              <a:rPr lang="en-US" sz="2800" dirty="0"/>
              <a:t>{ </a:t>
            </a:r>
          </a:p>
          <a:p>
            <a:pPr lvl="1"/>
            <a:r>
              <a:rPr lang="en-US" sz="2800" dirty="0"/>
              <a:t>//Protected code </a:t>
            </a:r>
          </a:p>
          <a:p>
            <a:pPr lvl="1"/>
            <a:r>
              <a:rPr lang="en-US" sz="2800" dirty="0"/>
              <a:t>}</a:t>
            </a:r>
          </a:p>
          <a:p>
            <a:r>
              <a:rPr lang="en-US" sz="2800" dirty="0"/>
              <a:t>catch(</a:t>
            </a:r>
            <a:r>
              <a:rPr lang="en-US" sz="2800" dirty="0" err="1"/>
              <a:t>ExceptionName</a:t>
            </a:r>
            <a:r>
              <a:rPr lang="en-US" sz="2800" dirty="0"/>
              <a:t> e1) </a:t>
            </a:r>
          </a:p>
          <a:p>
            <a:pPr lvl="1"/>
            <a:r>
              <a:rPr lang="en-US" sz="2800" dirty="0"/>
              <a:t>{ </a:t>
            </a:r>
          </a:p>
          <a:p>
            <a:pPr lvl="1"/>
            <a:r>
              <a:rPr lang="en-US" sz="2800" dirty="0"/>
              <a:t>//Catch block</a:t>
            </a:r>
          </a:p>
          <a:p>
            <a:pPr lvl="1"/>
            <a:r>
              <a:rPr lang="en-US" sz="2800" dirty="0"/>
              <a:t>}	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/>
              <a:t>try catch block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4525963"/>
          </a:xfrm>
        </p:spPr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1433945"/>
            <a:ext cx="8610600" cy="519545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public class Main </a:t>
            </a:r>
          </a:p>
          <a:p>
            <a:r>
              <a:rPr lang="en-US" sz="2400" dirty="0">
                <a:solidFill>
                  <a:schemeClr val="tx1"/>
                </a:solidFill>
              </a:rPr>
              <a:t>{</a:t>
            </a:r>
          </a:p>
          <a:p>
            <a:r>
              <a:rPr lang="en-US" sz="2400" dirty="0">
                <a:solidFill>
                  <a:schemeClr val="tx1"/>
                </a:solidFill>
              </a:rPr>
              <a:t>    public static void main(String[] </a:t>
            </a:r>
            <a:r>
              <a:rPr lang="en-US" sz="2400" dirty="0" err="1">
                <a:solidFill>
                  <a:schemeClr val="tx1"/>
                </a:solidFill>
              </a:rPr>
              <a:t>args</a:t>
            </a:r>
            <a:r>
              <a:rPr lang="en-US" sz="2400" dirty="0">
                <a:solidFill>
                  <a:schemeClr val="tx1"/>
                </a:solidFill>
              </a:rPr>
              <a:t>) {</a:t>
            </a:r>
          </a:p>
          <a:p>
            <a:r>
              <a:rPr lang="en-US" sz="2400" dirty="0">
                <a:solidFill>
                  <a:schemeClr val="tx1"/>
                </a:solidFill>
              </a:rPr>
              <a:t>        try{</a:t>
            </a:r>
          </a:p>
          <a:p>
            <a:r>
              <a:rPr lang="en-US" sz="2400" dirty="0">
                <a:solidFill>
                  <a:schemeClr val="tx1"/>
                </a:solidFill>
              </a:rPr>
              <a:t>              </a:t>
            </a:r>
            <a:r>
              <a:rPr lang="en-US" sz="2400" dirty="0" err="1">
                <a:solidFill>
                  <a:schemeClr val="tx1"/>
                </a:solidFill>
              </a:rPr>
              <a:t>int</a:t>
            </a:r>
            <a:r>
              <a:rPr lang="en-US" sz="2400" dirty="0">
                <a:solidFill>
                  <a:schemeClr val="tx1"/>
                </a:solidFill>
              </a:rPr>
              <a:t> a=4, b=0;</a:t>
            </a:r>
          </a:p>
          <a:p>
            <a:r>
              <a:rPr lang="en-US" sz="2400" dirty="0">
                <a:solidFill>
                  <a:schemeClr val="tx1"/>
                </a:solidFill>
              </a:rPr>
              <a:t>              </a:t>
            </a:r>
            <a:r>
              <a:rPr lang="en-US" sz="2400" dirty="0" err="1">
                <a:solidFill>
                  <a:schemeClr val="tx1"/>
                </a:solidFill>
              </a:rPr>
              <a:t>int</a:t>
            </a:r>
            <a:r>
              <a:rPr lang="en-US" sz="2400" dirty="0">
                <a:solidFill>
                  <a:schemeClr val="tx1"/>
                </a:solidFill>
              </a:rPr>
              <a:t> c=a/b;</a:t>
            </a:r>
          </a:p>
          <a:p>
            <a:r>
              <a:rPr lang="en-US" sz="2400" dirty="0">
                <a:solidFill>
                  <a:schemeClr val="tx1"/>
                </a:solidFill>
              </a:rPr>
              <a:t>              </a:t>
            </a:r>
            <a:r>
              <a:rPr lang="en-US" sz="2400" dirty="0" err="1">
                <a:solidFill>
                  <a:schemeClr val="tx1"/>
                </a:solidFill>
              </a:rPr>
              <a:t>System.out.println</a:t>
            </a:r>
            <a:r>
              <a:rPr lang="en-US" sz="2400" dirty="0">
                <a:solidFill>
                  <a:schemeClr val="tx1"/>
                </a:solidFill>
              </a:rPr>
              <a:t>(c);</a:t>
            </a:r>
          </a:p>
          <a:p>
            <a:r>
              <a:rPr lang="en-US" sz="2400" dirty="0">
                <a:solidFill>
                  <a:schemeClr val="tx1"/>
                </a:solidFill>
              </a:rPr>
              <a:t>              }</a:t>
            </a:r>
          </a:p>
          <a:p>
            <a:r>
              <a:rPr lang="en-US" sz="2400" dirty="0">
                <a:solidFill>
                  <a:schemeClr val="tx1"/>
                </a:solidFill>
              </a:rPr>
              <a:t>        catch(</a:t>
            </a:r>
            <a:r>
              <a:rPr lang="en-US" sz="2400" dirty="0" err="1">
                <a:solidFill>
                  <a:schemeClr val="tx1"/>
                </a:solidFill>
              </a:rPr>
              <a:t>ArithmeticException</a:t>
            </a:r>
            <a:r>
              <a:rPr lang="en-US" sz="2400" dirty="0">
                <a:solidFill>
                  <a:schemeClr val="tx1"/>
                </a:solidFill>
              </a:rPr>
              <a:t> E)</a:t>
            </a:r>
          </a:p>
          <a:p>
            <a:r>
              <a:rPr lang="en-US" sz="2400" dirty="0">
                <a:solidFill>
                  <a:schemeClr val="tx1"/>
                </a:solidFill>
              </a:rPr>
              <a:t>              {</a:t>
            </a:r>
          </a:p>
          <a:p>
            <a:r>
              <a:rPr lang="en-US" sz="2400" dirty="0">
                <a:solidFill>
                  <a:schemeClr val="tx1"/>
                </a:solidFill>
              </a:rPr>
              <a:t>              </a:t>
            </a:r>
            <a:r>
              <a:rPr lang="en-US" sz="2400" dirty="0" err="1">
                <a:solidFill>
                  <a:schemeClr val="tx1"/>
                </a:solidFill>
              </a:rPr>
              <a:t>System.out.print</a:t>
            </a:r>
            <a:r>
              <a:rPr lang="en-US" sz="2400" dirty="0">
                <a:solidFill>
                  <a:schemeClr val="tx1"/>
                </a:solidFill>
              </a:rPr>
              <a:t>("Error"+ </a:t>
            </a:r>
            <a:r>
              <a:rPr lang="en-US" sz="2400" dirty="0" err="1">
                <a:solidFill>
                  <a:schemeClr val="tx1"/>
                </a:solidFill>
              </a:rPr>
              <a:t>E.toString</a:t>
            </a:r>
            <a:r>
              <a:rPr lang="en-US" sz="2400" dirty="0">
                <a:solidFill>
                  <a:schemeClr val="tx1"/>
                </a:solidFill>
              </a:rPr>
              <a:t>());</a:t>
            </a:r>
          </a:p>
          <a:p>
            <a:r>
              <a:rPr lang="en-US" sz="2400" dirty="0">
                <a:solidFill>
                  <a:schemeClr val="tx1"/>
                </a:solidFill>
              </a:rPr>
              <a:t>             }</a:t>
            </a:r>
          </a:p>
          <a:p>
            <a:r>
              <a:rPr lang="en-US" sz="2400" dirty="0">
                <a:solidFill>
                  <a:schemeClr val="tx1"/>
                </a:solidFill>
              </a:rPr>
              <a:t>    }</a:t>
            </a:r>
          </a:p>
          <a:p>
            <a:r>
              <a:rPr lang="en-US" sz="2400" dirty="0">
                <a:solidFill>
                  <a:schemeClr val="tx1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effectLst/>
              </a:rPr>
              <a:t>Multiple catch Blocks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304800" y="1427018"/>
            <a:ext cx="8229600" cy="48006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/>
              <a:t>try </a:t>
            </a:r>
          </a:p>
          <a:p>
            <a:r>
              <a:rPr lang="en-US" sz="2400" dirty="0"/>
              <a:t>	{ //Protected code </a:t>
            </a:r>
          </a:p>
          <a:p>
            <a:r>
              <a:rPr lang="en-US" sz="2400" dirty="0"/>
              <a:t>	}</a:t>
            </a:r>
          </a:p>
          <a:p>
            <a:r>
              <a:rPr lang="en-US" sz="2400" dirty="0"/>
              <a:t>catch(ExceptionType1 e1)</a:t>
            </a:r>
          </a:p>
          <a:p>
            <a:r>
              <a:rPr lang="en-US" sz="2400" dirty="0"/>
              <a:t>	{ //Catch block </a:t>
            </a:r>
          </a:p>
          <a:p>
            <a:r>
              <a:rPr lang="en-US" sz="2400" dirty="0"/>
              <a:t>	}</a:t>
            </a:r>
          </a:p>
          <a:p>
            <a:r>
              <a:rPr lang="en-US" sz="2400" dirty="0"/>
              <a:t>catch(ExceptionType2 e2)</a:t>
            </a:r>
          </a:p>
          <a:p>
            <a:r>
              <a:rPr lang="en-US" sz="2400" dirty="0"/>
              <a:t>	{ //Catch block </a:t>
            </a:r>
          </a:p>
          <a:p>
            <a:r>
              <a:rPr lang="en-US" sz="2400" dirty="0"/>
              <a:t>	}</a:t>
            </a:r>
          </a:p>
          <a:p>
            <a:r>
              <a:rPr lang="en-US" sz="2400" dirty="0"/>
              <a:t>catch(ExceptionType3 e3) </a:t>
            </a:r>
          </a:p>
          <a:p>
            <a:r>
              <a:rPr lang="en-US" sz="2400" dirty="0"/>
              <a:t>	{ //Catch block </a:t>
            </a:r>
          </a:p>
          <a:p>
            <a:r>
              <a:rPr lang="en-US" sz="2400" dirty="0"/>
              <a:t>	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catch block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525963"/>
          </a:xfrm>
        </p:spPr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9144000" cy="5029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dirty="0"/>
              <a:t>public class Main </a:t>
            </a:r>
          </a:p>
          <a:p>
            <a:r>
              <a:rPr lang="en-US" sz="2000" dirty="0"/>
              <a:t>{</a:t>
            </a:r>
          </a:p>
          <a:p>
            <a:r>
              <a:rPr lang="en-US" sz="2000" dirty="0"/>
              <a:t>    public static void main(String[] </a:t>
            </a:r>
            <a:r>
              <a:rPr lang="en-US" sz="2000" dirty="0" err="1"/>
              <a:t>args</a:t>
            </a:r>
            <a:r>
              <a:rPr lang="en-US" sz="2000" dirty="0"/>
              <a:t>) {</a:t>
            </a:r>
          </a:p>
          <a:p>
            <a:r>
              <a:rPr lang="en-US" sz="2000" dirty="0"/>
              <a:t>        try{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int</a:t>
            </a:r>
            <a:r>
              <a:rPr lang="en-US" sz="2000" dirty="0"/>
              <a:t> a=4;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int</a:t>
            </a:r>
            <a:r>
              <a:rPr lang="en-US" sz="2000" dirty="0"/>
              <a:t> b=0;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int</a:t>
            </a:r>
            <a:r>
              <a:rPr lang="en-US" sz="2000" dirty="0"/>
              <a:t> c=a/b;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System.out.println</a:t>
            </a:r>
            <a:r>
              <a:rPr lang="en-US" sz="2000" dirty="0"/>
              <a:t>(c);</a:t>
            </a:r>
          </a:p>
          <a:p>
            <a:r>
              <a:rPr lang="en-US" sz="2000" dirty="0"/>
              <a:t>        }</a:t>
            </a:r>
          </a:p>
          <a:p>
            <a:r>
              <a:rPr lang="en-US" sz="2000" dirty="0"/>
              <a:t>        catch(</a:t>
            </a:r>
            <a:r>
              <a:rPr lang="en-US" sz="2000" dirty="0" err="1"/>
              <a:t>ArithmeticException</a:t>
            </a:r>
            <a:r>
              <a:rPr lang="en-US" sz="2000" dirty="0"/>
              <a:t> E)</a:t>
            </a:r>
          </a:p>
          <a:p>
            <a:r>
              <a:rPr lang="en-US" sz="2000" dirty="0"/>
              <a:t>        {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System.out.print</a:t>
            </a:r>
            <a:r>
              <a:rPr lang="en-US" sz="2000" dirty="0"/>
              <a:t>("Error"+ </a:t>
            </a:r>
            <a:r>
              <a:rPr lang="en-US" sz="2000" dirty="0" err="1"/>
              <a:t>E.toString</a:t>
            </a:r>
            <a:r>
              <a:rPr lang="en-US" sz="2000" dirty="0"/>
              <a:t>());</a:t>
            </a:r>
          </a:p>
          <a:p>
            <a:r>
              <a:rPr lang="en-US" sz="2000" dirty="0"/>
              <a:t>        }</a:t>
            </a:r>
          </a:p>
          <a:p>
            <a:r>
              <a:rPr lang="en-US" sz="2000" dirty="0"/>
              <a:t>    }</a:t>
            </a:r>
          </a:p>
          <a:p>
            <a:r>
              <a:rPr lang="en-US" sz="2000" dirty="0"/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 finally Block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finally block of code always executes, whether or not an exception has occurred.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/>
              <a:t>try catch with finally 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4525963"/>
          </a:xfrm>
        </p:spPr>
        <p:txBody>
          <a:bodyPr/>
          <a:lstStyle/>
          <a:p>
            <a:r>
              <a:rPr lang="en-US" dirty="0"/>
              <a:t>Example 3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447800"/>
            <a:ext cx="8763000" cy="5334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/>
              <a:t>public class </a:t>
            </a:r>
            <a:r>
              <a:rPr lang="en-US" sz="2400" dirty="0" err="1"/>
              <a:t>ExcepTest</a:t>
            </a:r>
            <a:endParaRPr lang="en-US" sz="2400" dirty="0"/>
          </a:p>
          <a:p>
            <a:r>
              <a:rPr lang="en-US" sz="2400" dirty="0"/>
              <a:t>{    public static void main(String[] </a:t>
            </a:r>
            <a:r>
              <a:rPr lang="en-US" sz="2400" dirty="0" err="1"/>
              <a:t>args</a:t>
            </a:r>
            <a:r>
              <a:rPr lang="en-US" sz="2400" dirty="0"/>
              <a:t>) </a:t>
            </a:r>
          </a:p>
          <a:p>
            <a:r>
              <a:rPr lang="en-US" sz="2400" dirty="0"/>
              <a:t>      {</a:t>
            </a:r>
          </a:p>
          <a:p>
            <a:r>
              <a:rPr lang="en-US" sz="2400" dirty="0"/>
              <a:t>        try{</a:t>
            </a:r>
          </a:p>
          <a:p>
            <a:r>
              <a:rPr lang="en-US" sz="2400" dirty="0"/>
              <a:t>            </a:t>
            </a:r>
            <a:r>
              <a:rPr lang="en-US" sz="2400" dirty="0" err="1"/>
              <a:t>int</a:t>
            </a:r>
            <a:r>
              <a:rPr lang="en-US" sz="2400" dirty="0"/>
              <a:t> a=4;</a:t>
            </a:r>
          </a:p>
          <a:p>
            <a:r>
              <a:rPr lang="en-US" sz="2400" dirty="0"/>
              <a:t>            </a:t>
            </a:r>
            <a:r>
              <a:rPr lang="en-US" sz="2400" dirty="0" err="1"/>
              <a:t>int</a:t>
            </a:r>
            <a:r>
              <a:rPr lang="en-US" sz="2400" dirty="0"/>
              <a:t> b=0;</a:t>
            </a:r>
          </a:p>
          <a:p>
            <a:r>
              <a:rPr lang="en-US" sz="2400" dirty="0"/>
              <a:t>            </a:t>
            </a:r>
            <a:r>
              <a:rPr lang="en-US" sz="2400" dirty="0" err="1"/>
              <a:t>int</a:t>
            </a:r>
            <a:r>
              <a:rPr lang="en-US" sz="2400" dirty="0"/>
              <a:t> c=a/b;</a:t>
            </a:r>
          </a:p>
          <a:p>
            <a:r>
              <a:rPr lang="en-US" sz="2400" dirty="0"/>
              <a:t>            </a:t>
            </a:r>
            <a:r>
              <a:rPr lang="en-US" sz="2400" dirty="0" err="1"/>
              <a:t>System.out.println</a:t>
            </a:r>
            <a:r>
              <a:rPr lang="en-US" sz="2400" dirty="0"/>
              <a:t>(c);</a:t>
            </a:r>
          </a:p>
          <a:p>
            <a:r>
              <a:rPr lang="en-US" sz="2400" dirty="0"/>
              <a:t>             }</a:t>
            </a:r>
          </a:p>
          <a:p>
            <a:r>
              <a:rPr lang="en-US" sz="2400" dirty="0"/>
              <a:t>        catch(</a:t>
            </a:r>
            <a:r>
              <a:rPr lang="en-US" sz="2400" dirty="0" err="1"/>
              <a:t>ArithmeticException</a:t>
            </a:r>
            <a:r>
              <a:rPr lang="en-US" sz="2400" dirty="0"/>
              <a:t> E)</a:t>
            </a:r>
          </a:p>
          <a:p>
            <a:r>
              <a:rPr lang="en-US" sz="2400" dirty="0"/>
              <a:t>          {          </a:t>
            </a:r>
            <a:r>
              <a:rPr lang="en-US" sz="2400" dirty="0" err="1"/>
              <a:t>System.out.print</a:t>
            </a:r>
            <a:r>
              <a:rPr lang="en-US" sz="2400" dirty="0"/>
              <a:t>("Error"+ </a:t>
            </a:r>
            <a:r>
              <a:rPr lang="en-US" sz="2400" dirty="0" err="1"/>
              <a:t>E.toString</a:t>
            </a:r>
            <a:r>
              <a:rPr lang="en-US" sz="2400" dirty="0"/>
              <a:t>());           }</a:t>
            </a:r>
          </a:p>
          <a:p>
            <a:r>
              <a:rPr lang="en-US" sz="2400" dirty="0"/>
              <a:t>        finally</a:t>
            </a:r>
          </a:p>
          <a:p>
            <a:r>
              <a:rPr lang="en-US" sz="2400" dirty="0"/>
              <a:t>          {          </a:t>
            </a:r>
            <a:r>
              <a:rPr lang="en-US" sz="2400" dirty="0" err="1"/>
              <a:t>System.out.print</a:t>
            </a:r>
            <a:r>
              <a:rPr lang="en-US" sz="2400" dirty="0"/>
              <a:t>("End");          }</a:t>
            </a:r>
          </a:p>
          <a:p>
            <a:r>
              <a:rPr lang="en-US" sz="2400" dirty="0"/>
              <a:t>    }</a:t>
            </a:r>
          </a:p>
          <a:p>
            <a:r>
              <a:rPr lang="en-US" sz="2400" dirty="0"/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Throwable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Superclass of all errors and exceptions  </a:t>
            </a:r>
          </a:p>
          <a:p>
            <a:pPr algn="just"/>
            <a:r>
              <a:rPr lang="en-US" dirty="0"/>
              <a:t>All exceptions and errors extend from a common </a:t>
            </a:r>
            <a:r>
              <a:rPr lang="en-US" dirty="0" err="1">
                <a:solidFill>
                  <a:srgbClr val="FF0000"/>
                </a:solidFill>
              </a:rPr>
              <a:t>java.lang.Throwable</a:t>
            </a:r>
            <a:r>
              <a:rPr lang="en-US" dirty="0"/>
              <a:t> parent class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4064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dirty="0"/>
              <a:t>Nesting try blocks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60198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buNone/>
            </a:pPr>
            <a:r>
              <a:rPr lang="en-US" sz="1700" dirty="0"/>
              <a:t>public class Demo</a:t>
            </a:r>
          </a:p>
          <a:p>
            <a:pPr>
              <a:buNone/>
            </a:pPr>
            <a:r>
              <a:rPr lang="en-US" sz="1700" dirty="0"/>
              <a:t>   {</a:t>
            </a:r>
          </a:p>
          <a:p>
            <a:pPr>
              <a:buNone/>
            </a:pPr>
            <a:r>
              <a:rPr lang="en-US" sz="1700" dirty="0"/>
              <a:t>   public static void main(String </a:t>
            </a:r>
            <a:r>
              <a:rPr lang="en-US" sz="1700" dirty="0" err="1"/>
              <a:t>args</a:t>
            </a:r>
            <a:r>
              <a:rPr lang="en-US" sz="1700" dirty="0"/>
              <a:t>[])</a:t>
            </a:r>
          </a:p>
          <a:p>
            <a:pPr>
              <a:buNone/>
            </a:pPr>
            <a:r>
              <a:rPr lang="en-US" sz="1700" dirty="0"/>
              <a:t>      {</a:t>
            </a:r>
          </a:p>
          <a:p>
            <a:pPr>
              <a:buNone/>
            </a:pPr>
            <a:r>
              <a:rPr lang="en-US" sz="1700" dirty="0"/>
              <a:t>      try</a:t>
            </a:r>
          </a:p>
          <a:p>
            <a:pPr>
              <a:buNone/>
            </a:pPr>
            <a:r>
              <a:rPr lang="en-US" sz="1700" b="1" dirty="0">
                <a:solidFill>
                  <a:srgbClr val="FF0000"/>
                </a:solidFill>
              </a:rPr>
              <a:t>         {</a:t>
            </a:r>
          </a:p>
          <a:p>
            <a:pPr>
              <a:buNone/>
            </a:pPr>
            <a:r>
              <a:rPr lang="en-US" sz="1700" dirty="0"/>
              <a:t>         try</a:t>
            </a:r>
          </a:p>
          <a:p>
            <a:pPr>
              <a:buNone/>
            </a:pPr>
            <a:r>
              <a:rPr lang="en-US" sz="1700" dirty="0"/>
              <a:t>            {</a:t>
            </a:r>
          </a:p>
          <a:p>
            <a:pPr>
              <a:buNone/>
            </a:pPr>
            <a:r>
              <a:rPr lang="en-US" sz="1700" dirty="0"/>
              <a:t>            </a:t>
            </a:r>
            <a:r>
              <a:rPr lang="en-US" sz="1700" dirty="0" err="1"/>
              <a:t>System.out.println</a:t>
            </a:r>
            <a:r>
              <a:rPr lang="en-US" sz="1700" dirty="0"/>
              <a:t>("going to divide");</a:t>
            </a:r>
          </a:p>
          <a:p>
            <a:pPr>
              <a:buNone/>
            </a:pPr>
            <a:r>
              <a:rPr lang="en-US" sz="1700" dirty="0"/>
              <a:t>            </a:t>
            </a:r>
            <a:r>
              <a:rPr lang="en-US" sz="1700" dirty="0" err="1"/>
              <a:t>int</a:t>
            </a:r>
            <a:r>
              <a:rPr lang="en-US" sz="1700" dirty="0"/>
              <a:t> b =39/0;</a:t>
            </a:r>
          </a:p>
          <a:p>
            <a:pPr>
              <a:buNone/>
            </a:pPr>
            <a:r>
              <a:rPr lang="en-US" sz="1700" dirty="0"/>
              <a:t>            }</a:t>
            </a:r>
          </a:p>
          <a:p>
            <a:pPr>
              <a:buNone/>
            </a:pPr>
            <a:r>
              <a:rPr lang="en-US" sz="1700" dirty="0"/>
              <a:t>         catch(</a:t>
            </a:r>
            <a:r>
              <a:rPr lang="en-US" sz="1700" dirty="0" err="1"/>
              <a:t>ArithmeticException</a:t>
            </a:r>
            <a:r>
              <a:rPr lang="en-US" sz="1700" dirty="0"/>
              <a:t> e)</a:t>
            </a:r>
          </a:p>
          <a:p>
            <a:pPr>
              <a:buNone/>
            </a:pPr>
            <a:r>
              <a:rPr lang="en-US" sz="1700" dirty="0"/>
              <a:t>            {            </a:t>
            </a:r>
            <a:r>
              <a:rPr lang="en-US" sz="1700" dirty="0" err="1"/>
              <a:t>System.out.println</a:t>
            </a:r>
            <a:r>
              <a:rPr lang="en-US" sz="1700" dirty="0"/>
              <a:t>(e);            }</a:t>
            </a:r>
          </a:p>
          <a:p>
            <a:pPr>
              <a:buNone/>
            </a:pPr>
            <a:r>
              <a:rPr lang="en-US" sz="1700" dirty="0"/>
              <a:t>         </a:t>
            </a:r>
            <a:r>
              <a:rPr lang="en-US" sz="1700" dirty="0" err="1"/>
              <a:t>System.out.println</a:t>
            </a:r>
            <a:r>
              <a:rPr lang="en-US" sz="1700" dirty="0"/>
              <a:t>("other statement");</a:t>
            </a:r>
          </a:p>
          <a:p>
            <a:pPr>
              <a:buNone/>
            </a:pPr>
            <a:r>
              <a:rPr lang="en-US" sz="1700" b="1" dirty="0">
                <a:solidFill>
                  <a:srgbClr val="FF0000"/>
                </a:solidFill>
              </a:rPr>
              <a:t>         }</a:t>
            </a:r>
          </a:p>
          <a:p>
            <a:pPr>
              <a:buNone/>
            </a:pPr>
            <a:r>
              <a:rPr lang="en-US" sz="1700" dirty="0"/>
              <a:t>      catch(Exception e){</a:t>
            </a:r>
            <a:r>
              <a:rPr lang="en-US" sz="1700" dirty="0" err="1"/>
              <a:t>System.out.println</a:t>
            </a:r>
            <a:r>
              <a:rPr lang="en-US" sz="1700" dirty="0"/>
              <a:t>("</a:t>
            </a:r>
            <a:r>
              <a:rPr lang="en-US" sz="1700" dirty="0" err="1"/>
              <a:t>handeled</a:t>
            </a:r>
            <a:r>
              <a:rPr lang="en-US" sz="1700" dirty="0"/>
              <a:t>");}</a:t>
            </a:r>
          </a:p>
          <a:p>
            <a:pPr>
              <a:buNone/>
            </a:pPr>
            <a:r>
              <a:rPr lang="en-US" sz="1700" dirty="0"/>
              <a:t>      </a:t>
            </a:r>
            <a:r>
              <a:rPr lang="en-US" sz="1700" dirty="0" err="1"/>
              <a:t>System.out.println</a:t>
            </a:r>
            <a:r>
              <a:rPr lang="en-US" sz="1700" dirty="0"/>
              <a:t>("normal flow..");</a:t>
            </a:r>
          </a:p>
          <a:p>
            <a:pPr>
              <a:buNone/>
            </a:pPr>
            <a:r>
              <a:rPr lang="en-US" sz="1700" dirty="0"/>
              <a:t>      }</a:t>
            </a:r>
          </a:p>
          <a:p>
            <a:pPr>
              <a:buNone/>
            </a:pPr>
            <a:r>
              <a:rPr lang="en-US" sz="1700" dirty="0"/>
              <a:t>   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r>
              <a:rPr lang="en-US" dirty="0"/>
              <a:t>Exception Propagation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371600"/>
            <a:ext cx="4953000" cy="5376672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dirty="0"/>
              <a:t>class Demo</a:t>
            </a:r>
          </a:p>
          <a:p>
            <a:pPr>
              <a:buNone/>
            </a:pPr>
            <a:r>
              <a:rPr lang="en-US" dirty="0"/>
              <a:t>{</a:t>
            </a:r>
          </a:p>
          <a:p>
            <a:pPr>
              <a:buNone/>
            </a:pPr>
            <a:r>
              <a:rPr lang="en-US" dirty="0"/>
              <a:t>   void m(){    </a:t>
            </a:r>
            <a:r>
              <a:rPr lang="en-US" dirty="0" err="1"/>
              <a:t>int</a:t>
            </a:r>
            <a:r>
              <a:rPr lang="en-US" dirty="0"/>
              <a:t> data=50/0;  }</a:t>
            </a:r>
          </a:p>
          <a:p>
            <a:pPr>
              <a:buNone/>
            </a:pPr>
            <a:r>
              <a:rPr lang="en-US" dirty="0"/>
              <a:t>   void n(){     m();   }</a:t>
            </a:r>
          </a:p>
          <a:p>
            <a:pPr>
              <a:buNone/>
            </a:pPr>
            <a:r>
              <a:rPr lang="en-US" dirty="0"/>
              <a:t>   void p()</a:t>
            </a:r>
          </a:p>
          <a:p>
            <a:pPr>
              <a:buNone/>
            </a:pPr>
            <a:r>
              <a:rPr lang="en-US" dirty="0"/>
              <a:t>	   {</a:t>
            </a:r>
          </a:p>
          <a:p>
            <a:pPr>
              <a:buNone/>
            </a:pPr>
            <a:r>
              <a:rPr lang="en-US" dirty="0"/>
              <a:t>       try{</a:t>
            </a:r>
          </a:p>
          <a:p>
            <a:pPr>
              <a:buNone/>
            </a:pPr>
            <a:r>
              <a:rPr lang="en-US" dirty="0"/>
              <a:t>            n();</a:t>
            </a:r>
          </a:p>
          <a:p>
            <a:pPr>
              <a:buNone/>
            </a:pPr>
            <a:r>
              <a:rPr lang="en-US" dirty="0"/>
              <a:t>           }</a:t>
            </a:r>
          </a:p>
          <a:p>
            <a:pPr>
              <a:buNone/>
            </a:pPr>
            <a:r>
              <a:rPr lang="en-US" dirty="0"/>
              <a:t>       catch(Exception e)</a:t>
            </a:r>
          </a:p>
          <a:p>
            <a:pPr>
              <a:buNone/>
            </a:pPr>
            <a:r>
              <a:rPr lang="en-US" dirty="0"/>
              <a:t>           {</a:t>
            </a:r>
            <a:r>
              <a:rPr lang="en-US" dirty="0" err="1"/>
              <a:t>System.out.println</a:t>
            </a:r>
            <a:r>
              <a:rPr lang="en-US" dirty="0"/>
              <a:t>("exception handled");}</a:t>
            </a:r>
          </a:p>
          <a:p>
            <a:pPr>
              <a:buNone/>
            </a:pPr>
            <a:r>
              <a:rPr lang="en-US" dirty="0"/>
              <a:t>       }</a:t>
            </a:r>
          </a:p>
          <a:p>
            <a:pPr>
              <a:buNone/>
            </a:pPr>
            <a:r>
              <a:rPr lang="en-US" dirty="0"/>
              <a:t>  public static void main(String </a:t>
            </a:r>
            <a:r>
              <a:rPr lang="en-US" dirty="0" err="1"/>
              <a:t>args</a:t>
            </a:r>
            <a:r>
              <a:rPr lang="en-US" dirty="0"/>
              <a:t>[])</a:t>
            </a:r>
          </a:p>
          <a:p>
            <a:pPr>
              <a:buNone/>
            </a:pPr>
            <a:r>
              <a:rPr lang="en-US" dirty="0"/>
              <a:t>	   {</a:t>
            </a:r>
          </a:p>
          <a:p>
            <a:pPr>
              <a:buNone/>
            </a:pPr>
            <a:r>
              <a:rPr lang="en-US" dirty="0"/>
              <a:t>       Demo </a:t>
            </a:r>
            <a:r>
              <a:rPr lang="en-US" dirty="0" err="1"/>
              <a:t>obj</a:t>
            </a:r>
            <a:r>
              <a:rPr lang="en-US" dirty="0"/>
              <a:t>=new Demo();</a:t>
            </a:r>
          </a:p>
          <a:p>
            <a:pPr>
              <a:buNone/>
            </a:pPr>
            <a:r>
              <a:rPr lang="en-US" dirty="0"/>
              <a:t>       </a:t>
            </a:r>
            <a:r>
              <a:rPr lang="en-US" dirty="0" err="1"/>
              <a:t>obj.p</a:t>
            </a:r>
            <a:r>
              <a:rPr lang="en-US" dirty="0"/>
              <a:t>();</a:t>
            </a:r>
          </a:p>
          <a:p>
            <a:pPr>
              <a:buNone/>
            </a:pPr>
            <a:r>
              <a:rPr lang="en-US" dirty="0"/>
              <a:t>       </a:t>
            </a:r>
            <a:r>
              <a:rPr lang="en-US" dirty="0" err="1"/>
              <a:t>System.out.println</a:t>
            </a:r>
            <a:r>
              <a:rPr lang="en-US" dirty="0"/>
              <a:t>("normal flow...");</a:t>
            </a:r>
          </a:p>
          <a:p>
            <a:pPr>
              <a:buNone/>
            </a:pPr>
            <a:r>
              <a:rPr lang="en-US" dirty="0"/>
              <a:t>      }</a:t>
            </a:r>
          </a:p>
          <a:p>
            <a:pPr>
              <a:buNone/>
            </a:pPr>
            <a:r>
              <a:rPr lang="en-US" dirty="0"/>
              <a:t>}</a:t>
            </a:r>
          </a:p>
        </p:txBody>
      </p:sp>
      <p:pic>
        <p:nvPicPr>
          <p:cNvPr id="1026" name="Picture 2" descr="exception propagation"/>
          <p:cNvPicPr>
            <a:picLocks noChangeAspect="1" noChangeArrowheads="1"/>
          </p:cNvPicPr>
          <p:nvPr/>
        </p:nvPicPr>
        <p:blipFill>
          <a:blip r:embed="rId2" cstate="print">
            <a:lum bright="-45000" contrast="71000"/>
          </a:blip>
          <a:srcRect/>
          <a:stretch>
            <a:fillRect/>
          </a:stretch>
        </p:blipFill>
        <p:spPr bwMode="auto">
          <a:xfrm>
            <a:off x="5751808" y="3505200"/>
            <a:ext cx="3392192" cy="3352800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5751809" y="1524001"/>
            <a:ext cx="3011191" cy="16312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An exception is first thrown from the top of the stack is not caught, it drops down to the previous method in the call stack.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effectLst/>
              </a:rPr>
              <a:t>throw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The Java throw keyword is used to explicitly throw an exception.</a:t>
            </a:r>
          </a:p>
          <a:p>
            <a:pPr algn="just"/>
            <a:r>
              <a:rPr lang="en-US" dirty="0"/>
              <a:t>We can throw either checked or unchecked exception in java by throw keyword. The throw keyword is mainly used to throw custom exception.</a:t>
            </a:r>
          </a:p>
          <a:p>
            <a:endParaRPr lang="en-US" dirty="0"/>
          </a:p>
          <a:p>
            <a:pPr algn="r"/>
            <a:r>
              <a:rPr lang="en-US" sz="2800" dirty="0"/>
              <a:t>Refer </a:t>
            </a:r>
            <a:r>
              <a:rPr lang="en-US" sz="2800" b="1" dirty="0"/>
              <a:t>Lab8</a:t>
            </a:r>
            <a:endParaRPr 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1447800" y="4953000"/>
            <a:ext cx="59436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throw new </a:t>
            </a:r>
            <a:r>
              <a:rPr lang="en-US" dirty="0" err="1"/>
              <a:t>ArithmeticException</a:t>
            </a:r>
            <a:r>
              <a:rPr lang="en-US" dirty="0"/>
              <a:t>("not valid");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9530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Keyword in the signature of method to indicate that method might throw one of the listed type exceptions</a:t>
            </a:r>
          </a:p>
          <a:p>
            <a:pPr algn="just"/>
            <a:r>
              <a:rPr lang="en-US" dirty="0"/>
              <a:t>Use throws keyword to delegate the responsibility of exception handling to the caller (method or JVM), then caller method is responsible to handle that exception.</a:t>
            </a:r>
          </a:p>
          <a:p>
            <a:pPr algn="just"/>
            <a:r>
              <a:rPr lang="en-US" dirty="0"/>
              <a:t>throws keyword is required only for checked exception and usage of throws keyword for unchecked exception is meaningless.</a:t>
            </a:r>
            <a:endParaRPr lang="si-LK" dirty="0"/>
          </a:p>
          <a:p>
            <a:pPr algn="just"/>
            <a:r>
              <a:rPr lang="en-US"/>
              <a:t>Only checked exceptions are required to be thrown using the throws keyword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5948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61722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class </a:t>
            </a:r>
            <a:r>
              <a:rPr lang="en-US" sz="2000" dirty="0" err="1"/>
              <a:t>TestVar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{</a:t>
            </a:r>
          </a:p>
          <a:p>
            <a:pPr marL="0" indent="0">
              <a:buNone/>
            </a:pPr>
            <a:r>
              <a:rPr lang="en-US" sz="2000" dirty="0"/>
              <a:t>    static void fun() </a:t>
            </a:r>
            <a:r>
              <a:rPr lang="en-US" sz="2000" b="1" dirty="0"/>
              <a:t>throws</a:t>
            </a:r>
            <a:r>
              <a:rPr lang="en-US" sz="2000" dirty="0"/>
              <a:t> </a:t>
            </a:r>
            <a:r>
              <a:rPr lang="en-US" sz="2000" dirty="0" err="1"/>
              <a:t>IllegalAccessException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{</a:t>
            </a:r>
          </a:p>
          <a:p>
            <a:pPr marL="0" indent="0">
              <a:buNone/>
            </a:pPr>
            <a:r>
              <a:rPr lang="en-US" sz="2000" dirty="0"/>
              <a:t>        </a:t>
            </a:r>
            <a:r>
              <a:rPr lang="en-US" sz="2000" dirty="0" err="1"/>
              <a:t>System.out.println</a:t>
            </a:r>
            <a:r>
              <a:rPr lang="en-US" sz="2000" dirty="0"/>
              <a:t>("Inside fun(). ");</a:t>
            </a:r>
          </a:p>
          <a:p>
            <a:pPr marL="0" indent="0">
              <a:buNone/>
            </a:pPr>
            <a:r>
              <a:rPr lang="en-US" sz="2000" dirty="0"/>
              <a:t>        </a:t>
            </a:r>
            <a:r>
              <a:rPr lang="en-US" sz="2000" b="1" dirty="0"/>
              <a:t>throw</a:t>
            </a:r>
            <a:r>
              <a:rPr lang="en-US" sz="2000" dirty="0"/>
              <a:t> new </a:t>
            </a:r>
            <a:r>
              <a:rPr lang="en-US" sz="2000" dirty="0" err="1"/>
              <a:t>IllegalAccessException</a:t>
            </a:r>
            <a:r>
              <a:rPr lang="en-US" sz="2000" dirty="0"/>
              <a:t>("demo");</a:t>
            </a:r>
          </a:p>
          <a:p>
            <a:pPr marL="0" indent="0">
              <a:buNone/>
            </a:pPr>
            <a:r>
              <a:rPr lang="en-US" sz="2000" dirty="0"/>
              <a:t>    }</a:t>
            </a:r>
          </a:p>
          <a:p>
            <a:pPr marL="0" indent="0">
              <a:buNone/>
            </a:pPr>
            <a:r>
              <a:rPr lang="en-US" sz="2000" dirty="0"/>
              <a:t>    public static void main(String </a:t>
            </a:r>
            <a:r>
              <a:rPr lang="en-US" sz="2000" dirty="0" err="1"/>
              <a:t>args</a:t>
            </a:r>
            <a:r>
              <a:rPr lang="en-US" sz="2000" dirty="0"/>
              <a:t>[])</a:t>
            </a:r>
          </a:p>
          <a:p>
            <a:pPr marL="0" indent="0">
              <a:buNone/>
            </a:pPr>
            <a:r>
              <a:rPr lang="en-US" sz="2000" dirty="0"/>
              <a:t>    {</a:t>
            </a:r>
          </a:p>
          <a:p>
            <a:pPr marL="0" indent="0">
              <a:buNone/>
            </a:pPr>
            <a:r>
              <a:rPr lang="en-US" sz="2000" dirty="0"/>
              <a:t>        try</a:t>
            </a:r>
          </a:p>
          <a:p>
            <a:pPr marL="0" indent="0">
              <a:buNone/>
            </a:pPr>
            <a:r>
              <a:rPr lang="en-US" sz="2000" dirty="0"/>
              <a:t>        {             fun();        }</a:t>
            </a:r>
          </a:p>
          <a:p>
            <a:pPr marL="0" indent="0">
              <a:buNone/>
            </a:pPr>
            <a:r>
              <a:rPr lang="en-US" sz="2000" dirty="0"/>
              <a:t>        catch(Exception e)</a:t>
            </a:r>
          </a:p>
          <a:p>
            <a:pPr marL="0" indent="0">
              <a:buNone/>
            </a:pPr>
            <a:r>
              <a:rPr lang="en-US" sz="2000" dirty="0"/>
              <a:t>        {</a:t>
            </a:r>
          </a:p>
          <a:p>
            <a:pPr marL="0" indent="0">
              <a:buNone/>
            </a:pPr>
            <a:r>
              <a:rPr lang="en-US" sz="2000" dirty="0"/>
              <a:t>            </a:t>
            </a:r>
            <a:r>
              <a:rPr lang="en-US" sz="2000" dirty="0" err="1"/>
              <a:t>System.out.println</a:t>
            </a:r>
            <a:r>
              <a:rPr lang="en-US" sz="2000" dirty="0"/>
              <a:t>("Caught in main"+</a:t>
            </a:r>
            <a:r>
              <a:rPr lang="en-US" sz="2000" dirty="0" err="1"/>
              <a:t>e.toString</a:t>
            </a:r>
            <a:r>
              <a:rPr lang="en-US" sz="2000" dirty="0"/>
              <a:t>());</a:t>
            </a:r>
          </a:p>
          <a:p>
            <a:pPr marL="0" indent="0">
              <a:buNone/>
            </a:pPr>
            <a:r>
              <a:rPr lang="en-US" sz="2000" dirty="0"/>
              <a:t>        }</a:t>
            </a:r>
          </a:p>
          <a:p>
            <a:pPr marL="0" indent="0">
              <a:buNone/>
            </a:pPr>
            <a:r>
              <a:rPr lang="en-US" sz="2000" dirty="0"/>
              <a:t>    }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87255551"/>
      </p:ext>
    </p:extLst>
  </p:cSld>
  <p:clrMapOvr>
    <a:masterClrMapping/>
  </p:clrMapOvr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HNDIT</Template>
  <TotalTime>1136</TotalTime>
  <Words>852</Words>
  <Application>Microsoft Office PowerPoint</Application>
  <PresentationFormat>On-screen Show (4:3)</PresentationFormat>
  <Paragraphs>218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Iskoola Pota</vt:lpstr>
      <vt:lpstr>HNDIT</vt:lpstr>
      <vt:lpstr>HNDIT2012 Fundamentals of Computer Programming</vt:lpstr>
      <vt:lpstr>Program Errors</vt:lpstr>
      <vt:lpstr>Run time errors</vt:lpstr>
      <vt:lpstr>Exception</vt:lpstr>
      <vt:lpstr>exception object</vt:lpstr>
      <vt:lpstr>Hierarchy of Java Exception classes</vt:lpstr>
      <vt:lpstr>Types of Java Exceptions</vt:lpstr>
      <vt:lpstr>Types of Exceptions</vt:lpstr>
      <vt:lpstr>Types of Exceptions</vt:lpstr>
      <vt:lpstr>Types of Exceptions</vt:lpstr>
      <vt:lpstr>Exception handling</vt:lpstr>
      <vt:lpstr>try catch block</vt:lpstr>
      <vt:lpstr>try catch block</vt:lpstr>
      <vt:lpstr>Multiple catch Blocks</vt:lpstr>
      <vt:lpstr>try catch block</vt:lpstr>
      <vt:lpstr> finally Block</vt:lpstr>
      <vt:lpstr>try catch with finally </vt:lpstr>
      <vt:lpstr>Throwable</vt:lpstr>
      <vt:lpstr>Nesting try blocks</vt:lpstr>
      <vt:lpstr>Exception Propagation</vt:lpstr>
      <vt:lpstr>throw</vt:lpstr>
      <vt:lpstr>throws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in JAVA</dc:title>
  <dc:creator>Janaka</dc:creator>
  <cp:lastModifiedBy>USER</cp:lastModifiedBy>
  <cp:revision>223</cp:revision>
  <dcterms:created xsi:type="dcterms:W3CDTF">2006-08-16T00:00:00Z</dcterms:created>
  <dcterms:modified xsi:type="dcterms:W3CDTF">2024-04-08T08:03:41Z</dcterms:modified>
</cp:coreProperties>
</file>