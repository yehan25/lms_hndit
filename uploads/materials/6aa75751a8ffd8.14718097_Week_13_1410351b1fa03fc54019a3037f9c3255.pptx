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Lato-regular.fntdata"/><Relationship Id="rId21" Type="http://schemas.openxmlformats.org/officeDocument/2006/relationships/font" Target="fonts/Ralew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a117d3f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a117d3f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0dd403140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0dd403140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098e27d8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7098e27d8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0dd403140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0dd403140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0dd403140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0dd403140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0dd403140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0dd403140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098e27d8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7098e27d8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0dd403140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0dd403140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0dd403140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0dd403140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Product metrics − Describes the characteristics of the product such as size, complexity, design features, performance, and quality level.</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Process metrics − These characteristics can be used to improve the development and maintenance activities of the software.</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Project metrics − This metrics describe the project characteristics and execution. Examples include the number of software developers, the staffing pattern over the life cycle of the software, cost, schedule, and productivity.</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0dd4031403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0dd403140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Product metrics − Describes the characteristics of the product such as size, complexity, design features, performance, and quality level.</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Process metrics − These characteristics can be used to improve the development and maintenance activities of the software.</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Project metrics − This metrics describe the project characteristics and execution. Examples include the number of software developers, the staffing pattern over the life cycle of the software, cost, schedule, and productivity.</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Software Testing &amp; Quality Management</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Software Testing?</a:t>
            </a:r>
            <a:endParaRPr sz="2540"/>
          </a:p>
        </p:txBody>
      </p:sp>
      <p:sp>
        <p:nvSpPr>
          <p:cNvPr id="99" name="Google Shape;99;p15"/>
          <p:cNvSpPr txBox="1"/>
          <p:nvPr>
            <p:ph idx="1" type="body"/>
          </p:nvPr>
        </p:nvSpPr>
        <p:spPr>
          <a:xfrm>
            <a:off x="729450" y="1240675"/>
            <a:ext cx="7688700" cy="930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800"/>
              <a:t>Testing is the primary activity of detecting and solving technical issues in the software source code and assessing the overall product usability, performance, security, and compatibility.</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Software Quality?</a:t>
            </a:r>
            <a:endParaRPr sz="2540"/>
          </a:p>
        </p:txBody>
      </p:sp>
      <p:sp>
        <p:nvSpPr>
          <p:cNvPr id="105" name="Google Shape;105;p16"/>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Software quality refers to the degree to which a software product or system satisfies the stated and implied needs of its customers and users. It also relates to how the software product meets the quality standards set by the industry and how it compares with other similar software products.</a:t>
            </a:r>
            <a:endParaRPr sz="1800"/>
          </a:p>
          <a:p>
            <a:pPr indent="0" lvl="0" marL="0" rtl="0" algn="l">
              <a:spcBef>
                <a:spcPts val="1200"/>
              </a:spcBef>
              <a:spcAft>
                <a:spcPts val="1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Quality Assurance?</a:t>
            </a:r>
            <a:endParaRPr sz="2540"/>
          </a:p>
        </p:txBody>
      </p:sp>
      <p:sp>
        <p:nvSpPr>
          <p:cNvPr id="111" name="Google Shape;111;p17"/>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800"/>
              <a:t>Quality assurance is a proactive process that starts from the very beginning of the software development process. The goal of quality assurance is to prevent defects by focusing on the process used to create the product quality of the software. It includes activities like defining and setting quality standards, process standards, quality planning, and continuous improvement.</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Quality Control?</a:t>
            </a:r>
            <a:endParaRPr sz="2540"/>
          </a:p>
        </p:txBody>
      </p:sp>
      <p:sp>
        <p:nvSpPr>
          <p:cNvPr id="117" name="Google Shape;117;p18"/>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In the software development lifecycle, quality control is the stage where the software product is tested and reviewed. </a:t>
            </a:r>
            <a:endParaRPr sz="1800"/>
          </a:p>
          <a:p>
            <a:pPr indent="0" lvl="0" marL="0" rtl="0" algn="l">
              <a:spcBef>
                <a:spcPts val="1200"/>
              </a:spcBef>
              <a:spcAft>
                <a:spcPts val="0"/>
              </a:spcAft>
              <a:buNone/>
            </a:pPr>
            <a:r>
              <a:rPr lang="en" sz="1800"/>
              <a:t>Quality control helps to ensure that the software product meets the quality standards that were set during quality planning. </a:t>
            </a:r>
            <a:endParaRPr sz="1800"/>
          </a:p>
          <a:p>
            <a:pPr indent="0" lvl="0" marL="0" rtl="0" algn="l">
              <a:spcBef>
                <a:spcPts val="1200"/>
              </a:spcBef>
              <a:spcAft>
                <a:spcPts val="1200"/>
              </a:spcAft>
              <a:buNone/>
            </a:pPr>
            <a:r>
              <a:rPr lang="en" sz="1800"/>
              <a:t>It is a critical aspect of software quality management and involves the development team, testing team, and sometimes even software users in a structured and organised set.</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7650" y="417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Software Quality Assurance vs Quality Control vs  Testing</a:t>
            </a:r>
            <a:endParaRPr/>
          </a:p>
        </p:txBody>
      </p:sp>
      <p:pic>
        <p:nvPicPr>
          <p:cNvPr id="123" name="Google Shape;123;p19"/>
          <p:cNvPicPr preferRelativeResize="0"/>
          <p:nvPr/>
        </p:nvPicPr>
        <p:blipFill>
          <a:blip r:embed="rId3">
            <a:alphaModFix/>
          </a:blip>
          <a:stretch>
            <a:fillRect/>
          </a:stretch>
        </p:blipFill>
        <p:spPr>
          <a:xfrm>
            <a:off x="862125" y="1294000"/>
            <a:ext cx="7556024" cy="37780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7650" y="417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Software Quality Assurance vs Quality Control vs  Testing</a:t>
            </a:r>
            <a:endParaRPr/>
          </a:p>
        </p:txBody>
      </p:sp>
      <p:pic>
        <p:nvPicPr>
          <p:cNvPr id="129" name="Google Shape;129;p20"/>
          <p:cNvPicPr preferRelativeResize="0"/>
          <p:nvPr/>
        </p:nvPicPr>
        <p:blipFill>
          <a:blip r:embed="rId3">
            <a:alphaModFix/>
          </a:blip>
          <a:stretch>
            <a:fillRect/>
          </a:stretch>
        </p:blipFill>
        <p:spPr>
          <a:xfrm>
            <a:off x="748375" y="1240150"/>
            <a:ext cx="7771198" cy="38855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Software Quality Management?</a:t>
            </a:r>
            <a:endParaRPr sz="2540"/>
          </a:p>
        </p:txBody>
      </p:sp>
      <p:sp>
        <p:nvSpPr>
          <p:cNvPr id="135" name="Google Shape;135;p21"/>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Software quality management is a systematic process of ensuring that software meets the highest standards in terms of functionality, reliability, and user satisfaction.</a:t>
            </a:r>
            <a:endParaRPr sz="1800"/>
          </a:p>
          <a:p>
            <a:pPr indent="0" lvl="0" marL="0" rtl="0" algn="l">
              <a:spcBef>
                <a:spcPts val="1200"/>
              </a:spcBef>
              <a:spcAft>
                <a:spcPts val="1200"/>
              </a:spcAft>
              <a:buNone/>
            </a:pPr>
            <a:r>
              <a:rPr lang="en" sz="1800"/>
              <a:t>Software Quality Management (SQM) is the process of constant improvement of product quality, integrated into the development process until the expectations are achieved.</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632850"/>
            <a:ext cx="8414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Why Software Quality Management is Important?</a:t>
            </a:r>
            <a:endParaRPr sz="2540"/>
          </a:p>
        </p:txBody>
      </p:sp>
      <p:sp>
        <p:nvSpPr>
          <p:cNvPr id="141" name="Google Shape;141;p22"/>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It helps to identify and correct errors in software, which is essential for the effective implementation of a project. </a:t>
            </a:r>
            <a:endParaRPr sz="1800"/>
          </a:p>
          <a:p>
            <a:pPr indent="0" lvl="0" marL="0" rtl="0" algn="l">
              <a:spcBef>
                <a:spcPts val="1200"/>
              </a:spcBef>
              <a:spcAft>
                <a:spcPts val="0"/>
              </a:spcAft>
              <a:buNone/>
            </a:pPr>
            <a:r>
              <a:rPr lang="en" sz="1800"/>
              <a:t>The quality of the software is simply the measurement of how well the product has been able to fulfill customer needs.</a:t>
            </a:r>
            <a:endParaRPr sz="1800"/>
          </a:p>
          <a:p>
            <a:pPr indent="0" lvl="0" marL="0" rtl="0" algn="l">
              <a:spcBef>
                <a:spcPts val="1200"/>
              </a:spcBef>
              <a:spcAft>
                <a:spcPts val="0"/>
              </a:spcAft>
              <a:buNone/>
            </a:pPr>
            <a:r>
              <a:rPr lang="en" sz="1800"/>
              <a:t>It is measured by how often errors are found and repaired, how well the software works under different conditions, and how easily software can be maintained.</a:t>
            </a:r>
            <a:endParaRPr sz="1800"/>
          </a:p>
          <a:p>
            <a:pPr indent="0" lvl="0" marL="0" rtl="0" algn="l">
              <a:spcBef>
                <a:spcPts val="1200"/>
              </a:spcBef>
              <a:spcAft>
                <a:spcPts val="0"/>
              </a:spcAft>
              <a:buNone/>
            </a:pPr>
            <a:r>
              <a:rPr lang="en" sz="1800"/>
              <a:t>Software quality is determined by comparing actual results against the expected results.Software quality can include a large variety of factors such as degree of completeness, efficiency, usability, correctness, and reliability.</a:t>
            </a:r>
            <a:endParaRPr sz="1800"/>
          </a:p>
          <a:p>
            <a:pPr indent="0" lvl="0" marL="0" rtl="0" algn="l">
              <a:spcBef>
                <a:spcPts val="1200"/>
              </a:spcBef>
              <a:spcAft>
                <a:spcPts val="120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632850"/>
            <a:ext cx="8414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are Software Quality Management Metrics?</a:t>
            </a:r>
            <a:endParaRPr sz="2540"/>
          </a:p>
        </p:txBody>
      </p:sp>
      <p:sp>
        <p:nvSpPr>
          <p:cNvPr id="147" name="Google Shape;147;p23"/>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Software metrics can be classified into three categories</a:t>
            </a:r>
            <a:endParaRPr sz="1800"/>
          </a:p>
          <a:p>
            <a:pPr indent="-342900" lvl="0" marL="457200" rtl="0" algn="l">
              <a:spcBef>
                <a:spcPts val="1200"/>
              </a:spcBef>
              <a:spcAft>
                <a:spcPts val="0"/>
              </a:spcAft>
              <a:buSzPts val="1800"/>
              <a:buChar char="●"/>
            </a:pPr>
            <a:r>
              <a:rPr lang="en" sz="1800"/>
              <a:t>Product metrics - Mean Time to Failure/ Defect Density /Customer Problems /Customer Satisfaction</a:t>
            </a:r>
            <a:endParaRPr sz="1800"/>
          </a:p>
          <a:p>
            <a:pPr indent="-342900" lvl="0" marL="457200" rtl="0" algn="l">
              <a:spcBef>
                <a:spcPts val="0"/>
              </a:spcBef>
              <a:spcAft>
                <a:spcPts val="0"/>
              </a:spcAft>
              <a:buSzPts val="1800"/>
              <a:buChar char="●"/>
            </a:pPr>
            <a:r>
              <a:rPr lang="en" sz="1800"/>
              <a:t>Process metrics  - Defect density during machine testing/ Defect arrival pattern during machine testing/ Phase-based defect removal pattern/ Defect removal effectiveness</a:t>
            </a:r>
            <a:endParaRPr sz="1800"/>
          </a:p>
          <a:p>
            <a:pPr indent="-342900" lvl="0" marL="457200" rtl="0" algn="l">
              <a:spcBef>
                <a:spcPts val="0"/>
              </a:spcBef>
              <a:spcAft>
                <a:spcPts val="0"/>
              </a:spcAft>
              <a:buSzPts val="1800"/>
              <a:buChar char="●"/>
            </a:pPr>
            <a:r>
              <a:rPr lang="en" sz="1800"/>
              <a:t>Project metrics - Fix backlog and backlog management index/ Fix response time and fix responsiveness/ Percent delinquent fixes/ Fix quality</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632850"/>
            <a:ext cx="8414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Benefits of Software Quality Management</a:t>
            </a:r>
            <a:endParaRPr sz="2540"/>
          </a:p>
        </p:txBody>
      </p:sp>
      <p:sp>
        <p:nvSpPr>
          <p:cNvPr id="153" name="Google Shape;153;p24"/>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Improves product quality.</a:t>
            </a:r>
            <a:endParaRPr sz="1800"/>
          </a:p>
          <a:p>
            <a:pPr indent="-342900" lvl="0" marL="457200" rtl="0" algn="l">
              <a:spcBef>
                <a:spcPts val="0"/>
              </a:spcBef>
              <a:spcAft>
                <a:spcPts val="0"/>
              </a:spcAft>
              <a:buSzPts val="1800"/>
              <a:buChar char="●"/>
            </a:pPr>
            <a:r>
              <a:rPr lang="en" sz="1800"/>
              <a:t>Adds to customer satisfaction.</a:t>
            </a:r>
            <a:endParaRPr sz="1800"/>
          </a:p>
          <a:p>
            <a:pPr indent="-342900" lvl="0" marL="457200" rtl="0" algn="l">
              <a:spcBef>
                <a:spcPts val="0"/>
              </a:spcBef>
              <a:spcAft>
                <a:spcPts val="0"/>
              </a:spcAft>
              <a:buSzPts val="1800"/>
              <a:buChar char="●"/>
            </a:pPr>
            <a:r>
              <a:rPr lang="en" sz="1800"/>
              <a:t>The software meets user needs and expectations and generates more value, leading to increased user adoption and potentially higher revenue.</a:t>
            </a:r>
            <a:endParaRPr sz="1800"/>
          </a:p>
          <a:p>
            <a:pPr indent="-342900" lvl="0" marL="457200" rtl="0" algn="l">
              <a:spcBef>
                <a:spcPts val="0"/>
              </a:spcBef>
              <a:spcAft>
                <a:spcPts val="0"/>
              </a:spcAft>
              <a:buSzPts val="1800"/>
              <a:buChar char="●"/>
            </a:pPr>
            <a:r>
              <a:rPr lang="en" sz="1800"/>
              <a:t>Helps bring down the cost of rework as defects are detected early in SDLC. </a:t>
            </a:r>
            <a:endParaRPr sz="1800"/>
          </a:p>
          <a:p>
            <a:pPr indent="-342900" lvl="0" marL="457200" rtl="0" algn="l">
              <a:spcBef>
                <a:spcPts val="0"/>
              </a:spcBef>
              <a:spcAft>
                <a:spcPts val="0"/>
              </a:spcAft>
              <a:buSzPts val="1800"/>
              <a:buChar char="●"/>
            </a:pPr>
            <a:r>
              <a:rPr lang="en" sz="1800"/>
              <a:t>Assists in making credible and reliable product development decisions and test management strategies.</a:t>
            </a:r>
            <a:endParaRPr sz="1800"/>
          </a:p>
          <a:p>
            <a:pPr indent="-342900" lvl="0" marL="457200" rtl="0" algn="l">
              <a:spcBef>
                <a:spcPts val="0"/>
              </a:spcBef>
              <a:spcAft>
                <a:spcPts val="0"/>
              </a:spcAft>
              <a:buSzPts val="1800"/>
              <a:buChar char="●"/>
            </a:pPr>
            <a:r>
              <a:rPr lang="en" sz="1800"/>
              <a:t>Increases productivity.</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159" name="Google Shape;159;p25"/>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