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2"/>
  </p:notesMasterIdLst>
  <p:sldIdLst>
    <p:sldId id="288" r:id="rId2"/>
    <p:sldId id="349" r:id="rId3"/>
    <p:sldId id="375" r:id="rId4"/>
    <p:sldId id="376" r:id="rId5"/>
    <p:sldId id="377" r:id="rId6"/>
    <p:sldId id="378" r:id="rId7"/>
    <p:sldId id="391" r:id="rId8"/>
    <p:sldId id="379" r:id="rId9"/>
    <p:sldId id="380" r:id="rId10"/>
    <p:sldId id="381" r:id="rId11"/>
    <p:sldId id="382" r:id="rId12"/>
    <p:sldId id="383" r:id="rId13"/>
    <p:sldId id="389" r:id="rId14"/>
    <p:sldId id="384" r:id="rId15"/>
    <p:sldId id="385" r:id="rId16"/>
    <p:sldId id="386" r:id="rId17"/>
    <p:sldId id="390" r:id="rId18"/>
    <p:sldId id="387" r:id="rId19"/>
    <p:sldId id="388" r:id="rId20"/>
    <p:sldId id="374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69" autoAdjust="0"/>
    <p:restoredTop sz="94660"/>
  </p:normalViewPr>
  <p:slideViewPr>
    <p:cSldViewPr>
      <p:cViewPr varScale="1">
        <p:scale>
          <a:sx n="108" d="100"/>
          <a:sy n="108" d="100"/>
        </p:scale>
        <p:origin x="1908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34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493F6-AEF9-4D68-B6B1-8F8AED03355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B53677-F652-4DD4-8D59-43EB15933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07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F98B-CC5E-41CE-B043-2D846F94F07F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Software Engineering IT4012 2025 SEM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Chapter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Course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3112-E994-43BA-93FF-CE9D9F76FE02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4FB8-B262-4513-B07C-200423A3BB7C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C9BF4-5DD1-4D97-880D-76E1BD8CFE4D}" type="datetime1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2AC1C-C963-4AC3-8B89-32E638B74B67}" type="datetime1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A103B-4EB5-45BD-8F8B-D5316ABF44EE}" type="datetime1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EEEC4-B19E-4969-BAD0-E8461BBCAA56}" type="datetime1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24CD9-F062-4B0B-BA15-B9C87DCEC158}" type="datetime1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9DB4-5C57-43AA-A5B6-CFF49C147315}" type="datetime1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1A7B1-A1CD-4DF9-80B5-B05B49073721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0FF37-1E65-4698-B22B-1FD978CC5A86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ECDE8-FDE2-4B04-A121-A5EDA7F0B8E3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Software Engineering IT4012 2025 SEM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System Modeling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Software Engineering</a:t>
            </a:r>
            <a:br>
              <a:rPr lang="en-US" dirty="0"/>
            </a:br>
            <a:r>
              <a:rPr lang="en-US" dirty="0"/>
              <a:t>IT4012</a:t>
            </a:r>
          </a:p>
        </p:txBody>
      </p:sp>
    </p:spTree>
    <p:extLst>
      <p:ext uri="{BB962C8B-B14F-4D97-AF65-F5344CB8AC3E}">
        <p14:creationId xmlns:p14="http://schemas.microsoft.com/office/powerpoint/2010/main" val="132907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AC59A-509B-F90D-B5ED-92EED9F44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06D78-AB19-CA00-A4DD-1C20C9F77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system modeling</a:t>
            </a:r>
          </a:p>
          <a:p>
            <a:r>
              <a:rPr lang="en-US" dirty="0"/>
              <a:t>Explain the importance of models</a:t>
            </a:r>
          </a:p>
          <a:p>
            <a:r>
              <a:rPr lang="en-US" dirty="0"/>
              <a:t>Identify different system modeling perspectives</a:t>
            </a:r>
          </a:p>
          <a:p>
            <a:r>
              <a:rPr lang="en-US" dirty="0"/>
              <a:t>Understand UML diagrams</a:t>
            </a:r>
          </a:p>
          <a:p>
            <a:r>
              <a:rPr lang="en-US" dirty="0"/>
              <a:t>Draw basic UML diagrams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8EAFD4-1CBE-88D2-CFEB-28A1AC1D8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CF8E0D-75F1-67E1-B7F0-80C518AFD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297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DE60C-9C7B-A071-0C92-1BBFB70DE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System Modeling?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17E16-EB20-8205-78F7-73445C157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 modeling is the process of developing abstract models of a system.</a:t>
            </a:r>
          </a:p>
          <a:p>
            <a:r>
              <a:rPr lang="en-US" dirty="0"/>
              <a:t>Key Ideas</a:t>
            </a:r>
          </a:p>
          <a:p>
            <a:pPr lvl="1"/>
            <a:r>
              <a:rPr lang="en-US" dirty="0"/>
              <a:t>Represents a system visually</a:t>
            </a:r>
          </a:p>
          <a:p>
            <a:pPr lvl="1"/>
            <a:r>
              <a:rPr lang="en-US" dirty="0"/>
              <a:t>Simplifies complex systems</a:t>
            </a:r>
          </a:p>
          <a:p>
            <a:pPr lvl="1"/>
            <a:r>
              <a:rPr lang="en-US" dirty="0"/>
              <a:t>Uses diagrams and graphical notation</a:t>
            </a:r>
          </a:p>
          <a:p>
            <a:pPr lvl="1"/>
            <a:r>
              <a:rPr lang="en-US" dirty="0"/>
              <a:t>Commonly uses UML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9C5DD1-5ED0-7FF0-471E-61893122A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96F5D7-E4CB-7E87-7E87-F27C9A290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812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CB160-D5DE-A2A7-F0C2-4053A0F8B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System Perspectives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B4C5D-A1BD-C85B-47F5-B7293D19A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four major perspectives-</a:t>
            </a:r>
          </a:p>
          <a:p>
            <a:pPr lvl="1"/>
            <a:r>
              <a:rPr lang="en-US" dirty="0"/>
              <a:t>Context Perspective</a:t>
            </a:r>
          </a:p>
          <a:p>
            <a:pPr lvl="1"/>
            <a:r>
              <a:rPr lang="en-US" dirty="0"/>
              <a:t>Interaction Perspective</a:t>
            </a:r>
          </a:p>
          <a:p>
            <a:pPr lvl="1"/>
            <a:r>
              <a:rPr lang="en-US" dirty="0"/>
              <a:t>Structural Perspective</a:t>
            </a:r>
          </a:p>
          <a:p>
            <a:pPr lvl="1"/>
            <a:r>
              <a:rPr lang="en-US" dirty="0"/>
              <a:t>Behavioral Perspective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A58A88-8B90-0C0F-D0D6-35CC6CE0D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B6F384-6088-A5F8-189E-F2459293C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008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60736-985A-7A6D-5305-4C97DBF14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UML?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C7B3F-6680-39C1-CBF0-F0727D94A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UML is a standard modeling language used in software engineering.</a:t>
            </a:r>
          </a:p>
          <a:p>
            <a:r>
              <a:rPr lang="en-US" dirty="0"/>
              <a:t>UML Supports-</a:t>
            </a:r>
          </a:p>
          <a:p>
            <a:pPr lvl="1"/>
            <a:r>
              <a:rPr lang="en-US" dirty="0"/>
              <a:t>Use Case Diagrams</a:t>
            </a:r>
          </a:p>
          <a:p>
            <a:pPr lvl="1"/>
            <a:r>
              <a:rPr lang="en-US" dirty="0"/>
              <a:t>Sequence Diagrams</a:t>
            </a:r>
          </a:p>
          <a:p>
            <a:pPr lvl="1"/>
            <a:r>
              <a:rPr lang="en-US" dirty="0"/>
              <a:t>Activity Diagrams</a:t>
            </a:r>
          </a:p>
          <a:p>
            <a:pPr lvl="1"/>
            <a:r>
              <a:rPr lang="en-US" dirty="0"/>
              <a:t>Class Diagrams</a:t>
            </a:r>
          </a:p>
          <a:p>
            <a:pPr lvl="1"/>
            <a:r>
              <a:rPr lang="en-US" dirty="0"/>
              <a:t>State Diagrams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E5FB6A-40D6-E7C0-7C7F-A7DF9C7EC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DBFB6F-57FE-33E4-BDF2-354997DC2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853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22FB0-BB7D-593C-5A28-79249DC12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A489B-B9E6-0DC1-18CC-0431ED5CF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Context models show</a:t>
            </a:r>
          </a:p>
          <a:p>
            <a:pPr lvl="1"/>
            <a:r>
              <a:rPr lang="en-US" dirty="0"/>
              <a:t>System boundaries</a:t>
            </a:r>
          </a:p>
          <a:p>
            <a:pPr lvl="1"/>
            <a:r>
              <a:rPr lang="en-US" dirty="0"/>
              <a:t>External systems</a:t>
            </a:r>
          </a:p>
          <a:p>
            <a:pPr lvl="1"/>
            <a:r>
              <a:rPr lang="en-US" dirty="0"/>
              <a:t>Environment of the system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ATM System</a:t>
            </a:r>
          </a:p>
          <a:p>
            <a:pPr lvl="1"/>
            <a:r>
              <a:rPr lang="en-US" dirty="0"/>
              <a:t>Online Shopping System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BBEAEC-40DE-0EF9-27B2-C9715C29E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6E944A-6A58-F8AF-B9FA-702AD7547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3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5AC63-468F-9F9B-8912-DCD1CEA62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Context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A6833-6FC6-951C-A449-C6D849224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17A687-84CB-3106-EC43-05719D58B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8288AB-CC7D-9CC2-DD62-0A5CA8411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12FFA1-0CCC-2637-7596-8B2FBED37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927" y="2743200"/>
            <a:ext cx="5038145" cy="267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964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71E51-0F34-4317-89F0-00D5BE5FA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98964-E104-0862-DCEC-9268B73AC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Interaction models describe-</a:t>
            </a:r>
          </a:p>
          <a:p>
            <a:pPr lvl="1"/>
            <a:r>
              <a:rPr lang="en-US" dirty="0"/>
              <a:t>User interaction</a:t>
            </a:r>
          </a:p>
          <a:p>
            <a:pPr lvl="1"/>
            <a:r>
              <a:rPr lang="en-US" dirty="0"/>
              <a:t>System-to-system interaction</a:t>
            </a:r>
          </a:p>
          <a:p>
            <a:pPr lvl="1"/>
            <a:r>
              <a:rPr lang="en-US" dirty="0"/>
              <a:t>Component interaction</a:t>
            </a:r>
          </a:p>
          <a:p>
            <a:endParaRPr lang="en-US" dirty="0"/>
          </a:p>
          <a:p>
            <a:r>
              <a:rPr lang="en-US" dirty="0"/>
              <a:t>Main Diagrams</a:t>
            </a:r>
          </a:p>
          <a:p>
            <a:pPr lvl="1"/>
            <a:r>
              <a:rPr lang="en-US" dirty="0"/>
              <a:t>Use Case Diagram</a:t>
            </a:r>
          </a:p>
          <a:p>
            <a:pPr lvl="1"/>
            <a:r>
              <a:rPr lang="en-US" dirty="0"/>
              <a:t>Sequence Diagram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7A4C4E-9707-F250-A3A1-A504D8B2A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82E1F2-31AA-F8E7-8CBA-73A01E766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286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29992-099B-CFF7-1C52-4D1E86F12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F4396-F319-D25C-0AC1-3FC8AE6F5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case diagrams show-</a:t>
            </a:r>
          </a:p>
          <a:p>
            <a:pPr lvl="1"/>
            <a:r>
              <a:rPr lang="en-US" dirty="0"/>
              <a:t>Actors</a:t>
            </a:r>
          </a:p>
          <a:p>
            <a:pPr lvl="1"/>
            <a:r>
              <a:rPr lang="en-US" dirty="0"/>
              <a:t>System functions</a:t>
            </a:r>
          </a:p>
          <a:p>
            <a:pPr lvl="1"/>
            <a:r>
              <a:rPr lang="en-US" dirty="0"/>
              <a:t>User interactions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3DC2A-7B5C-F15A-5244-0585F57E2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B0D86-8231-4F23-7D22-C5EBD37B6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609FDB-1B1D-CAE8-853A-C7A6E7E04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3391085"/>
            <a:ext cx="348615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634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3A4EC-0FD9-2296-FBCD-C99D6C698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56A6E-3C18-BA57-0FD7-0DEDAFCAC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Sequence diagrams show-</a:t>
            </a:r>
          </a:p>
          <a:p>
            <a:pPr lvl="1"/>
            <a:r>
              <a:rPr lang="en-US" dirty="0"/>
              <a:t>Object interactions</a:t>
            </a:r>
          </a:p>
          <a:p>
            <a:pPr lvl="1"/>
            <a:r>
              <a:rPr lang="en-US" dirty="0"/>
              <a:t>Message flow</a:t>
            </a:r>
          </a:p>
          <a:p>
            <a:pPr lvl="1"/>
            <a:r>
              <a:rPr lang="en-US" dirty="0"/>
              <a:t>Order of operations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F5A506-5BCF-425A-4B7E-0495C1527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AB07F9-20AD-81AB-A33F-D7032C249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FA77F1-DE29-A70F-F984-E56F6929F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3048000"/>
            <a:ext cx="4124325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122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CE56A-AF2C-1C35-2224-1F3E2351A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4943D-4DB0-FF31-7067-C3139C162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Structural models show-</a:t>
            </a:r>
          </a:p>
          <a:p>
            <a:pPr lvl="1"/>
            <a:r>
              <a:rPr lang="en-US" dirty="0"/>
              <a:t>Organization of the system</a:t>
            </a:r>
          </a:p>
          <a:p>
            <a:pPr lvl="1"/>
            <a:r>
              <a:rPr lang="en-US" dirty="0"/>
              <a:t>Classes and relationships</a:t>
            </a:r>
          </a:p>
          <a:p>
            <a:endParaRPr lang="en-US" dirty="0"/>
          </a:p>
          <a:p>
            <a:r>
              <a:rPr lang="en-US" dirty="0"/>
              <a:t>Main Diagram</a:t>
            </a:r>
          </a:p>
          <a:p>
            <a:pPr lvl="1"/>
            <a:r>
              <a:rPr lang="en-US" dirty="0"/>
              <a:t>Class Diagram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6AD07D-C592-9531-7F45-593A7EC1A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613B70-9CE5-DD38-3463-BE848E60B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3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58B03-DE21-2592-9041-FF3C747E8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1CF1C-AAC5-244B-6279-181DE519D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Class Contains</a:t>
            </a:r>
          </a:p>
          <a:p>
            <a:pPr lvl="1"/>
            <a:r>
              <a:rPr lang="en-US" dirty="0"/>
              <a:t>Class Name</a:t>
            </a:r>
          </a:p>
          <a:p>
            <a:pPr lvl="1"/>
            <a:r>
              <a:rPr lang="en-US" dirty="0"/>
              <a:t>Attributes</a:t>
            </a:r>
          </a:p>
          <a:p>
            <a:pPr lvl="1"/>
            <a:r>
              <a:rPr lang="en-US" dirty="0"/>
              <a:t>Methods</a:t>
            </a:r>
          </a:p>
          <a:p>
            <a:r>
              <a:rPr lang="en-US" dirty="0"/>
              <a:t>Relationships</a:t>
            </a:r>
          </a:p>
          <a:p>
            <a:pPr lvl="1"/>
            <a:r>
              <a:rPr lang="en-US" dirty="0"/>
              <a:t>Association</a:t>
            </a:r>
          </a:p>
          <a:p>
            <a:pPr lvl="1"/>
            <a:r>
              <a:rPr lang="en-US" dirty="0"/>
              <a:t>Inheritance</a:t>
            </a:r>
          </a:p>
          <a:p>
            <a:pPr lvl="1"/>
            <a:r>
              <a:rPr lang="en-US" dirty="0"/>
              <a:t>Aggregation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A59E5-D13C-AC5C-F08D-418F85C32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2CC019-5B9C-7CA5-393C-FCAFA387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AAD616-E775-C48A-976C-1B3E296C1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750" y="2438400"/>
            <a:ext cx="2103537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007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D49DC-EAE1-D19D-7D6F-31AA019FA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Class Diagram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F4FC9D-4EAB-5C95-F2D4-56942AE4E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D2CE65-B674-43EA-CAE4-505044015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13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365779E-3DEB-2DBA-B395-91EEBCD0A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802032-66BC-F0FE-0616-E6A8487BF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00" y="2429668"/>
            <a:ext cx="4648200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34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61816-F1DA-D80A-42CC-54EDDAFB7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Behavioral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004FD-4C0B-F460-E9B8-B53538FB1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Behavioral models describe-</a:t>
            </a:r>
          </a:p>
          <a:p>
            <a:pPr lvl="1"/>
            <a:r>
              <a:rPr lang="en-US" dirty="0"/>
              <a:t>Dynamic behavior</a:t>
            </a:r>
          </a:p>
          <a:p>
            <a:pPr lvl="1"/>
            <a:r>
              <a:rPr lang="en-US" dirty="0"/>
              <a:t>Event responses</a:t>
            </a:r>
          </a:p>
          <a:p>
            <a:pPr lvl="1"/>
            <a:r>
              <a:rPr lang="en-US" dirty="0"/>
              <a:t>Data processing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E6F263-4B8F-477A-87D3-496AB62D2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4A5122-21F2-D18E-13B7-B060EC720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737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8AFA-AFE4-E391-8B92-443257B80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7EB7F-D541-C666-5063-BA93A1CDD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Activity diagrams show-</a:t>
            </a:r>
          </a:p>
          <a:p>
            <a:pPr lvl="1"/>
            <a:r>
              <a:rPr lang="en-US" dirty="0"/>
              <a:t>Workflow</a:t>
            </a:r>
          </a:p>
          <a:p>
            <a:pPr lvl="1"/>
            <a:r>
              <a:rPr lang="en-US" dirty="0"/>
              <a:t>Process steps</a:t>
            </a:r>
          </a:p>
          <a:p>
            <a:pPr lvl="1"/>
            <a:r>
              <a:rPr lang="en-US" dirty="0"/>
              <a:t>Decision making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B03D26-EEB0-E963-8C4C-43A399C63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F96670-8E34-A44D-8248-6EAF27B67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9FEFC1-B5F2-06B1-1376-EAE4EB58C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2514600"/>
            <a:ext cx="4533900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523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0A6F4-D511-BF10-EFD7-51BD96DA9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5AE11-EF33-E023-5BC8-BCA0BAC30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 diagrams show-</a:t>
            </a:r>
          </a:p>
          <a:p>
            <a:pPr lvl="1"/>
            <a:r>
              <a:rPr lang="en-US" dirty="0"/>
              <a:t>System states</a:t>
            </a:r>
          </a:p>
          <a:p>
            <a:pPr lvl="1"/>
            <a:r>
              <a:rPr lang="en-US" dirty="0"/>
              <a:t>Event-triggered transitions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4454BE-4660-6C92-B2B0-C139A418C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C6CF3C-A001-0470-1120-65EA5EE1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8188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C1212-16BF-B609-1D9C-E645A4FEF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State Diagram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9A73942-EA23-3938-14CB-7D372AC54E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3537" y="2124869"/>
            <a:ext cx="5876925" cy="378142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EA239-4689-0485-B9CD-2048748F4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08BDF5-D487-3E41-6A31-D763E6629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680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E8021-B289-5675-6CC7-ECFE0BEA1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Data-Driven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54953-790E-1D9D-5FD9-CA7FF33F6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flow diagrams show-</a:t>
            </a:r>
          </a:p>
          <a:p>
            <a:pPr lvl="1"/>
            <a:r>
              <a:rPr lang="en-US" dirty="0"/>
              <a:t>Input data</a:t>
            </a:r>
          </a:p>
          <a:p>
            <a:pPr lvl="1"/>
            <a:r>
              <a:rPr lang="en-US" dirty="0"/>
              <a:t>Processing steps</a:t>
            </a:r>
          </a:p>
          <a:p>
            <a:pPr lvl="1"/>
            <a:r>
              <a:rPr lang="en-US" dirty="0"/>
              <a:t>Output data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EA2E83-77C3-A26A-0322-DEE71E54F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5148BA-44EC-0387-8D70-48B2ACB08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74816A-AC7B-B3A6-EE04-A26E76E71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667000"/>
            <a:ext cx="4495800" cy="339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476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810EF-6663-F002-62DC-7ED4DD668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System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9954F-C250-1151-520B-C76F892F8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Better communication</a:t>
            </a:r>
          </a:p>
          <a:p>
            <a:r>
              <a:rPr lang="en-US" dirty="0"/>
              <a:t>Easier understanding</a:t>
            </a:r>
          </a:p>
          <a:p>
            <a:r>
              <a:rPr lang="en-US" dirty="0"/>
              <a:t>Improved documentation</a:t>
            </a:r>
          </a:p>
          <a:p>
            <a:r>
              <a:rPr lang="en-US" dirty="0"/>
              <a:t>Reduced development errors</a:t>
            </a:r>
          </a:p>
          <a:p>
            <a:r>
              <a:rPr lang="en-US" dirty="0"/>
              <a:t>Easier maintenance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91A53B-2215-440A-4CFF-9E2CE18F6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19A96D-A23F-F6C2-5BA0-55CFABCFE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236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FE36B-CDE5-65C1-DC6F-608195A41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5A7D5-015F-264F-F950-88031F15B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 modeling concepts</a:t>
            </a:r>
          </a:p>
          <a:p>
            <a:r>
              <a:rPr lang="en-US" dirty="0"/>
              <a:t>UML diagrams</a:t>
            </a:r>
          </a:p>
          <a:p>
            <a:r>
              <a:rPr lang="en-US" dirty="0"/>
              <a:t>Context, interaction, structural, and behavioral models</a:t>
            </a:r>
          </a:p>
          <a:p>
            <a:r>
              <a:rPr lang="en-US" dirty="0"/>
              <a:t>Activity, use case, sequence, class, and state diagrams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739C8D-4C17-EBD4-87EF-1E8D7F66A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 IT4012 2025 SEM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46A05C-F3F4-8128-53E7-1681A205C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396501"/>
      </p:ext>
    </p:extLst>
  </p:cSld>
  <p:clrMapOvr>
    <a:masterClrMapping/>
  </p:clrMapOvr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7D6EB70-AC5D-4C93-8EC9-DDBA92A97C78}" vid="{AD4A3A70-3E62-4EFF-A645-92967231B9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SLIATE LMS Template Powerpoint</Template>
  <TotalTime>2211</TotalTime>
  <Words>424</Words>
  <Application>Microsoft Office PowerPoint</Application>
  <PresentationFormat>On-screen Show (4:3)</PresentationFormat>
  <Paragraphs>144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HNDIT</vt:lpstr>
      <vt:lpstr>Software Engineering IT4012</vt:lpstr>
      <vt:lpstr>Learning Objectives</vt:lpstr>
      <vt:lpstr>What is System Modeling?</vt:lpstr>
      <vt:lpstr>Types of System Perspectives</vt:lpstr>
      <vt:lpstr>What is UML?</vt:lpstr>
      <vt:lpstr>Context Models</vt:lpstr>
      <vt:lpstr>Example Context Models</vt:lpstr>
      <vt:lpstr>Interaction Models</vt:lpstr>
      <vt:lpstr>Use Case Diagram</vt:lpstr>
      <vt:lpstr>Sequence Diagrams</vt:lpstr>
      <vt:lpstr>Structural Models</vt:lpstr>
      <vt:lpstr>Class Diagram</vt:lpstr>
      <vt:lpstr>Example Class Diagram</vt:lpstr>
      <vt:lpstr>Behavioral Models</vt:lpstr>
      <vt:lpstr>Activity Diagram</vt:lpstr>
      <vt:lpstr>State Diagram</vt:lpstr>
      <vt:lpstr>Example State Diagram</vt:lpstr>
      <vt:lpstr>Data-Driven Modeling</vt:lpstr>
      <vt:lpstr>Advantages of System Modeling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Software Engineering</dc:title>
  <dc:creator>Gayan</dc:creator>
  <cp:lastModifiedBy>Gayan Sudharshana</cp:lastModifiedBy>
  <cp:revision>60</cp:revision>
  <dcterms:created xsi:type="dcterms:W3CDTF">2018-05-21T18:09:50Z</dcterms:created>
  <dcterms:modified xsi:type="dcterms:W3CDTF">2026-05-10T17:13:12Z</dcterms:modified>
</cp:coreProperties>
</file>