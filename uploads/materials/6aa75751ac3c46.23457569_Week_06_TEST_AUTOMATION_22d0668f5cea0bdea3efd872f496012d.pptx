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embeddedFontLst>
    <p:embeddedFont>
      <p:font typeface="Corbel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hza3tGjxtyT/W3f++evDkAztOR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Corbel-bold.fntdata"/><Relationship Id="rId23" Type="http://schemas.openxmlformats.org/officeDocument/2006/relationships/font" Target="fonts/Corbel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Corbel-boldItalic.fntdata"/><Relationship Id="rId25" Type="http://schemas.openxmlformats.org/officeDocument/2006/relationships/font" Target="fonts/Corbel-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/>
          <p:nvPr>
            <p:ph type="title"/>
          </p:nvPr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" type="subTitle"/>
          </p:nvPr>
        </p:nvSpPr>
        <p:spPr>
          <a:xfrm>
            <a:off x="1484280" y="2666880"/>
            <a:ext cx="10018440" cy="312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/>
          <p:nvPr>
            <p:ph type="title"/>
          </p:nvPr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" type="body"/>
          </p:nvPr>
        </p:nvSpPr>
        <p:spPr>
          <a:xfrm>
            <a:off x="1484280" y="2666880"/>
            <a:ext cx="10018440" cy="312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/>
          <p:nvPr>
            <p:ph type="title"/>
          </p:nvPr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" type="body"/>
          </p:nvPr>
        </p:nvSpPr>
        <p:spPr>
          <a:xfrm>
            <a:off x="1484280" y="2666880"/>
            <a:ext cx="4888800" cy="312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2" type="body"/>
          </p:nvPr>
        </p:nvSpPr>
        <p:spPr>
          <a:xfrm>
            <a:off x="6617880" y="2666880"/>
            <a:ext cx="4888800" cy="312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5"/>
          <p:cNvSpPr txBox="1"/>
          <p:nvPr>
            <p:ph type="title"/>
          </p:nvPr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6"/>
          <p:cNvSpPr txBox="1"/>
          <p:nvPr>
            <p:ph idx="1" type="subTitle"/>
          </p:nvPr>
        </p:nvSpPr>
        <p:spPr>
          <a:xfrm>
            <a:off x="1484280" y="685800"/>
            <a:ext cx="10018440" cy="812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1484280" y="2666880"/>
            <a:ext cx="4888800" cy="148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6617880" y="2666880"/>
            <a:ext cx="4888800" cy="312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1484280" y="4298400"/>
            <a:ext cx="4888800" cy="148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8"/>
          <p:cNvSpPr txBox="1"/>
          <p:nvPr>
            <p:ph type="title"/>
          </p:nvPr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" type="body"/>
          </p:nvPr>
        </p:nvSpPr>
        <p:spPr>
          <a:xfrm>
            <a:off x="1484280" y="2666880"/>
            <a:ext cx="4888800" cy="312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2" type="body"/>
          </p:nvPr>
        </p:nvSpPr>
        <p:spPr>
          <a:xfrm>
            <a:off x="6617880" y="2666880"/>
            <a:ext cx="4888800" cy="148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8"/>
          <p:cNvSpPr txBox="1"/>
          <p:nvPr>
            <p:ph idx="3" type="body"/>
          </p:nvPr>
        </p:nvSpPr>
        <p:spPr>
          <a:xfrm>
            <a:off x="6617880" y="4298400"/>
            <a:ext cx="4888800" cy="148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9"/>
          <p:cNvSpPr txBox="1"/>
          <p:nvPr>
            <p:ph type="title"/>
          </p:nvPr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" type="body"/>
          </p:nvPr>
        </p:nvSpPr>
        <p:spPr>
          <a:xfrm>
            <a:off x="1484280" y="2666880"/>
            <a:ext cx="4888800" cy="148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2" type="body"/>
          </p:nvPr>
        </p:nvSpPr>
        <p:spPr>
          <a:xfrm>
            <a:off x="6617880" y="2666880"/>
            <a:ext cx="4888800" cy="148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9"/>
          <p:cNvSpPr txBox="1"/>
          <p:nvPr>
            <p:ph idx="3" type="body"/>
          </p:nvPr>
        </p:nvSpPr>
        <p:spPr>
          <a:xfrm>
            <a:off x="1484280" y="4298400"/>
            <a:ext cx="10018440" cy="148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0"/>
          <p:cNvSpPr txBox="1"/>
          <p:nvPr>
            <p:ph type="title"/>
          </p:nvPr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0"/>
          <p:cNvSpPr txBox="1"/>
          <p:nvPr>
            <p:ph idx="1" type="body"/>
          </p:nvPr>
        </p:nvSpPr>
        <p:spPr>
          <a:xfrm>
            <a:off x="1484280" y="2666880"/>
            <a:ext cx="10018440" cy="148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0"/>
          <p:cNvSpPr txBox="1"/>
          <p:nvPr>
            <p:ph idx="2" type="body"/>
          </p:nvPr>
        </p:nvSpPr>
        <p:spPr>
          <a:xfrm>
            <a:off x="1484280" y="4298400"/>
            <a:ext cx="10018440" cy="148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1"/>
          <p:cNvSpPr txBox="1"/>
          <p:nvPr>
            <p:ph type="title"/>
          </p:nvPr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1"/>
          <p:cNvSpPr txBox="1"/>
          <p:nvPr>
            <p:ph idx="1" type="body"/>
          </p:nvPr>
        </p:nvSpPr>
        <p:spPr>
          <a:xfrm>
            <a:off x="1484280" y="2666880"/>
            <a:ext cx="4888800" cy="148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1"/>
          <p:cNvSpPr txBox="1"/>
          <p:nvPr>
            <p:ph idx="2" type="body"/>
          </p:nvPr>
        </p:nvSpPr>
        <p:spPr>
          <a:xfrm>
            <a:off x="6617880" y="2666880"/>
            <a:ext cx="4888800" cy="148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 txBox="1"/>
          <p:nvPr>
            <p:ph idx="3" type="body"/>
          </p:nvPr>
        </p:nvSpPr>
        <p:spPr>
          <a:xfrm>
            <a:off x="1484280" y="4298400"/>
            <a:ext cx="4888800" cy="148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1"/>
          <p:cNvSpPr txBox="1"/>
          <p:nvPr>
            <p:ph idx="4" type="body"/>
          </p:nvPr>
        </p:nvSpPr>
        <p:spPr>
          <a:xfrm>
            <a:off x="6617880" y="4298400"/>
            <a:ext cx="4888800" cy="148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/>
          <p:nvPr>
            <p:ph type="title"/>
          </p:nvPr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 txBox="1"/>
          <p:nvPr>
            <p:ph idx="1" type="body"/>
          </p:nvPr>
        </p:nvSpPr>
        <p:spPr>
          <a:xfrm>
            <a:off x="1484280" y="2666880"/>
            <a:ext cx="3225600" cy="148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2"/>
          <p:cNvSpPr txBox="1"/>
          <p:nvPr>
            <p:ph idx="2" type="body"/>
          </p:nvPr>
        </p:nvSpPr>
        <p:spPr>
          <a:xfrm>
            <a:off x="4871520" y="2666880"/>
            <a:ext cx="3225600" cy="148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2"/>
          <p:cNvSpPr txBox="1"/>
          <p:nvPr>
            <p:ph idx="3" type="body"/>
          </p:nvPr>
        </p:nvSpPr>
        <p:spPr>
          <a:xfrm>
            <a:off x="8258760" y="2666880"/>
            <a:ext cx="3225600" cy="148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4" type="body"/>
          </p:nvPr>
        </p:nvSpPr>
        <p:spPr>
          <a:xfrm>
            <a:off x="1484280" y="4298400"/>
            <a:ext cx="3225600" cy="148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5" type="body"/>
          </p:nvPr>
        </p:nvSpPr>
        <p:spPr>
          <a:xfrm>
            <a:off x="4871520" y="4298400"/>
            <a:ext cx="3225600" cy="148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6" type="body"/>
          </p:nvPr>
        </p:nvSpPr>
        <p:spPr>
          <a:xfrm>
            <a:off x="8258760" y="4298400"/>
            <a:ext cx="3225600" cy="148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3"/>
          <p:cNvSpPr txBox="1"/>
          <p:nvPr>
            <p:ph type="title"/>
          </p:nvPr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3"/>
          <p:cNvSpPr txBox="1"/>
          <p:nvPr>
            <p:ph idx="1" type="subTitle"/>
          </p:nvPr>
        </p:nvSpPr>
        <p:spPr>
          <a:xfrm>
            <a:off x="1484280" y="2666880"/>
            <a:ext cx="10018440" cy="312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4"/>
          <p:cNvSpPr txBox="1"/>
          <p:nvPr>
            <p:ph type="title"/>
          </p:nvPr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4"/>
          <p:cNvSpPr txBox="1"/>
          <p:nvPr>
            <p:ph idx="1" type="body"/>
          </p:nvPr>
        </p:nvSpPr>
        <p:spPr>
          <a:xfrm>
            <a:off x="1484280" y="2666880"/>
            <a:ext cx="10018440" cy="312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5"/>
          <p:cNvSpPr txBox="1"/>
          <p:nvPr>
            <p:ph type="title"/>
          </p:nvPr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5"/>
          <p:cNvSpPr txBox="1"/>
          <p:nvPr>
            <p:ph idx="1" type="body"/>
          </p:nvPr>
        </p:nvSpPr>
        <p:spPr>
          <a:xfrm>
            <a:off x="1484280" y="2666880"/>
            <a:ext cx="4888800" cy="312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5"/>
          <p:cNvSpPr txBox="1"/>
          <p:nvPr>
            <p:ph idx="2" type="body"/>
          </p:nvPr>
        </p:nvSpPr>
        <p:spPr>
          <a:xfrm>
            <a:off x="6617880" y="2666880"/>
            <a:ext cx="4888800" cy="312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6"/>
          <p:cNvSpPr txBox="1"/>
          <p:nvPr>
            <p:ph type="title"/>
          </p:nvPr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7"/>
          <p:cNvSpPr txBox="1"/>
          <p:nvPr>
            <p:ph idx="1" type="subTitle"/>
          </p:nvPr>
        </p:nvSpPr>
        <p:spPr>
          <a:xfrm>
            <a:off x="1484280" y="685800"/>
            <a:ext cx="10018440" cy="812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8"/>
          <p:cNvSpPr txBox="1"/>
          <p:nvPr>
            <p:ph type="title"/>
          </p:nvPr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8"/>
          <p:cNvSpPr txBox="1"/>
          <p:nvPr>
            <p:ph idx="1" type="body"/>
          </p:nvPr>
        </p:nvSpPr>
        <p:spPr>
          <a:xfrm>
            <a:off x="1484280" y="2666880"/>
            <a:ext cx="4888800" cy="148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8"/>
          <p:cNvSpPr txBox="1"/>
          <p:nvPr>
            <p:ph idx="2" type="body"/>
          </p:nvPr>
        </p:nvSpPr>
        <p:spPr>
          <a:xfrm>
            <a:off x="6617880" y="2666880"/>
            <a:ext cx="4888800" cy="312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8"/>
          <p:cNvSpPr txBox="1"/>
          <p:nvPr>
            <p:ph idx="3" type="body"/>
          </p:nvPr>
        </p:nvSpPr>
        <p:spPr>
          <a:xfrm>
            <a:off x="1484280" y="4298400"/>
            <a:ext cx="4888800" cy="148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9"/>
          <p:cNvSpPr txBox="1"/>
          <p:nvPr>
            <p:ph type="title"/>
          </p:nvPr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9"/>
          <p:cNvSpPr txBox="1"/>
          <p:nvPr>
            <p:ph idx="1" type="body"/>
          </p:nvPr>
        </p:nvSpPr>
        <p:spPr>
          <a:xfrm>
            <a:off x="1484280" y="2666880"/>
            <a:ext cx="4888800" cy="312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39"/>
          <p:cNvSpPr txBox="1"/>
          <p:nvPr>
            <p:ph idx="2" type="body"/>
          </p:nvPr>
        </p:nvSpPr>
        <p:spPr>
          <a:xfrm>
            <a:off x="6617880" y="2666880"/>
            <a:ext cx="4888800" cy="148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9"/>
          <p:cNvSpPr txBox="1"/>
          <p:nvPr>
            <p:ph idx="3" type="body"/>
          </p:nvPr>
        </p:nvSpPr>
        <p:spPr>
          <a:xfrm>
            <a:off x="6617880" y="4298400"/>
            <a:ext cx="4888800" cy="148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0"/>
          <p:cNvSpPr txBox="1"/>
          <p:nvPr>
            <p:ph type="title"/>
          </p:nvPr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40"/>
          <p:cNvSpPr txBox="1"/>
          <p:nvPr>
            <p:ph idx="1" type="body"/>
          </p:nvPr>
        </p:nvSpPr>
        <p:spPr>
          <a:xfrm>
            <a:off x="1484280" y="2666880"/>
            <a:ext cx="4888800" cy="148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40"/>
          <p:cNvSpPr txBox="1"/>
          <p:nvPr>
            <p:ph idx="2" type="body"/>
          </p:nvPr>
        </p:nvSpPr>
        <p:spPr>
          <a:xfrm>
            <a:off x="6617880" y="2666880"/>
            <a:ext cx="4888800" cy="148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40"/>
          <p:cNvSpPr txBox="1"/>
          <p:nvPr>
            <p:ph idx="3" type="body"/>
          </p:nvPr>
        </p:nvSpPr>
        <p:spPr>
          <a:xfrm>
            <a:off x="1484280" y="4298400"/>
            <a:ext cx="10018440" cy="148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1"/>
          <p:cNvSpPr txBox="1"/>
          <p:nvPr>
            <p:ph type="title"/>
          </p:nvPr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41"/>
          <p:cNvSpPr txBox="1"/>
          <p:nvPr>
            <p:ph idx="1" type="body"/>
          </p:nvPr>
        </p:nvSpPr>
        <p:spPr>
          <a:xfrm>
            <a:off x="1484280" y="2666880"/>
            <a:ext cx="10018440" cy="148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41"/>
          <p:cNvSpPr txBox="1"/>
          <p:nvPr>
            <p:ph idx="2" type="body"/>
          </p:nvPr>
        </p:nvSpPr>
        <p:spPr>
          <a:xfrm>
            <a:off x="1484280" y="4298400"/>
            <a:ext cx="10018440" cy="148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2"/>
          <p:cNvSpPr txBox="1"/>
          <p:nvPr>
            <p:ph type="title"/>
          </p:nvPr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42"/>
          <p:cNvSpPr txBox="1"/>
          <p:nvPr>
            <p:ph idx="1" type="body"/>
          </p:nvPr>
        </p:nvSpPr>
        <p:spPr>
          <a:xfrm>
            <a:off x="1484280" y="2666880"/>
            <a:ext cx="4888800" cy="148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42"/>
          <p:cNvSpPr txBox="1"/>
          <p:nvPr>
            <p:ph idx="2" type="body"/>
          </p:nvPr>
        </p:nvSpPr>
        <p:spPr>
          <a:xfrm>
            <a:off x="6617880" y="2666880"/>
            <a:ext cx="4888800" cy="148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42"/>
          <p:cNvSpPr txBox="1"/>
          <p:nvPr>
            <p:ph idx="3" type="body"/>
          </p:nvPr>
        </p:nvSpPr>
        <p:spPr>
          <a:xfrm>
            <a:off x="1484280" y="4298400"/>
            <a:ext cx="4888800" cy="148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42"/>
          <p:cNvSpPr txBox="1"/>
          <p:nvPr>
            <p:ph idx="4" type="body"/>
          </p:nvPr>
        </p:nvSpPr>
        <p:spPr>
          <a:xfrm>
            <a:off x="6617880" y="4298400"/>
            <a:ext cx="4888800" cy="148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3"/>
          <p:cNvSpPr txBox="1"/>
          <p:nvPr>
            <p:ph type="title"/>
          </p:nvPr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43"/>
          <p:cNvSpPr txBox="1"/>
          <p:nvPr>
            <p:ph idx="1" type="body"/>
          </p:nvPr>
        </p:nvSpPr>
        <p:spPr>
          <a:xfrm>
            <a:off x="1484280" y="2666880"/>
            <a:ext cx="3225600" cy="148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43"/>
          <p:cNvSpPr txBox="1"/>
          <p:nvPr>
            <p:ph idx="2" type="body"/>
          </p:nvPr>
        </p:nvSpPr>
        <p:spPr>
          <a:xfrm>
            <a:off x="4871520" y="2666880"/>
            <a:ext cx="3225600" cy="148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43"/>
          <p:cNvSpPr txBox="1"/>
          <p:nvPr>
            <p:ph idx="3" type="body"/>
          </p:nvPr>
        </p:nvSpPr>
        <p:spPr>
          <a:xfrm>
            <a:off x="8258760" y="2666880"/>
            <a:ext cx="3225600" cy="148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43"/>
          <p:cNvSpPr txBox="1"/>
          <p:nvPr>
            <p:ph idx="4" type="body"/>
          </p:nvPr>
        </p:nvSpPr>
        <p:spPr>
          <a:xfrm>
            <a:off x="1484280" y="4298400"/>
            <a:ext cx="3225600" cy="148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43"/>
          <p:cNvSpPr txBox="1"/>
          <p:nvPr>
            <p:ph idx="5" type="body"/>
          </p:nvPr>
        </p:nvSpPr>
        <p:spPr>
          <a:xfrm>
            <a:off x="4871520" y="4298400"/>
            <a:ext cx="3225600" cy="148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43"/>
          <p:cNvSpPr txBox="1"/>
          <p:nvPr>
            <p:ph idx="6" type="body"/>
          </p:nvPr>
        </p:nvSpPr>
        <p:spPr>
          <a:xfrm>
            <a:off x="8258760" y="4298400"/>
            <a:ext cx="3225600" cy="148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8"/>
          <p:cNvGrpSpPr/>
          <p:nvPr/>
        </p:nvGrpSpPr>
        <p:grpSpPr>
          <a:xfrm>
            <a:off x="150840" y="0"/>
            <a:ext cx="2436480" cy="6857640"/>
            <a:chOff x="150840" y="0"/>
            <a:chExt cx="2436480" cy="6857640"/>
          </a:xfrm>
        </p:grpSpPr>
        <p:sp>
          <p:nvSpPr>
            <p:cNvPr id="7" name="Google Shape;7;p18"/>
            <p:cNvSpPr/>
            <p:nvPr/>
          </p:nvSpPr>
          <p:spPr>
            <a:xfrm>
              <a:off x="457200" y="0"/>
              <a:ext cx="1122120" cy="5328720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Google Shape;8;p18"/>
            <p:cNvSpPr/>
            <p:nvPr/>
          </p:nvSpPr>
          <p:spPr>
            <a:xfrm>
              <a:off x="150840" y="0"/>
              <a:ext cx="1117080" cy="527652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9" name="Google Shape;9;p18"/>
            <p:cNvSpPr/>
            <p:nvPr/>
          </p:nvSpPr>
          <p:spPr>
            <a:xfrm>
              <a:off x="150840" y="5238720"/>
              <a:ext cx="1228320" cy="161892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0" name="Google Shape;10;p18"/>
            <p:cNvSpPr/>
            <p:nvPr/>
          </p:nvSpPr>
          <p:spPr>
            <a:xfrm>
              <a:off x="457200" y="5291280"/>
              <a:ext cx="1495080" cy="1566360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0D0E"/>
            </a:solidFill>
            <a:ln>
              <a:noFill/>
            </a:ln>
          </p:spPr>
        </p:sp>
        <p:sp>
          <p:nvSpPr>
            <p:cNvPr id="11" name="Google Shape;11;p18"/>
            <p:cNvSpPr/>
            <p:nvPr/>
          </p:nvSpPr>
          <p:spPr>
            <a:xfrm>
              <a:off x="457200" y="5286240"/>
              <a:ext cx="2130120" cy="1571400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8D1415"/>
            </a:solidFill>
            <a:ln>
              <a:noFill/>
            </a:ln>
          </p:spPr>
        </p:sp>
        <p:sp>
          <p:nvSpPr>
            <p:cNvPr id="12" name="Google Shape;12;p18"/>
            <p:cNvSpPr/>
            <p:nvPr/>
          </p:nvSpPr>
          <p:spPr>
            <a:xfrm>
              <a:off x="150840" y="5238720"/>
              <a:ext cx="1695240" cy="161892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grpSp>
        <p:nvGrpSpPr>
          <p:cNvPr id="13" name="Google Shape;13;p18"/>
          <p:cNvGrpSpPr/>
          <p:nvPr/>
        </p:nvGrpSpPr>
        <p:grpSpPr>
          <a:xfrm>
            <a:off x="546120" y="-4680"/>
            <a:ext cx="5014440" cy="6862320"/>
            <a:chOff x="546120" y="-4680"/>
            <a:chExt cx="5014440" cy="6862320"/>
          </a:xfrm>
        </p:grpSpPr>
        <p:sp>
          <p:nvSpPr>
            <p:cNvPr id="14" name="Google Shape;14;p18"/>
            <p:cNvSpPr/>
            <p:nvPr/>
          </p:nvSpPr>
          <p:spPr>
            <a:xfrm>
              <a:off x="984240" y="-4680"/>
              <a:ext cx="1063440" cy="2782440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Google Shape;15;p18"/>
            <p:cNvSpPr/>
            <p:nvPr/>
          </p:nvSpPr>
          <p:spPr>
            <a:xfrm>
              <a:off x="546120" y="-4680"/>
              <a:ext cx="1034640" cy="267300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6" name="Google Shape;16;p18"/>
            <p:cNvSpPr/>
            <p:nvPr/>
          </p:nvSpPr>
          <p:spPr>
            <a:xfrm>
              <a:off x="546120" y="2583000"/>
              <a:ext cx="2693520" cy="4274640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7" name="Google Shape;17;p18"/>
            <p:cNvSpPr/>
            <p:nvPr/>
          </p:nvSpPr>
          <p:spPr>
            <a:xfrm>
              <a:off x="988920" y="2692440"/>
              <a:ext cx="3331800" cy="41652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5E0D0E"/>
            </a:solidFill>
            <a:ln>
              <a:noFill/>
            </a:ln>
          </p:spPr>
        </p:sp>
        <p:sp>
          <p:nvSpPr>
            <p:cNvPr id="18" name="Google Shape;18;p18"/>
            <p:cNvSpPr/>
            <p:nvPr/>
          </p:nvSpPr>
          <p:spPr>
            <a:xfrm>
              <a:off x="984240" y="2687760"/>
              <a:ext cx="4576320" cy="4169880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1415"/>
            </a:solidFill>
            <a:ln>
              <a:noFill/>
            </a:ln>
          </p:spPr>
        </p:sp>
        <p:sp>
          <p:nvSpPr>
            <p:cNvPr id="19" name="Google Shape;19;p18"/>
            <p:cNvSpPr/>
            <p:nvPr/>
          </p:nvSpPr>
          <p:spPr>
            <a:xfrm>
              <a:off x="546120" y="2577960"/>
              <a:ext cx="3584160" cy="427968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20" name="Google Shape;20;p18"/>
          <p:cNvSpPr txBox="1"/>
          <p:nvPr>
            <p:ph type="title"/>
          </p:nvPr>
        </p:nvSpPr>
        <p:spPr>
          <a:xfrm>
            <a:off x="2928240" y="1380240"/>
            <a:ext cx="8574120" cy="261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" name="Google Shape;21;p18"/>
          <p:cNvSpPr txBox="1"/>
          <p:nvPr>
            <p:ph idx="10" type="dt"/>
          </p:nvPr>
        </p:nvSpPr>
        <p:spPr>
          <a:xfrm>
            <a:off x="9732600" y="5883120"/>
            <a:ext cx="11426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" name="Google Shape;22;p18"/>
          <p:cNvSpPr txBox="1"/>
          <p:nvPr>
            <p:ph idx="11" type="ftr"/>
          </p:nvPr>
        </p:nvSpPr>
        <p:spPr>
          <a:xfrm>
            <a:off x="5332320" y="5883120"/>
            <a:ext cx="432360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3" name="Google Shape;23;p18"/>
          <p:cNvSpPr txBox="1"/>
          <p:nvPr>
            <p:ph idx="12" type="sldNum"/>
          </p:nvPr>
        </p:nvSpPr>
        <p:spPr>
          <a:xfrm>
            <a:off x="10951920" y="5883120"/>
            <a:ext cx="55080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" name="Google Shape;24;p18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20"/>
          <p:cNvGrpSpPr/>
          <p:nvPr/>
        </p:nvGrpSpPr>
        <p:grpSpPr>
          <a:xfrm>
            <a:off x="150840" y="0"/>
            <a:ext cx="2436480" cy="6857640"/>
            <a:chOff x="150840" y="0"/>
            <a:chExt cx="2436480" cy="6857640"/>
          </a:xfrm>
        </p:grpSpPr>
        <p:sp>
          <p:nvSpPr>
            <p:cNvPr id="75" name="Google Shape;75;p20"/>
            <p:cNvSpPr/>
            <p:nvPr/>
          </p:nvSpPr>
          <p:spPr>
            <a:xfrm>
              <a:off x="457200" y="0"/>
              <a:ext cx="1122120" cy="5328720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76" name="Google Shape;76;p20"/>
            <p:cNvSpPr/>
            <p:nvPr/>
          </p:nvSpPr>
          <p:spPr>
            <a:xfrm>
              <a:off x="150840" y="0"/>
              <a:ext cx="1117080" cy="527652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77" name="Google Shape;77;p20"/>
            <p:cNvSpPr/>
            <p:nvPr/>
          </p:nvSpPr>
          <p:spPr>
            <a:xfrm>
              <a:off x="150840" y="5238720"/>
              <a:ext cx="1228320" cy="161892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78" name="Google Shape;78;p20"/>
            <p:cNvSpPr/>
            <p:nvPr/>
          </p:nvSpPr>
          <p:spPr>
            <a:xfrm>
              <a:off x="457200" y="5291280"/>
              <a:ext cx="1495080" cy="1566360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0D0E"/>
            </a:solidFill>
            <a:ln>
              <a:noFill/>
            </a:ln>
          </p:spPr>
        </p:sp>
        <p:sp>
          <p:nvSpPr>
            <p:cNvPr id="79" name="Google Shape;79;p20"/>
            <p:cNvSpPr/>
            <p:nvPr/>
          </p:nvSpPr>
          <p:spPr>
            <a:xfrm>
              <a:off x="457200" y="5286240"/>
              <a:ext cx="2130120" cy="1571400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8D1415"/>
            </a:solidFill>
            <a:ln>
              <a:noFill/>
            </a:ln>
          </p:spPr>
        </p:sp>
        <p:sp>
          <p:nvSpPr>
            <p:cNvPr id="80" name="Google Shape;80;p20"/>
            <p:cNvSpPr/>
            <p:nvPr/>
          </p:nvSpPr>
          <p:spPr>
            <a:xfrm>
              <a:off x="150840" y="5238720"/>
              <a:ext cx="1695240" cy="161892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81" name="Google Shape;81;p20"/>
          <p:cNvSpPr txBox="1"/>
          <p:nvPr>
            <p:ph type="title"/>
          </p:nvPr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1484280" y="2666880"/>
            <a:ext cx="10018440" cy="312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3" name="Google Shape;83;p20"/>
          <p:cNvSpPr txBox="1"/>
          <p:nvPr>
            <p:ph idx="10" type="dt"/>
          </p:nvPr>
        </p:nvSpPr>
        <p:spPr>
          <a:xfrm>
            <a:off x="9732600" y="5883120"/>
            <a:ext cx="11426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4" name="Google Shape;84;p20"/>
          <p:cNvSpPr txBox="1"/>
          <p:nvPr>
            <p:ph idx="11" type="ftr"/>
          </p:nvPr>
        </p:nvSpPr>
        <p:spPr>
          <a:xfrm>
            <a:off x="2572200" y="5883120"/>
            <a:ext cx="70837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10951920" y="5867280"/>
            <a:ext cx="55080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23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Relationship Id="rId4" Type="http://schemas.openxmlformats.org/officeDocument/2006/relationships/image" Target="../media/image7.jpg"/><Relationship Id="rId5" Type="http://schemas.openxmlformats.org/officeDocument/2006/relationships/image" Target="../media/image16.png"/><Relationship Id="rId6" Type="http://schemas.openxmlformats.org/officeDocument/2006/relationships/image" Target="../media/image8.jpg"/><Relationship Id="rId7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Relationship Id="rId5" Type="http://schemas.openxmlformats.org/officeDocument/2006/relationships/image" Target="../media/image9.png"/><Relationship Id="rId6" Type="http://schemas.openxmlformats.org/officeDocument/2006/relationships/image" Target="../media/image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5" Type="http://schemas.openxmlformats.org/officeDocument/2006/relationships/image" Target="../media/image5.jpg"/><Relationship Id="rId6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"/>
          <p:cNvSpPr txBox="1"/>
          <p:nvPr/>
        </p:nvSpPr>
        <p:spPr>
          <a:xfrm>
            <a:off x="1642200" y="1902950"/>
            <a:ext cx="10703700" cy="112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i="0" lang="en-US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AUTOMATION </a:t>
            </a:r>
            <a:r>
              <a:rPr lang="en-US" sz="1800"/>
              <a:t> </a:t>
            </a:r>
            <a:r>
              <a:rPr b="1" i="0" lang="en-US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TESTING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"/>
          <p:cNvSpPr/>
          <p:nvPr/>
        </p:nvSpPr>
        <p:spPr>
          <a:xfrm>
            <a:off x="7601760" y="4064040"/>
            <a:ext cx="3484440" cy="2129400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rnd" cmpd="sng" w="126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0" sx="-80000" rotWithShape="0" dir="5400000" dist="291960" sy="-180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"/>
          <p:cNvSpPr/>
          <p:nvPr/>
        </p:nvSpPr>
        <p:spPr>
          <a:xfrm>
            <a:off x="10328760" y="668880"/>
            <a:ext cx="1284840" cy="1284840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 cap="rnd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0" sx="-80000" rotWithShape="0" dir="5400000" dist="291960" sy="-180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"/>
          <p:cNvSpPr/>
          <p:nvPr/>
        </p:nvSpPr>
        <p:spPr>
          <a:xfrm>
            <a:off x="4327200" y="3389760"/>
            <a:ext cx="3390120" cy="2049120"/>
          </a:xfrm>
          <a:prstGeom prst="ellipse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 cap="rnd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0" sx="-80000" rotWithShape="0" dir="5400000" dist="291960" sy="-180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"/>
          <p:cNvSpPr/>
          <p:nvPr/>
        </p:nvSpPr>
        <p:spPr>
          <a:xfrm>
            <a:off x="2259375" y="416150"/>
            <a:ext cx="9742200" cy="11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latin typeface="Corbel"/>
                <a:ea typeface="Corbel"/>
                <a:cs typeface="Corbel"/>
                <a:sym typeface="Corbel"/>
              </a:rPr>
              <a:t>Software Quality Assurance</a:t>
            </a:r>
            <a:endParaRPr b="1" sz="3700"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latin typeface="Corbel"/>
                <a:ea typeface="Corbel"/>
                <a:cs typeface="Corbel"/>
                <a:sym typeface="Corbel"/>
              </a:rPr>
              <a:t>HNDIT-4022</a:t>
            </a:r>
            <a:endParaRPr b="1" sz="3700"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"/>
          <p:cNvSpPr txBox="1"/>
          <p:nvPr/>
        </p:nvSpPr>
        <p:spPr>
          <a:xfrm>
            <a:off x="1805400" y="0"/>
            <a:ext cx="10018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CONTENT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"/>
          <p:cNvSpPr txBox="1"/>
          <p:nvPr/>
        </p:nvSpPr>
        <p:spPr>
          <a:xfrm>
            <a:off x="2100600" y="2643120"/>
            <a:ext cx="9427680" cy="397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1000"/>
          </a:bodyPr>
          <a:lstStyle/>
          <a:p>
            <a:pPr indent="-285852" lvl="0" marL="28584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D1415"/>
              </a:buClr>
              <a:buSzPct val="100000"/>
              <a:buFont typeface="Arial"/>
              <a:buChar char="•"/>
            </a:pPr>
            <a:r>
              <a:rPr b="0" i="0" lang="en-US" sz="242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What is automation testing?</a:t>
            </a:r>
            <a:endParaRPr b="0" i="0" sz="24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852" lvl="0" marL="285840" marR="0" rtl="0" algn="l">
              <a:lnSpc>
                <a:spcPct val="80000"/>
              </a:lnSpc>
              <a:spcBef>
                <a:spcPts val="1043"/>
              </a:spcBef>
              <a:spcAft>
                <a:spcPts val="0"/>
              </a:spcAft>
              <a:buClr>
                <a:srgbClr val="8D1415"/>
              </a:buClr>
              <a:buSzPct val="100000"/>
              <a:buFont typeface="Arial"/>
              <a:buChar char="•"/>
            </a:pPr>
            <a:r>
              <a:rPr b="0" i="0" lang="en-US" sz="242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Why automation testing?</a:t>
            </a:r>
            <a:endParaRPr b="0" i="0" sz="24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852" lvl="0" marL="285840" marR="0" rtl="0" algn="l">
              <a:lnSpc>
                <a:spcPct val="80000"/>
              </a:lnSpc>
              <a:spcBef>
                <a:spcPts val="1043"/>
              </a:spcBef>
              <a:spcAft>
                <a:spcPts val="0"/>
              </a:spcAft>
              <a:buClr>
                <a:srgbClr val="8D1415"/>
              </a:buClr>
              <a:buSzPct val="100000"/>
              <a:buFont typeface="Arial"/>
              <a:buChar char="•"/>
            </a:pPr>
            <a:r>
              <a:rPr b="0" i="0" lang="en-US" sz="242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Manual testing vs  Test automation.</a:t>
            </a:r>
            <a:endParaRPr b="0" i="0" sz="24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852" lvl="0" marL="285840" marR="0" rtl="0" algn="l">
              <a:lnSpc>
                <a:spcPct val="80000"/>
              </a:lnSpc>
              <a:spcBef>
                <a:spcPts val="1043"/>
              </a:spcBef>
              <a:spcAft>
                <a:spcPts val="0"/>
              </a:spcAft>
              <a:buClr>
                <a:srgbClr val="8D1415"/>
              </a:buClr>
              <a:buSzPct val="100000"/>
              <a:buFont typeface="Arial"/>
              <a:buChar char="•"/>
            </a:pPr>
            <a:r>
              <a:rPr b="0" i="0" lang="en-US" sz="242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Test case types to automate.</a:t>
            </a:r>
            <a:endParaRPr b="0" i="0" sz="24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852" lvl="0" marL="285840" marR="0" rtl="0" algn="l">
              <a:lnSpc>
                <a:spcPct val="80000"/>
              </a:lnSpc>
              <a:spcBef>
                <a:spcPts val="1043"/>
              </a:spcBef>
              <a:spcAft>
                <a:spcPts val="0"/>
              </a:spcAft>
              <a:buClr>
                <a:srgbClr val="8D1415"/>
              </a:buClr>
              <a:buSzPct val="100000"/>
              <a:buFont typeface="Arial"/>
              <a:buChar char="•"/>
            </a:pPr>
            <a:r>
              <a:rPr b="0" i="0" lang="en-US" sz="242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Automation Testing Process.</a:t>
            </a:r>
            <a:endParaRPr b="0" i="0" sz="24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852" lvl="0" marL="285840" marR="0" rtl="0" algn="l">
              <a:lnSpc>
                <a:spcPct val="80000"/>
              </a:lnSpc>
              <a:spcBef>
                <a:spcPts val="1043"/>
              </a:spcBef>
              <a:spcAft>
                <a:spcPts val="0"/>
              </a:spcAft>
              <a:buClr>
                <a:srgbClr val="8D1415"/>
              </a:buClr>
              <a:buSzPct val="100000"/>
              <a:buFont typeface="Arial"/>
              <a:buChar char="•"/>
            </a:pPr>
            <a:r>
              <a:rPr b="0" i="0" lang="en-US" sz="242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Framework for Automation.</a:t>
            </a:r>
            <a:endParaRPr b="0" i="0" sz="24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852" lvl="0" marL="285840" marR="0" rtl="0" algn="l">
              <a:lnSpc>
                <a:spcPct val="80000"/>
              </a:lnSpc>
              <a:spcBef>
                <a:spcPts val="1043"/>
              </a:spcBef>
              <a:spcAft>
                <a:spcPts val="0"/>
              </a:spcAft>
              <a:buClr>
                <a:srgbClr val="8D1415"/>
              </a:buClr>
              <a:buSzPct val="100000"/>
              <a:buFont typeface="Arial"/>
              <a:buChar char="•"/>
            </a:pPr>
            <a:r>
              <a:rPr b="0" i="0" lang="en-US" sz="242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Different type of software test that can be automated.</a:t>
            </a:r>
            <a:endParaRPr b="0" i="0" sz="24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852" lvl="0" marL="285840" marR="0" rtl="0" algn="l">
              <a:lnSpc>
                <a:spcPct val="80000"/>
              </a:lnSpc>
              <a:spcBef>
                <a:spcPts val="1043"/>
              </a:spcBef>
              <a:spcAft>
                <a:spcPts val="0"/>
              </a:spcAft>
              <a:buClr>
                <a:srgbClr val="8D1415"/>
              </a:buClr>
              <a:buSzPct val="100000"/>
              <a:buFont typeface="Arial"/>
              <a:buChar char="•"/>
            </a:pPr>
            <a:r>
              <a:rPr b="0" i="0" lang="en-US" sz="242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Automation Testing Tools.</a:t>
            </a:r>
            <a:endParaRPr b="0" i="0" sz="24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852" lvl="0" marL="285840" marR="0" rtl="0" algn="l">
              <a:lnSpc>
                <a:spcPct val="80000"/>
              </a:lnSpc>
              <a:spcBef>
                <a:spcPts val="1043"/>
              </a:spcBef>
              <a:spcAft>
                <a:spcPts val="0"/>
              </a:spcAft>
              <a:buClr>
                <a:srgbClr val="8D1415"/>
              </a:buClr>
              <a:buSzPct val="100000"/>
              <a:buFont typeface="Arial"/>
              <a:buChar char="•"/>
            </a:pPr>
            <a:r>
              <a:rPr b="0" i="0" lang="en-US" sz="242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The Dark side of automation testing.</a:t>
            </a:r>
            <a:endParaRPr b="0" i="0" sz="24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852" lvl="0" marL="285840" marR="0" rtl="0" algn="l">
              <a:lnSpc>
                <a:spcPct val="80000"/>
              </a:lnSpc>
              <a:spcBef>
                <a:spcPts val="1043"/>
              </a:spcBef>
              <a:spcAft>
                <a:spcPts val="0"/>
              </a:spcAft>
              <a:buClr>
                <a:srgbClr val="8D1415"/>
              </a:buClr>
              <a:buSzPct val="100000"/>
              <a:buFont typeface="Arial"/>
              <a:buChar char="•"/>
            </a:pPr>
            <a:r>
              <a:rPr b="0" i="0" lang="en-US" sz="242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References.</a:t>
            </a:r>
            <a:endParaRPr b="0" i="0" sz="24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1000" lvl="0" marL="285840" marR="0" rtl="0" algn="l">
              <a:lnSpc>
                <a:spcPct val="80000"/>
              </a:lnSpc>
              <a:spcBef>
                <a:spcPts val="1043"/>
              </a:spcBef>
              <a:spcAft>
                <a:spcPts val="0"/>
              </a:spcAft>
              <a:buNone/>
            </a:pPr>
            <a:r>
              <a:t/>
            </a:r>
            <a:endParaRPr b="0" i="0" sz="24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1000" lvl="0" marL="285840" marR="0" rtl="0" algn="l">
              <a:lnSpc>
                <a:spcPct val="80000"/>
              </a:lnSpc>
              <a:spcBef>
                <a:spcPts val="1043"/>
              </a:spcBef>
              <a:spcAft>
                <a:spcPts val="0"/>
              </a:spcAft>
              <a:buNone/>
            </a:pPr>
            <a:r>
              <a:t/>
            </a:r>
            <a:endParaRPr b="0" i="0" sz="24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1000" lvl="0" marL="285840" marR="0" rtl="0" algn="l">
              <a:lnSpc>
                <a:spcPct val="80000"/>
              </a:lnSpc>
              <a:spcBef>
                <a:spcPts val="1043"/>
              </a:spcBef>
              <a:spcAft>
                <a:spcPts val="0"/>
              </a:spcAft>
              <a:buNone/>
            </a:pPr>
            <a:r>
              <a:t/>
            </a:r>
            <a:endParaRPr b="0" i="0" sz="24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"/>
          <p:cNvSpPr txBox="1"/>
          <p:nvPr/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01.What is automation testing?</a:t>
            </a:r>
            <a:br>
              <a:rPr b="0" i="0" lang="en-US" sz="1800" u="none" cap="none" strike="noStrike"/>
            </a:b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"/>
          <p:cNvSpPr txBox="1"/>
          <p:nvPr/>
        </p:nvSpPr>
        <p:spPr>
          <a:xfrm>
            <a:off x="1484280" y="2666880"/>
            <a:ext cx="10018440" cy="312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480" lvl="0" marL="28584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Software testing techniques.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Used special automation tool.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Practice of running test automatically.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The execution of tests and then compares actual test results with predicted or expected results.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This is done automatically with little or no intervention from the test engineer. 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4439" lvl="0" marL="285840" marR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4439" lvl="0" marL="285840" marR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/>
          <p:cNvSpPr txBox="1"/>
          <p:nvPr/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02.Why automation testing?</a:t>
            </a:r>
            <a:br>
              <a:rPr b="0" i="0" lang="en-US" sz="1800" u="none" cap="none" strike="noStrike"/>
            </a:b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1484280" y="2330640"/>
            <a:ext cx="10018440" cy="312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Automated testing saves money and time.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Vastly increase your test coverage.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Testing improves accuracy.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Automated test helps developer and testers.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Automation test does what manual test cannot.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Speed of your test execution.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4439" lvl="0" marL="28584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"/>
          <p:cNvSpPr txBox="1"/>
          <p:nvPr/>
        </p:nvSpPr>
        <p:spPr>
          <a:xfrm>
            <a:off x="1484280" y="299880"/>
            <a:ext cx="10018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03.Manual testing VS automation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 txBox="1"/>
          <p:nvPr/>
        </p:nvSpPr>
        <p:spPr>
          <a:xfrm>
            <a:off x="1717200" y="2277360"/>
            <a:ext cx="10018440" cy="415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6000"/>
          </a:bodyPr>
          <a:lstStyle/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1415"/>
              </a:buClr>
              <a:buSzPct val="100000"/>
              <a:buFont typeface="Arial"/>
              <a:buChar char="•"/>
            </a:pPr>
            <a:r>
              <a:rPr b="1" i="1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Manual testing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is done by QA tester and </a:t>
            </a:r>
            <a:r>
              <a:rPr b="1" i="1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Automation testing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is done automatically using automation tools and script.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ct val="100000"/>
              <a:buFont typeface="Arial"/>
              <a:buChar char="•"/>
            </a:pPr>
            <a:r>
              <a:rPr b="1" i="1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Manual testing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is time consuming with less efficient and in </a:t>
            </a:r>
            <a:r>
              <a:rPr b="1" i="1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Automation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more testing less time and greater efficiency.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ct val="100000"/>
              <a:buFont typeface="Arial"/>
              <a:buChar char="•"/>
            </a:pPr>
            <a:r>
              <a:rPr b="1" i="1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Manual testing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is less reliable and </a:t>
            </a:r>
            <a:r>
              <a:rPr b="1" i="1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Automation testing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more reliable.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ct val="100000"/>
              <a:buFont typeface="Arial"/>
              <a:buChar char="•"/>
            </a:pPr>
            <a:r>
              <a:rPr b="1" i="1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Manual testing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needs have a more straightforward test execution setup and </a:t>
            </a:r>
            <a:r>
              <a:rPr b="1" i="1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Automation testing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 requires less complex test execution set up.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ct val="100000"/>
              <a:buFont typeface="Arial"/>
              <a:buChar char="•"/>
            </a:pPr>
            <a:r>
              <a:rPr b="1" i="1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Manual testing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No need for programming and </a:t>
            </a:r>
            <a:r>
              <a:rPr b="1" i="1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Automation testing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Programming knowledge is a must.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4439" lvl="0" marL="28584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"/>
          <p:cNvSpPr txBox="1"/>
          <p:nvPr/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04.Test case types to automate</a:t>
            </a:r>
            <a:br>
              <a:rPr b="0" i="0" lang="en-US" sz="1800" u="none" cap="none" strike="noStrike"/>
            </a:b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4038120" y="1619280"/>
            <a:ext cx="5735160" cy="5235840"/>
          </a:xfrm>
          <a:prstGeom prst="ellipse">
            <a:avLst/>
          </a:prstGeom>
          <a:solidFill>
            <a:schemeClr val="lt1"/>
          </a:solidFill>
          <a:ln cap="rnd" cmpd="sng" w="158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4570920" y="2483280"/>
            <a:ext cx="4545720" cy="4372200"/>
          </a:xfrm>
          <a:prstGeom prst="ellipse">
            <a:avLst/>
          </a:prstGeom>
          <a:solidFill>
            <a:schemeClr val="lt1"/>
          </a:solidFill>
          <a:ln cap="rnd" cmpd="sng" w="158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5133240" y="3502440"/>
            <a:ext cx="3544920" cy="3275280"/>
          </a:xfrm>
          <a:prstGeom prst="ellipse">
            <a:avLst/>
          </a:prstGeom>
          <a:solidFill>
            <a:schemeClr val="lt1"/>
          </a:solidFill>
          <a:ln cap="rnd" cmpd="sng" w="158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5663880" y="4261320"/>
            <a:ext cx="2484000" cy="2516040"/>
          </a:xfrm>
          <a:prstGeom prst="ellipse">
            <a:avLst/>
          </a:prstGeom>
          <a:solidFill>
            <a:schemeClr val="lt1"/>
          </a:solidFill>
          <a:ln cap="rnd" cmpd="sng" w="158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5560200" y="1950840"/>
            <a:ext cx="3117960" cy="914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High-risk Business Critical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5988240" y="2649960"/>
            <a:ext cx="1749240" cy="640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Repeatedly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 executed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5861520" y="3716280"/>
            <a:ext cx="1964520" cy="63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Time-consuming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5625720" y="4667400"/>
            <a:ext cx="2662560" cy="640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Difficult to perform manually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6055920" y="5250960"/>
            <a:ext cx="1845720" cy="1526760"/>
          </a:xfrm>
          <a:prstGeom prst="ellipse">
            <a:avLst/>
          </a:prstGeom>
          <a:solidFill>
            <a:schemeClr val="lt1"/>
          </a:solidFill>
          <a:ln cap="rnd" cmpd="sng" w="158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Test Case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 txBox="1"/>
          <p:nvPr/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05.Automation Testing Process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1484280" y="2438280"/>
            <a:ext cx="8245800" cy="905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AEAEAE"/>
              </a:gs>
              <a:gs pos="100000">
                <a:srgbClr val="6F6F6F"/>
              </a:gs>
            </a:gsLst>
            <a:lin ang="5400000" scaled="0"/>
          </a:gradFill>
          <a:ln cap="rnd" cmpd="sng" w="9525">
            <a:solidFill>
              <a:srgbClr val="A8A8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>Test Tool Selection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2674080" y="2891160"/>
            <a:ext cx="7125120" cy="905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22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>    Define scope of Automation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3614400" y="3354120"/>
            <a:ext cx="6184800" cy="905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rnd" cmpd="sng" w="22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>                    Planning , Designing and Development 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4856760" y="3762720"/>
            <a:ext cx="4942440" cy="905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rnd" cmpd="sng" w="22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>Test Execution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5739480" y="4191120"/>
            <a:ext cx="4059720" cy="905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rnd" cmpd="sng" w="22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> Maintenance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"/>
          <p:cNvSpPr txBox="1"/>
          <p:nvPr/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05.Automation Testing Process (cotd.)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8"/>
          <p:cNvSpPr txBox="1"/>
          <p:nvPr/>
        </p:nvSpPr>
        <p:spPr>
          <a:xfrm>
            <a:off x="1562040" y="3361320"/>
            <a:ext cx="10018440" cy="3496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8000"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6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1.Test Tool Selection – criteria</a:t>
            </a:r>
            <a:endParaRPr b="0" i="0" sz="29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518" lvl="0" marL="285840" marR="0" rtl="0" algn="l">
              <a:lnSpc>
                <a:spcPct val="80000"/>
              </a:lnSpc>
              <a:spcBef>
                <a:spcPts val="1043"/>
              </a:spcBef>
              <a:spcAft>
                <a:spcPts val="0"/>
              </a:spcAft>
              <a:buClr>
                <a:srgbClr val="8D1415"/>
              </a:buClr>
              <a:buSzPct val="100000"/>
              <a:buFont typeface="Arial"/>
              <a:buChar char="•"/>
            </a:pPr>
            <a:r>
              <a:rPr b="0" i="0" lang="en-US" sz="222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What is the budget of your organization.</a:t>
            </a:r>
            <a:endParaRPr b="0" i="0" sz="22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518" lvl="0" marL="285840" marR="0" rtl="0" algn="l">
              <a:lnSpc>
                <a:spcPct val="80000"/>
              </a:lnSpc>
              <a:spcBef>
                <a:spcPts val="1043"/>
              </a:spcBef>
              <a:spcAft>
                <a:spcPts val="0"/>
              </a:spcAft>
              <a:buClr>
                <a:srgbClr val="8D1415"/>
              </a:buClr>
              <a:buSzPct val="100000"/>
              <a:buFont typeface="Arial"/>
              <a:buChar char="•"/>
            </a:pPr>
            <a:r>
              <a:rPr b="0" i="0" lang="en-US" sz="222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What is the actual price of your selected tool.</a:t>
            </a:r>
            <a:endParaRPr b="0" i="0" sz="22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518" lvl="0" marL="285840" marR="0" rtl="0" algn="l">
              <a:lnSpc>
                <a:spcPct val="80000"/>
              </a:lnSpc>
              <a:spcBef>
                <a:spcPts val="1043"/>
              </a:spcBef>
              <a:spcAft>
                <a:spcPts val="0"/>
              </a:spcAft>
              <a:buClr>
                <a:srgbClr val="8D1415"/>
              </a:buClr>
              <a:buSzPct val="100000"/>
              <a:buFont typeface="Arial"/>
              <a:buChar char="•"/>
            </a:pPr>
            <a:r>
              <a:rPr b="0" i="0" lang="en-US" sz="222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Does tool support Operating System /Device which your application runs.</a:t>
            </a:r>
            <a:endParaRPr b="0" i="0" sz="22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518" lvl="0" marL="285840" marR="0" rtl="0" algn="l">
              <a:lnSpc>
                <a:spcPct val="80000"/>
              </a:lnSpc>
              <a:spcBef>
                <a:spcPts val="1043"/>
              </a:spcBef>
              <a:spcAft>
                <a:spcPts val="0"/>
              </a:spcAft>
              <a:buClr>
                <a:srgbClr val="8D1415"/>
              </a:buClr>
              <a:buSzPct val="100000"/>
              <a:buFont typeface="Arial"/>
              <a:buChar char="•"/>
            </a:pPr>
            <a:r>
              <a:rPr b="0" i="0" lang="en-US" sz="222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Does the tool support the technologies and third party controls.</a:t>
            </a:r>
            <a:endParaRPr b="0" i="0" sz="22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518" lvl="0" marL="285840" marR="0" rtl="0" algn="l">
              <a:lnSpc>
                <a:spcPct val="80000"/>
              </a:lnSpc>
              <a:spcBef>
                <a:spcPts val="1043"/>
              </a:spcBef>
              <a:spcAft>
                <a:spcPts val="0"/>
              </a:spcAft>
              <a:buClr>
                <a:srgbClr val="8D1415"/>
              </a:buClr>
              <a:buSzPct val="100000"/>
              <a:buFont typeface="Arial"/>
              <a:buChar char="•"/>
            </a:pPr>
            <a:r>
              <a:rPr b="0" i="0" lang="en-US" sz="222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Does th tool support connecting to different data source.</a:t>
            </a:r>
            <a:endParaRPr b="0" i="0" sz="22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518" lvl="0" marL="285840" marR="0" rtl="0" algn="l">
              <a:lnSpc>
                <a:spcPct val="80000"/>
              </a:lnSpc>
              <a:spcBef>
                <a:spcPts val="1043"/>
              </a:spcBef>
              <a:spcAft>
                <a:spcPts val="0"/>
              </a:spcAft>
              <a:buClr>
                <a:srgbClr val="8D1415"/>
              </a:buClr>
              <a:buSzPct val="100000"/>
              <a:buFont typeface="Arial"/>
              <a:buChar char="•"/>
            </a:pPr>
            <a:r>
              <a:rPr b="0" i="0" lang="en-US" sz="222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How the report mechanism of testing tool.</a:t>
            </a:r>
            <a:endParaRPr b="0" i="0" sz="22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518" lvl="0" marL="285840" marR="0" rtl="0" algn="l">
              <a:lnSpc>
                <a:spcPct val="80000"/>
              </a:lnSpc>
              <a:spcBef>
                <a:spcPts val="1043"/>
              </a:spcBef>
              <a:spcAft>
                <a:spcPts val="0"/>
              </a:spcAft>
              <a:buClr>
                <a:srgbClr val="8D1415"/>
              </a:buClr>
              <a:buSzPct val="100000"/>
              <a:buFont typeface="Arial"/>
              <a:buChar char="•"/>
            </a:pPr>
            <a:r>
              <a:rPr b="0" i="0" lang="en-US" sz="222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Can the tool be integrated with test case and bug management repositories?</a:t>
            </a:r>
            <a:endParaRPr b="0" i="0" sz="22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1000" lvl="0" marL="285840" marR="0" rtl="0" algn="l">
              <a:lnSpc>
                <a:spcPct val="80000"/>
              </a:lnSpc>
              <a:spcBef>
                <a:spcPts val="1043"/>
              </a:spcBef>
              <a:spcAft>
                <a:spcPts val="0"/>
              </a:spcAft>
              <a:buNone/>
            </a:pPr>
            <a:r>
              <a:t/>
            </a:r>
            <a:endParaRPr b="0" i="0" sz="22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1043"/>
              </a:spcBef>
              <a:spcAft>
                <a:spcPts val="0"/>
              </a:spcAft>
              <a:buNone/>
            </a:pPr>
            <a:r>
              <a:t/>
            </a:r>
            <a:endParaRPr b="0" i="0" sz="22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1043"/>
              </a:spcBef>
              <a:spcAft>
                <a:spcPts val="0"/>
              </a:spcAft>
              <a:buNone/>
            </a:pPr>
            <a:r>
              <a:t/>
            </a:r>
            <a:endParaRPr b="0" i="0" sz="22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1000" lvl="0" marL="285840" marR="0" rtl="0" algn="l">
              <a:lnSpc>
                <a:spcPct val="80000"/>
              </a:lnSpc>
              <a:spcBef>
                <a:spcPts val="1043"/>
              </a:spcBef>
              <a:spcAft>
                <a:spcPts val="0"/>
              </a:spcAft>
              <a:buNone/>
            </a:pPr>
            <a:r>
              <a:t/>
            </a:r>
            <a:endParaRPr b="0" i="0" sz="22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9272520" y="1542960"/>
            <a:ext cx="2657160" cy="2349360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rnd" cmpd="sng" w="1907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0" sx="-80000" rotWithShape="0" dir="5400000" dist="291960" sy="-180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"/>
          <p:cNvSpPr txBox="1"/>
          <p:nvPr/>
        </p:nvSpPr>
        <p:spPr>
          <a:xfrm>
            <a:off x="1829520" y="888480"/>
            <a:ext cx="10018440" cy="4916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2.Define Scope Of Automation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Business Scenarios.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Description of manual test cases.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Common Functionalities related to applications</a:t>
            </a: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Technical Feasibility.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Test Case complexity.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Ability to use the same test cases for cross-browser testing.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 Reused business components.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End – to – End flows.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Validation.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9014760" y="1285200"/>
            <a:ext cx="2953080" cy="2691000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rnd" cmpd="sng" w="1907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0" sx="-80000" rotWithShape="0" dir="5400000" dist="291960" sy="-180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"/>
          <p:cNvSpPr txBox="1"/>
          <p:nvPr/>
        </p:nvSpPr>
        <p:spPr>
          <a:xfrm>
            <a:off x="1544760" y="983520"/>
            <a:ext cx="10018440" cy="6711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3.Planing , Designing and Development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Automation tool selection.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Framework designing with features</a:t>
            </a: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Items categorization with in-scope and out-scope.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Automation testbed preparation.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Schedule and Timeline of scripting and execution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Deliverables of Automation Testing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4439" lvl="0" marL="28584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39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39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8713800" y="2993400"/>
            <a:ext cx="2849400" cy="2691000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rnd" cmpd="sng" w="1907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0" sx="-80000" rotWithShape="0" dir="5400000" dist="291960" sy="-180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/>
          <p:cNvSpPr txBox="1"/>
          <p:nvPr/>
        </p:nvSpPr>
        <p:spPr>
          <a:xfrm>
            <a:off x="1665360" y="595080"/>
            <a:ext cx="10018440" cy="41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4.Test Execution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Test script are run in this phase.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Ready with input test data.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Use automation tool or Test Management Tool (</a:t>
            </a: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Eg:-Quality center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Generated report with related detail after executed.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4439" lvl="0" marL="28584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39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4439" lvl="0" marL="28584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8427960" y="3269520"/>
            <a:ext cx="2830320" cy="2640960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rnd" cmpd="sng" w="1907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0" sx="-80000" rotWithShape="0" dir="5400000" dist="291960" sy="-180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"/>
          <p:cNvSpPr txBox="1"/>
          <p:nvPr/>
        </p:nvSpPr>
        <p:spPr>
          <a:xfrm>
            <a:off x="1682640" y="2053080"/>
            <a:ext cx="10018440" cy="494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5.Maintenance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Check whether the software is working with added new features or not.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This phase work when new automation test script are added.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Therefore need for reviewed and maintained.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To improve the effectiveness of automation scripts with each successive release cycle.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4439" lvl="0" marL="28584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39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39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39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39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4439" lvl="0" marL="28584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4261320" y="4207680"/>
            <a:ext cx="2803320" cy="2466720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rnd" cmpd="sng" w="1907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0" sx="-80000" rotWithShape="0" dir="5400000" dist="291960" sy="-180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"/>
          <p:cNvSpPr txBox="1"/>
          <p:nvPr/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06.Framework for automation 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3"/>
          <p:cNvSpPr/>
          <p:nvPr/>
        </p:nvSpPr>
        <p:spPr>
          <a:xfrm>
            <a:off x="2346480" y="2524680"/>
            <a:ext cx="3320640" cy="1469160"/>
          </a:xfrm>
          <a:prstGeom prst="rect">
            <a:avLst/>
          </a:prstGeom>
          <a:solidFill>
            <a:srgbClr val="C2CEA3"/>
          </a:solidFill>
          <a:ln>
            <a:noFill/>
          </a:ln>
          <a:effectLst>
            <a:outerShdw blurRad="44450" algn="ctr" dir="5400000" dist="2808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1.Data Driven Automation Framework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6786000" y="2513160"/>
            <a:ext cx="3320640" cy="1469160"/>
          </a:xfrm>
          <a:prstGeom prst="rect">
            <a:avLst/>
          </a:prstGeom>
          <a:solidFill>
            <a:srgbClr val="C2CEA3"/>
          </a:solidFill>
          <a:ln>
            <a:noFill/>
          </a:ln>
          <a:effectLst>
            <a:outerShdw blurRad="44450" algn="ctr" dir="5400000" dist="2808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2. Keyword Driven Automation Framework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3"/>
          <p:cNvSpPr/>
          <p:nvPr/>
        </p:nvSpPr>
        <p:spPr>
          <a:xfrm>
            <a:off x="2346480" y="4376520"/>
            <a:ext cx="3320640" cy="1469160"/>
          </a:xfrm>
          <a:prstGeom prst="rect">
            <a:avLst/>
          </a:prstGeom>
          <a:solidFill>
            <a:srgbClr val="C2CEA3"/>
          </a:solidFill>
          <a:ln>
            <a:noFill/>
          </a:ln>
          <a:effectLst>
            <a:outerShdw blurRad="44450" algn="ctr" dir="5400000" dist="2808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3.Modular Automation Framework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3"/>
          <p:cNvSpPr/>
          <p:nvPr/>
        </p:nvSpPr>
        <p:spPr>
          <a:xfrm>
            <a:off x="6786000" y="4316040"/>
            <a:ext cx="3320640" cy="1469160"/>
          </a:xfrm>
          <a:prstGeom prst="rect">
            <a:avLst/>
          </a:prstGeom>
          <a:solidFill>
            <a:srgbClr val="C2CEA3"/>
          </a:solidFill>
          <a:ln>
            <a:noFill/>
          </a:ln>
          <a:effectLst>
            <a:outerShdw blurRad="44450" algn="ctr" dir="5400000" dist="2808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4. Hybrid Automation Framework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4"/>
          <p:cNvSpPr txBox="1"/>
          <p:nvPr/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7.Different type of software test that can be automated</a:t>
            </a:r>
            <a:br>
              <a:rPr b="0" i="0" lang="en-US" sz="1800" u="none" cap="none" strike="noStrike"/>
            </a:b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4"/>
          <p:cNvSpPr txBox="1"/>
          <p:nvPr/>
        </p:nvSpPr>
        <p:spPr>
          <a:xfrm>
            <a:off x="1736640" y="2161800"/>
            <a:ext cx="10018440" cy="389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480" lvl="0" marL="28584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Unit Testing.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Integration Testing.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Functional Testing.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Keyword Testing.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Regression Testing.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Data – Driven Testing.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Black-box testing.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Smoke Testing.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4"/>
          <p:cNvSpPr/>
          <p:nvPr/>
        </p:nvSpPr>
        <p:spPr>
          <a:xfrm>
            <a:off x="7824960" y="1924920"/>
            <a:ext cx="1940760" cy="1762560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rnd" cmpd="sng" w="1907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0" sx="-80000" rotWithShape="0" dir="5400000" dist="291960" sy="-180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4"/>
          <p:cNvSpPr/>
          <p:nvPr/>
        </p:nvSpPr>
        <p:spPr>
          <a:xfrm>
            <a:off x="5830200" y="1962360"/>
            <a:ext cx="1906200" cy="1811160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 cap="rnd" cmpd="sng" w="1907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0" sx="-80000" rotWithShape="0" dir="5400000" dist="291960" sy="-180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4"/>
          <p:cNvSpPr/>
          <p:nvPr/>
        </p:nvSpPr>
        <p:spPr>
          <a:xfrm>
            <a:off x="9853920" y="1924920"/>
            <a:ext cx="1901160" cy="1886040"/>
          </a:xfrm>
          <a:prstGeom prst="ellipse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 cap="rnd" cmpd="sng" w="1907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0" sx="-80000" rotWithShape="0" dir="5400000" dist="291960" sy="-180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4"/>
          <p:cNvSpPr/>
          <p:nvPr/>
        </p:nvSpPr>
        <p:spPr>
          <a:xfrm>
            <a:off x="8731800" y="3727800"/>
            <a:ext cx="2067480" cy="2061000"/>
          </a:xfrm>
          <a:prstGeom prst="ellipse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 cap="rnd" cmpd="sng" w="1907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0" sx="-80000" rotWithShape="0" dir="5400000" dist="291960" sy="-180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4"/>
          <p:cNvSpPr/>
          <p:nvPr/>
        </p:nvSpPr>
        <p:spPr>
          <a:xfrm>
            <a:off x="6493680" y="3824640"/>
            <a:ext cx="2067480" cy="1960560"/>
          </a:xfrm>
          <a:prstGeom prst="ellipse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 cap="rnd" cmpd="sng" w="1907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0" sx="-80000" rotWithShape="0" dir="5400000" dist="291960" sy="-180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5"/>
          <p:cNvSpPr txBox="1"/>
          <p:nvPr/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8.Automation Testing Tools.</a:t>
            </a:r>
            <a:br>
              <a:rPr b="0" i="0" lang="en-US" sz="1800" u="none" cap="none" strike="noStrike"/>
            </a:b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5"/>
          <p:cNvSpPr txBox="1"/>
          <p:nvPr/>
        </p:nvSpPr>
        <p:spPr>
          <a:xfrm>
            <a:off x="1484280" y="1889280"/>
            <a:ext cx="10018440" cy="390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  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5"/>
          <p:cNvSpPr/>
          <p:nvPr/>
        </p:nvSpPr>
        <p:spPr>
          <a:xfrm>
            <a:off x="3384000" y="2898360"/>
            <a:ext cx="5270400" cy="330372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1D8C0"/>
              </a:gs>
              <a:gs pos="100000">
                <a:srgbClr val="B0BF8E"/>
              </a:gs>
            </a:gsLst>
            <a:lin ang="5400000" scaled="0"/>
          </a:gradFill>
          <a:ln cap="rnd" cmpd="sng" w="9525">
            <a:solidFill>
              <a:srgbClr val="CAD3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32839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132839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IBM Rational Functional Tester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Katalon studio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Ranorex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Sahi pro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Apache JMeter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Appium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RedHoodHQ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Cypress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132839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5"/>
          <p:cNvSpPr/>
          <p:nvPr/>
        </p:nvSpPr>
        <p:spPr>
          <a:xfrm>
            <a:off x="3439800" y="1757520"/>
            <a:ext cx="5158080" cy="100908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1D8C0"/>
              </a:gs>
              <a:gs pos="100000">
                <a:srgbClr val="B0BF8E"/>
              </a:gs>
            </a:gsLst>
            <a:lin ang="5400000" scaled="0"/>
          </a:gradFill>
          <a:ln cap="rnd" cmpd="sng" w="9525">
            <a:solidFill>
              <a:srgbClr val="CAD3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1.Commercial Automation Tools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0" name="Google Shape;25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15040" y="1716480"/>
            <a:ext cx="1920240" cy="1181520"/>
          </a:xfrm>
          <a:prstGeom prst="rect">
            <a:avLst/>
          </a:prstGeom>
          <a:noFill/>
          <a:ln cap="sq" cmpd="sng" w="12600">
            <a:solidFill>
              <a:srgbClr val="E9EAEA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7674">
              <a:srgbClr val="000000">
                <a:alpha val="42745"/>
              </a:srgbClr>
            </a:outerShdw>
          </a:effectLst>
        </p:spPr>
      </p:pic>
      <p:pic>
        <p:nvPicPr>
          <p:cNvPr id="251" name="Google Shape;25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06280" y="4278600"/>
            <a:ext cx="1917720" cy="1097280"/>
          </a:xfrm>
          <a:prstGeom prst="rect">
            <a:avLst/>
          </a:prstGeom>
          <a:noFill/>
          <a:ln cap="sq" cmpd="sng" w="126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7674">
              <a:srgbClr val="000000">
                <a:alpha val="42745"/>
              </a:srgbClr>
            </a:outerShdw>
          </a:effectLst>
        </p:spPr>
      </p:pic>
      <p:pic>
        <p:nvPicPr>
          <p:cNvPr id="252" name="Google Shape;25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47920" y="5213160"/>
            <a:ext cx="2454480" cy="1418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64760" y="3052080"/>
            <a:ext cx="1171800" cy="1087200"/>
          </a:xfrm>
          <a:prstGeom prst="rect">
            <a:avLst/>
          </a:prstGeom>
          <a:noFill/>
          <a:ln cap="sq" cmpd="sng" w="126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7674">
              <a:srgbClr val="000000">
                <a:alpha val="42745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6"/>
          <p:cNvSpPr txBox="1"/>
          <p:nvPr/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8.Automation Testing Tools (cotd).</a:t>
            </a:r>
            <a:br>
              <a:rPr b="0" i="0" lang="en-US" sz="1800" u="none" cap="none" strike="noStrike"/>
            </a:b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6"/>
          <p:cNvSpPr txBox="1"/>
          <p:nvPr/>
        </p:nvSpPr>
        <p:spPr>
          <a:xfrm>
            <a:off x="1484280" y="2666880"/>
            <a:ext cx="10018440" cy="312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6"/>
          <p:cNvSpPr/>
          <p:nvPr/>
        </p:nvSpPr>
        <p:spPr>
          <a:xfrm>
            <a:off x="3439800" y="1757520"/>
            <a:ext cx="5158080" cy="100908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1D8C0"/>
              </a:gs>
              <a:gs pos="100000">
                <a:srgbClr val="B0BF8E"/>
              </a:gs>
            </a:gsLst>
            <a:lin ang="5400000" scaled="0"/>
          </a:gradFill>
          <a:ln cap="rnd" cmpd="sng" w="9525">
            <a:solidFill>
              <a:srgbClr val="CAD3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2.Open Source DevOps Automation Testing Tools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6"/>
          <p:cNvSpPr/>
          <p:nvPr/>
        </p:nvSpPr>
        <p:spPr>
          <a:xfrm>
            <a:off x="3384000" y="2863800"/>
            <a:ext cx="5270400" cy="361116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1D8C0"/>
              </a:gs>
              <a:gs pos="100000">
                <a:srgbClr val="B0BF8E"/>
              </a:gs>
            </a:gsLst>
            <a:lin ang="5400000" scaled="0"/>
          </a:gradFill>
          <a:ln cap="rnd" cmpd="sng" w="9525">
            <a:solidFill>
              <a:srgbClr val="CAD3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Citrus 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Galen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Karate – DSL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Robot Framework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Selenium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Watir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Gauge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2" name="Google Shape;26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6840" y="1534680"/>
            <a:ext cx="1464840" cy="1325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14360" y="2860920"/>
            <a:ext cx="1524600" cy="1143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23360" y="4125240"/>
            <a:ext cx="1460520" cy="1088280"/>
          </a:xfrm>
          <a:prstGeom prst="rect">
            <a:avLst/>
          </a:prstGeom>
          <a:noFill/>
          <a:ln cap="sq" cmpd="sng" w="3815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7674">
              <a:srgbClr val="000000">
                <a:alpha val="42745"/>
              </a:srgbClr>
            </a:outerShdw>
          </a:effectLst>
        </p:spPr>
      </p:pic>
      <p:pic>
        <p:nvPicPr>
          <p:cNvPr id="265" name="Google Shape;26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86200" y="5334840"/>
            <a:ext cx="1336680" cy="991800"/>
          </a:xfrm>
          <a:prstGeom prst="rect">
            <a:avLst/>
          </a:prstGeom>
          <a:noFill/>
          <a:ln cap="sq" cmpd="sng" w="126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7674">
              <a:srgbClr val="000000">
                <a:alpha val="42745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7"/>
          <p:cNvSpPr txBox="1"/>
          <p:nvPr/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9.The Dark side of automation testing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7"/>
          <p:cNvSpPr txBox="1"/>
          <p:nvPr/>
        </p:nvSpPr>
        <p:spPr>
          <a:xfrm>
            <a:off x="2078280" y="3472200"/>
            <a:ext cx="10018440" cy="338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Automating the wrong things.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The tools you picked can't solve your problems.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The tools you selected aren't a good fit for your testers.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You failed to add up the total cost of tool ownership.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You chose a tool just because it's open source.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8D141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You didn't foster a testing culture that embraces automation.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4439" lvl="0" marL="28584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4439" lvl="0" marL="28584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4439" lvl="0" marL="28584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7"/>
          <p:cNvSpPr/>
          <p:nvPr/>
        </p:nvSpPr>
        <p:spPr>
          <a:xfrm>
            <a:off x="7910280" y="1484640"/>
            <a:ext cx="1466280" cy="1369800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rnd" cmpd="sng" w="126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0" sx="-80000" rotWithShape="0" dir="5400000" dist="291960" sy="-180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2020-09-02T09:08:18Z</dcterms:created>
  <dc:creator>Chanuka Doluweera</dc:creator>
</cp:coreProperties>
</file>