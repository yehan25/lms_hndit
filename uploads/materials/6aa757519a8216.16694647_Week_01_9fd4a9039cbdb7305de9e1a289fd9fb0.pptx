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a117d3ff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a117d3ff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a117d3ff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a117d3ff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a117d3ff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a117d3ff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6a117d3ff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6a117d3ff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a117d3ff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a117d3ff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a117d3ff3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a117d3ff3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">
                <a:solidFill>
                  <a:schemeClr val="dk1"/>
                </a:solidFill>
              </a:rPr>
              <a:t>Loss of money – this can include losing customers right through to financial penalties for non-compliance to legal requirements</a:t>
            </a:r>
            <a:endParaRPr>
              <a:solidFill>
                <a:schemeClr val="dk1"/>
              </a:solidFill>
            </a:endParaRPr>
          </a:p>
          <a:p>
            <a:pPr indent="-4127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">
                <a:solidFill>
                  <a:schemeClr val="dk1"/>
                </a:solidFill>
              </a:rPr>
              <a:t>Loss of time – this can be caused by transactions taking a long time to process but can include staff not being able to work due to a fault or failure</a:t>
            </a:r>
            <a:endParaRPr>
              <a:solidFill>
                <a:schemeClr val="dk1"/>
              </a:solidFill>
            </a:endParaRPr>
          </a:p>
          <a:p>
            <a:pPr indent="-4127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">
                <a:solidFill>
                  <a:schemeClr val="dk1"/>
                </a:solidFill>
              </a:rPr>
              <a:t>Damage to business reputation – if an organization is unable to provide service to their customers due to software problems then the customers will lose confidence or faith in this organization (and probably take their business elsewhere)</a:t>
            </a:r>
            <a:endParaRPr>
              <a:solidFill>
                <a:schemeClr val="dk1"/>
              </a:solidFill>
            </a:endParaRPr>
          </a:p>
          <a:p>
            <a:pPr indent="-4127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">
                <a:solidFill>
                  <a:schemeClr val="dk1"/>
                </a:solidFill>
              </a:rPr>
              <a:t>Injury or death – It might sound dramatic but some safety-critical systems could result in injuries or deaths if they don’t work properly (e.g. flight traffic control software)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a117d3ff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a117d3ff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a117d3ff3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a117d3ff3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a117d3ff3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a117d3ff3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a117d3ff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a117d3ff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a117d3ff3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a117d3ff3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a117d3ff3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a117d3ff3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a117d3ff3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a117d3ff3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a117d3ff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a117d3ff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a117d3ff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a117d3ff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a117d3ff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a117d3ff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Quality Assurance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HNDIT-4022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/>
              <a:t>Introduction to Software Testing</a:t>
            </a:r>
            <a:endParaRPr sz="25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240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What is Software?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Software is;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Computer programs (Code)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Procedures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Documentation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Data necessary for operating the software system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Quality?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240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4B4F58"/>
                </a:solidFill>
                <a:highlight>
                  <a:srgbClr val="FFFFFF"/>
                </a:highlight>
              </a:rPr>
              <a:t>Quality </a:t>
            </a:r>
            <a:r>
              <a:rPr lang="en" sz="1800">
                <a:solidFill>
                  <a:srgbClr val="4B4F58"/>
                </a:solidFill>
                <a:highlight>
                  <a:srgbClr val="FFFFFF"/>
                </a:highlight>
              </a:rPr>
              <a:t>means “Performance upon expectations” and “fit for functions.”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 Quality?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240675"/>
            <a:ext cx="7688700" cy="28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</a:rPr>
              <a:t>IEEE Definition of "Software Quality"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  <a:p>
            <a:pPr indent="-519747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AutoNum type="arabicPeriod"/>
            </a:pPr>
            <a:r>
              <a:rPr lang="en" sz="2100">
                <a:solidFill>
                  <a:srgbClr val="000000"/>
                </a:solidFill>
              </a:rPr>
              <a:t>The degree to which a system, component, or process meets specified requirements.</a:t>
            </a:r>
            <a:endParaRPr sz="21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-519747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AutoNum type="arabicPeriod"/>
            </a:pPr>
            <a:r>
              <a:rPr lang="en" sz="2100">
                <a:solidFill>
                  <a:srgbClr val="000000"/>
                </a:solidFill>
              </a:rPr>
              <a:t>The degree to which a system, component, or process meets customer or user needs or expectations.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 Quality Assurance?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1240675"/>
            <a:ext cx="7688700" cy="32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</a:rPr>
              <a:t>IEEE Definition of "Software Quality Assurance"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  <a:p>
            <a:pPr indent="-354091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AutoNum type="arabicPeriod"/>
            </a:pPr>
            <a:r>
              <a:rPr lang="en" sz="2550">
                <a:solidFill>
                  <a:srgbClr val="000000"/>
                </a:solidFill>
              </a:rPr>
              <a:t>A planned and systematic pattern of all actions necessary to provide adequate confidence that an item or product conforms to established technical requirements.</a:t>
            </a:r>
            <a:endParaRPr sz="2550">
              <a:solidFill>
                <a:srgbClr val="000000"/>
              </a:solidFill>
            </a:endParaRPr>
          </a:p>
          <a:p>
            <a:pPr indent="-4064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000000"/>
              </a:solidFill>
            </a:endParaRPr>
          </a:p>
          <a:p>
            <a:pPr indent="-354091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AutoNum type="arabicPeriod"/>
            </a:pPr>
            <a:r>
              <a:rPr lang="en" sz="2550">
                <a:solidFill>
                  <a:srgbClr val="000000"/>
                </a:solidFill>
              </a:rPr>
              <a:t>A set of activities designed to evaluate the process by which the products are developed or manufactured.  Contrast with quality control.</a:t>
            </a:r>
            <a:endParaRPr sz="25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 Testing?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1240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7084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is the process of executing a program with the intent of finding errors.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The Art of Software Testing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by Glenford Meyers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is running tests: but testing is not just running tests.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activities exist throughout the life cycle of the project.</a:t>
            </a:r>
            <a:endParaRPr sz="4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Testing is Necessary?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of us have had an experience with software that did not work as expected. Software that does not work can have a large impact on an organization. It can lead to many problems including: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of money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of time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Damage to business reputation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Injury or death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Testing is </a:t>
            </a:r>
            <a:r>
              <a:rPr lang="en"/>
              <a:t>Necessary</a:t>
            </a:r>
            <a:r>
              <a:rPr lang="en"/>
              <a:t>?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1240675"/>
            <a:ext cx="7688700" cy="29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Because software is likely to have faults 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To learn about the reliability of the software 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To fill the time between delivery of the software and the release date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To prove that the software has no faults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Because testi</a:t>
            </a:r>
            <a:r>
              <a:rPr lang="en" sz="7200">
                <a:solidFill>
                  <a:srgbClr val="000000"/>
                </a:solidFill>
              </a:rPr>
              <a:t>ng is included in the project plan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Because failures can be very expensive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To avoid being sued by customers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To stay in business</a:t>
            </a:r>
            <a:endParaRPr sz="72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❏"/>
            </a:pPr>
            <a:r>
              <a:rPr lang="en" sz="7200">
                <a:solidFill>
                  <a:srgbClr val="000000"/>
                </a:solidFill>
              </a:rPr>
              <a:t>Confidence in quality of software</a:t>
            </a:r>
            <a:endParaRPr sz="7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5103400" y="1274550"/>
            <a:ext cx="7263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5619750" y="1551900"/>
            <a:ext cx="6225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7922800" y="1807950"/>
            <a:ext cx="5292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NO</a:t>
            </a:r>
            <a:endParaRPr b="0" sz="1660">
              <a:solidFill>
                <a:srgbClr val="FF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5179600" y="2112750"/>
            <a:ext cx="5292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NO</a:t>
            </a:r>
            <a:endParaRPr b="0" sz="1660">
              <a:solidFill>
                <a:srgbClr val="FF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5027200" y="2722350"/>
            <a:ext cx="6225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5713000" y="2417550"/>
            <a:ext cx="5292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NO</a:t>
            </a:r>
            <a:endParaRPr b="0" sz="1660">
              <a:solidFill>
                <a:srgbClr val="FF000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2" name="Google Shape;142;p21"/>
          <p:cNvSpPr txBox="1"/>
          <p:nvPr>
            <p:ph type="title"/>
          </p:nvPr>
        </p:nvSpPr>
        <p:spPr>
          <a:xfrm>
            <a:off x="4493800" y="3027150"/>
            <a:ext cx="7263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3" name="Google Shape;143;p21"/>
          <p:cNvSpPr txBox="1"/>
          <p:nvPr>
            <p:ph type="title"/>
          </p:nvPr>
        </p:nvSpPr>
        <p:spPr>
          <a:xfrm>
            <a:off x="3122200" y="3255750"/>
            <a:ext cx="6225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4570000" y="3560550"/>
            <a:ext cx="6501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660">
                <a:solidFill>
                  <a:srgbClr val="38761D"/>
                </a:solidFill>
                <a:latin typeface="Lato Black"/>
                <a:ea typeface="Lato Black"/>
                <a:cs typeface="Lato Black"/>
                <a:sym typeface="Lato Black"/>
              </a:rPr>
              <a:t>YES</a:t>
            </a:r>
            <a:endParaRPr b="0" sz="1660">
              <a:solidFill>
                <a:srgbClr val="38761D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Control Vs SQA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729450" y="1240675"/>
            <a:ext cx="76887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process oriented and focuses on </a:t>
            </a:r>
            <a:r>
              <a:rPr lang="e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defect prevention</a:t>
            </a: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while </a:t>
            </a: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product oriented and focuses on </a:t>
            </a:r>
            <a:r>
              <a:rPr lang="e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defect identification</a:t>
            </a: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Quality Assurance (QA) is meant to minimize the costs of quality by introducing a variety of activities throughout the development process and maintenance process in order to </a:t>
            </a:r>
            <a:r>
              <a:rPr lang="en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prevent the causes of errors, detect them, and correct them</a:t>
            </a: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the early stages of the development.  As a result, quality assurance substantially reduces the rate of non-qualifying products</a:t>
            </a:r>
            <a:endParaRPr sz="4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</a:t>
            </a:r>
            <a:r>
              <a:rPr lang="en"/>
              <a:t>Debugging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729450" y="1240675"/>
            <a:ext cx="76887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8608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and debugging are different.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Executing tests can show failures that are caused by defects in the software.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Debugging is the development activity that finds, analyzes, and fixes such defects. Subsequent confirmation testing checks whether the fixes resolved the defects.</a:t>
            </a:r>
            <a:endParaRPr sz="4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Errors, Faults and Failures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727650" y="1251075"/>
            <a:ext cx="7688700" cy="27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8608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person can make an error (mistake), which can lead to the introduction of a defect (fault or bug) in the software code or in some other related work product.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error that leads to the introduction of a defect in one work product can trigger an error that leads to the introduction of a defect in a related work product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 defect in the code is executed, this may cause a failure, but not necessarily in all circumstances.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Errors, Faults and Failures…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4036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-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Errors may occur for many reasons, such as: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Time pressure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Human fallibility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Inexperienced or insufficiently skilled project participants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Miscommunication between project participants, including miscommunication about requirements and design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Complexity of the code, design, architecture, the underlying problem to be solved, and/or the technologies used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Misunderstandings about intra-system and inter-system interfaces, especially when such intrasystem and inter-system interactions are large in number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New, unfamiliar technologies 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addition to failures caused due to defects in the code, failures can also be caused by environmental conditions.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of Software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 - the probability that software will not cause the failure of the system for a specified time under specified conditions.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Views of Quality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 view: – functionality, correctness, performance, usability …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view: – efficiency, cost &amp; schedule, failures (rework).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Business view: – timeliness, customer satisfaction – does it sell? – producing the right product at the right time for the right price?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Quality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of quality includes all costs incurred in the pursuit of quality or perform quality related work Quality cost includes: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Prevention cost: - quality planning - formal technical reviews - testing equipment - training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Appraisal cost: - in-process and inter-process inspection - testing 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Failure cost: - rework, repair, and failure mode analysis - complaint resolution - product return and replacement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Activity: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727650" y="1251075"/>
            <a:ext cx="76887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27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AutoNum type="arabicPeriod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Define, What is </a:t>
            </a: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quality?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AutoNum type="arabicPeriod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Explain the importance of software testing.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AutoNum type="arabicPeriod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Describe, what are the Errors, Faults and Failures?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Q&amp;A’s ?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729450" y="2320025"/>
            <a:ext cx="76887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 !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